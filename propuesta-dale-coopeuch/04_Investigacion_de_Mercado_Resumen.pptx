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so_laptop.jpeg"/>
          <p:cNvPicPr>
            <a:picLocks noChangeAspect="1"/>
          </p:cNvPicPr>
          <p:nvPr/>
        </p:nvPicPr>
        <p:blipFill>
          <a:blip r:embed="rId2"/>
          <a:srcRect l="6378" r="6378"/>
          <a:stretch>
            <a:fillRect/>
          </a:stretch>
        </p:blipFill>
        <p:spPr>
          <a:xfrm>
            <a:off x="-320040" y="320040"/>
            <a:ext cx="5212080" cy="4480560"/>
          </a:xfrm>
          <a:prstGeom prst="rect">
            <a:avLst/>
          </a:prstGeom>
        </p:spPr>
      </p:pic>
      <p:sp>
        <p:nvSpPr>
          <p:cNvPr id="4" name="TextBox 3"/>
          <p:cNvSpPr txBox="1"/>
          <p:nvPr/>
        </p:nvSpPr>
        <p:spPr>
          <a:xfrm>
            <a:off x="4617720" y="777240"/>
            <a:ext cx="4297680" cy="822960"/>
          </a:xfrm>
          <a:prstGeom prst="rect">
            <a:avLst/>
          </a:prstGeom>
          <a:noFill/>
        </p:spPr>
        <p:txBody>
          <a:bodyPr wrap="square" lIns="0" rIns="0" tIns="0" bIns="0" anchor="t">
            <a:spAutoFit/>
          </a:bodyPr>
          <a:lstStyle/>
          <a:p>
            <a:pPr algn="l">
              <a:lnSpc>
                <a:spcPct val="115000"/>
              </a:lnSpc>
              <a:spcAft>
                <a:spcPts val="0"/>
              </a:spcAft>
            </a:pPr>
            <a:r>
              <a:rPr sz="3600" b="1" i="0">
                <a:solidFill>
                  <a:srgbClr val="E57000"/>
                </a:solidFill>
                <a:latin typeface="Be Vietnam Pro"/>
              </a:rPr>
              <a:t>INVESTIGACIÓN</a:t>
            </a:r>
          </a:p>
        </p:txBody>
      </p:sp>
      <p:sp>
        <p:nvSpPr>
          <p:cNvPr id="5" name="TextBox 4"/>
          <p:cNvSpPr txBox="1"/>
          <p:nvPr/>
        </p:nvSpPr>
        <p:spPr>
          <a:xfrm>
            <a:off x="4617720" y="1417320"/>
            <a:ext cx="4297680" cy="640080"/>
          </a:xfrm>
          <a:prstGeom prst="rect">
            <a:avLst/>
          </a:prstGeom>
          <a:noFill/>
        </p:spPr>
        <p:txBody>
          <a:bodyPr wrap="square" lIns="0" rIns="0" tIns="0" bIns="0" anchor="t">
            <a:spAutoFit/>
          </a:bodyPr>
          <a:lstStyle/>
          <a:p>
            <a:pPr algn="l">
              <a:lnSpc>
                <a:spcPct val="115000"/>
              </a:lnSpc>
              <a:spcAft>
                <a:spcPts val="0"/>
              </a:spcAft>
            </a:pPr>
            <a:r>
              <a:rPr sz="2700" b="1" i="0">
                <a:solidFill>
                  <a:srgbClr val="FFFFFF"/>
                </a:solidFill>
                <a:latin typeface="Be Vietnam Pro"/>
              </a:rPr>
              <a:t>DE MERCADO</a:t>
            </a:r>
          </a:p>
        </p:txBody>
      </p:sp>
      <p:sp>
        <p:nvSpPr>
          <p:cNvPr id="6" name="TextBox 5"/>
          <p:cNvSpPr txBox="1"/>
          <p:nvPr/>
        </p:nvSpPr>
        <p:spPr>
          <a:xfrm>
            <a:off x="4617720" y="2148840"/>
            <a:ext cx="4297680" cy="548640"/>
          </a:xfrm>
          <a:prstGeom prst="rect">
            <a:avLst/>
          </a:prstGeom>
          <a:noFill/>
        </p:spPr>
        <p:txBody>
          <a:bodyPr wrap="square" lIns="0" rIns="0" tIns="0" bIns="0" anchor="t">
            <a:spAutoFit/>
          </a:bodyPr>
          <a:lstStyle/>
          <a:p>
            <a:pPr algn="l">
              <a:lnSpc>
                <a:spcPct val="115000"/>
              </a:lnSpc>
              <a:spcAft>
                <a:spcPts val="0"/>
              </a:spcAft>
            </a:pPr>
            <a:r>
              <a:rPr sz="2200" b="0" i="0">
                <a:solidFill>
                  <a:srgbClr val="FFFFFF"/>
                </a:solidFill>
                <a:latin typeface="Be Vietnam Pro"/>
              </a:rPr>
              <a:t>Dale Coopeuch</a:t>
            </a:r>
          </a:p>
        </p:txBody>
      </p:sp>
      <p:sp>
        <p:nvSpPr>
          <p:cNvPr id="7" name="TextBox 6"/>
          <p:cNvSpPr txBox="1"/>
          <p:nvPr/>
        </p:nvSpPr>
        <p:spPr>
          <a:xfrm>
            <a:off x="4617720" y="2880360"/>
            <a:ext cx="4206240" cy="731520"/>
          </a:xfrm>
          <a:prstGeom prst="rect">
            <a:avLst/>
          </a:prstGeom>
          <a:noFill/>
        </p:spPr>
        <p:txBody>
          <a:bodyPr wrap="square" lIns="0" rIns="0" tIns="0" bIns="0" anchor="t">
            <a:spAutoFit/>
          </a:bodyPr>
          <a:lstStyle/>
          <a:p>
            <a:pPr algn="l">
              <a:lnSpc>
                <a:spcPct val="140000"/>
              </a:lnSpc>
              <a:spcAft>
                <a:spcPts val="0"/>
              </a:spcAft>
            </a:pPr>
            <a:r>
              <a:rPr sz="950" b="0" i="0">
                <a:solidFill>
                  <a:srgbClr val="EEEEEE"/>
                </a:solidFill>
                <a:latin typeface="Be Vietnam Pro"/>
              </a:rPr>
              <a:t>Benchmarks e insights para la estrategia de canales digitales</a:t>
            </a:r>
          </a:p>
          <a:p>
            <a:pPr algn="l">
              <a:lnSpc>
                <a:spcPct val="140000"/>
              </a:lnSpc>
              <a:spcAft>
                <a:spcPts val="0"/>
              </a:spcAft>
            </a:pPr>
            <a:r>
              <a:rPr sz="950" b="0" i="0">
                <a:solidFill>
                  <a:srgbClr val="EEEEEE"/>
                </a:solidFill>
                <a:latin typeface="Be Vietnam Pro"/>
              </a:rPr>
              <a:t>Resumen ejecutivo · Agosto 2026</a:t>
            </a:r>
          </a:p>
        </p:txBody>
      </p:sp>
      <p:sp>
        <p:nvSpPr>
          <p:cNvPr id="8" name="Rounded Rectangle 7"/>
          <p:cNvSpPr/>
          <p:nvPr/>
        </p:nvSpPr>
        <p:spPr>
          <a:xfrm>
            <a:off x="4617720" y="3767328"/>
            <a:ext cx="1481328" cy="329184"/>
          </a:xfrm>
          <a:prstGeom prst="roundRect">
            <a:avLst>
              <a:gd name="adj" fmla="val 50000"/>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a:solidFill>
                  <a:srgbClr val="FFFFFF"/>
                </a:solidFill>
                <a:latin typeface="Be Vietnam Pro"/>
              </a:rPr>
              <a:t>Comenzar  →</a:t>
            </a:r>
          </a:p>
        </p:txBody>
      </p:sp>
      <p:sp>
        <p:nvSpPr>
          <p:cNvPr id="9" name="TextBox 8"/>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FFFFFF"/>
                </a:solidFill>
                <a:latin typeface="Be Vietnam Pro"/>
              </a:rPr>
              <a:t>Intothecom </a:t>
            </a:r>
            <a:r>
              <a:rPr sz="900" b="0" i="0">
                <a:solidFill>
                  <a:srgbClr val="E57000"/>
                </a:solidFill>
                <a:latin typeface="Be Vietnam Pro"/>
              </a:rPr>
              <a:t>|Agencia Marketing Digital</a:t>
            </a:r>
          </a:p>
        </p:txBody>
      </p:sp>
      <p:pic>
        <p:nvPicPr>
          <p:cNvPr id="10" name="Picture 9" descr="logo_intothecom_blanco.png"/>
          <p:cNvPicPr>
            <a:picLocks noChangeAspect="1"/>
          </p:cNvPicPr>
          <p:nvPr/>
        </p:nvPicPr>
        <p:blipFill>
          <a:blip r:embed="rId3"/>
          <a:stretch>
            <a:fillRect/>
          </a:stretch>
        </p:blipFill>
        <p:spPr>
          <a:xfrm>
            <a:off x="8339327" y="4553712"/>
            <a:ext cx="599607" cy="3840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Contexto</a:t>
            </a:r>
          </a:p>
        </p:txBody>
      </p:sp>
      <p:sp>
        <p:nvSpPr>
          <p:cNvPr id="4" name="Rectangle 3"/>
          <p:cNvSpPr/>
          <p:nvPr/>
        </p:nvSpPr>
        <p:spPr>
          <a:xfrm>
            <a:off x="1207008" y="498348"/>
            <a:ext cx="65836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6" name="TextBox 5"/>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Rectangle 10"/>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822960"/>
            <a:ext cx="7863840" cy="54864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Qué contiene este documento</a:t>
            </a:r>
          </a:p>
        </p:txBody>
      </p:sp>
      <p:sp>
        <p:nvSpPr>
          <p:cNvPr id="13" name="TextBox 12"/>
          <p:cNvSpPr txBox="1"/>
          <p:nvPr/>
        </p:nvSpPr>
        <p:spPr>
          <a:xfrm>
            <a:off x="658368" y="1481328"/>
            <a:ext cx="7772400" cy="457200"/>
          </a:xfrm>
          <a:prstGeom prst="rect">
            <a:avLst/>
          </a:prstGeom>
          <a:noFill/>
        </p:spPr>
        <p:txBody>
          <a:bodyPr wrap="square" lIns="0" rIns="0" tIns="0" bIns="0" anchor="t">
            <a:spAutoFit/>
          </a:bodyPr>
          <a:lstStyle/>
          <a:p>
            <a:pPr algn="l">
              <a:lnSpc>
                <a:spcPct val="130000"/>
              </a:lnSpc>
              <a:spcAft>
                <a:spcPts val="0"/>
              </a:spcAft>
            </a:pPr>
            <a:r>
              <a:rPr sz="950" b="0" i="0">
                <a:solidFill>
                  <a:srgbClr val="7F7F7F"/>
                </a:solidFill>
                <a:latin typeface="Be Vietnam Pro"/>
              </a:rPr>
              <a:t>Resumen del informe detallado que se entrega por separado. Todas las cifras están atribuidas a su fuente y fecha.</a:t>
            </a:r>
          </a:p>
        </p:txBody>
      </p:sp>
      <p:sp>
        <p:nvSpPr>
          <p:cNvPr id="14" name="TextBox 13"/>
          <p:cNvSpPr txBox="1"/>
          <p:nvPr/>
        </p:nvSpPr>
        <p:spPr>
          <a:xfrm>
            <a:off x="658368" y="1956816"/>
            <a:ext cx="7772400" cy="2926080"/>
          </a:xfrm>
          <a:prstGeom prst="rect">
            <a:avLst/>
          </a:prstGeom>
          <a:noFill/>
        </p:spPr>
        <p:txBody>
          <a:bodyPr wrap="square" lIns="0" rIns="0" tIns="0" bIns="0">
            <a:spAutoFit/>
          </a:bodyPr>
          <a:lstStyle/>
          <a:p>
            <a:pPr>
              <a:lnSpc>
                <a:spcPct val="125000"/>
              </a:lnSpc>
              <a:spcAft>
                <a:spcPts val="600"/>
              </a:spcAft>
            </a:pPr>
            <a:r>
              <a:rPr sz="980" b="1">
                <a:solidFill>
                  <a:srgbClr val="262626"/>
                </a:solidFill>
                <a:latin typeface="Be Vietnam Pro"/>
              </a:rPr>
              <a:t>•  </a:t>
            </a:r>
            <a:r>
              <a:rPr sz="980" b="1">
                <a:solidFill>
                  <a:srgbClr val="262626"/>
                </a:solidFill>
                <a:latin typeface="Be Vietnam Pro"/>
              </a:rPr>
              <a:t>Fuentes públicas verificables. </a:t>
            </a:r>
            <a:r>
              <a:rPr sz="980">
                <a:solidFill>
                  <a:srgbClr val="7F7F7F"/>
                </a:solidFill>
                <a:latin typeface="Be Vietnam Pro"/>
              </a:rPr>
              <a:t>Documentación oficial de plataformas, estadísticas de la CMF, reportes de inversión de AAM e IAB Chile y estudios de benchmark de la industria.</a:t>
            </a:r>
          </a:p>
          <a:p>
            <a:pPr>
              <a:lnSpc>
                <a:spcPct val="125000"/>
              </a:lnSpc>
              <a:spcAft>
                <a:spcPts val="600"/>
              </a:spcAft>
            </a:pPr>
            <a:r>
              <a:rPr sz="980" b="1">
                <a:solidFill>
                  <a:srgbClr val="262626"/>
                </a:solidFill>
                <a:latin typeface="Be Vietnam Pro"/>
              </a:rPr>
              <a:t>•  </a:t>
            </a:r>
            <a:r>
              <a:rPr sz="980" b="1">
                <a:solidFill>
                  <a:srgbClr val="262626"/>
                </a:solidFill>
                <a:latin typeface="Be Vietnam Pro"/>
              </a:rPr>
              <a:t>Sin acceso a las cuentas del cliente. </a:t>
            </a:r>
            <a:r>
              <a:rPr sz="980">
                <a:solidFill>
                  <a:srgbClr val="7F7F7F"/>
                </a:solidFill>
                <a:latin typeface="Be Vietnam Pro"/>
              </a:rPr>
              <a:t>Todas las métricas de desempeño son referencias externas, no mediciones del anunciante.</a:t>
            </a:r>
          </a:p>
          <a:p>
            <a:pPr>
              <a:lnSpc>
                <a:spcPct val="125000"/>
              </a:lnSpc>
              <a:spcAft>
                <a:spcPts val="600"/>
              </a:spcAft>
            </a:pPr>
            <a:r>
              <a:rPr sz="980" b="1">
                <a:solidFill>
                  <a:srgbClr val="262626"/>
                </a:solidFill>
                <a:latin typeface="Be Vietnam Pro"/>
              </a:rPr>
              <a:t>•  </a:t>
            </a:r>
            <a:r>
              <a:rPr sz="980" b="1">
                <a:solidFill>
                  <a:srgbClr val="262626"/>
                </a:solidFill>
                <a:latin typeface="Be Vietnam Pro"/>
              </a:rPr>
              <a:t>Los benchmarks internacionales no se trasladan en valor absoluto. </a:t>
            </a:r>
            <a:r>
              <a:rPr sz="980">
                <a:solidFill>
                  <a:srgbClr val="7F7F7F"/>
                </a:solidFill>
                <a:latin typeface="Be Vietnam Pro"/>
              </a:rPr>
              <a:t>Se usan como referencia de la relación entre métricas. El valor en pesos se triangula con fuentes locales.</a:t>
            </a:r>
          </a:p>
          <a:p>
            <a:pPr>
              <a:lnSpc>
                <a:spcPct val="125000"/>
              </a:lnSpc>
              <a:spcAft>
                <a:spcPts val="600"/>
              </a:spcAft>
            </a:pPr>
            <a:r>
              <a:rPr sz="980" b="1">
                <a:solidFill>
                  <a:srgbClr val="262626"/>
                </a:solidFill>
                <a:latin typeface="Be Vietnam Pro"/>
              </a:rPr>
              <a:t>•  </a:t>
            </a:r>
            <a:r>
              <a:rPr sz="980" b="1">
                <a:solidFill>
                  <a:srgbClr val="262626"/>
                </a:solidFill>
                <a:latin typeface="Be Vietnam Pro"/>
              </a:rPr>
              <a:t>Donde no hay dato confiable, se declara. </a:t>
            </a:r>
            <a:r>
              <a:rPr sz="980">
                <a:solidFill>
                  <a:srgbClr val="7F7F7F"/>
                </a:solidFill>
                <a:latin typeface="Be Vietnam Pro"/>
              </a:rPr>
              <a:t>No se rellenan vacíos con estimaciones sin respaldo.</a:t>
            </a:r>
          </a:p>
        </p:txBody>
      </p:sp>
      <p:sp>
        <p:nvSpPr>
          <p:cNvPr id="15" name="TextBox 14"/>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6" name="Picture 15"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Contexto</a:t>
            </a:r>
          </a:p>
        </p:txBody>
      </p:sp>
      <p:sp>
        <p:nvSpPr>
          <p:cNvPr id="4" name="Rectangle 3"/>
          <p:cNvSpPr/>
          <p:nvPr/>
        </p:nvSpPr>
        <p:spPr>
          <a:xfrm>
            <a:off x="1207008" y="498348"/>
            <a:ext cx="65836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6" name="TextBox 5"/>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TextBox 10"/>
          <p:cNvSpPr txBox="1"/>
          <p:nvPr/>
        </p:nvSpPr>
        <p:spPr>
          <a:xfrm>
            <a:off x="548640" y="731520"/>
            <a:ext cx="8046720" cy="548640"/>
          </a:xfrm>
          <a:prstGeom prst="rect">
            <a:avLst/>
          </a:prstGeom>
          <a:noFill/>
        </p:spPr>
        <p:txBody>
          <a:bodyPr wrap="square" lIns="0" rIns="0" tIns="0" bIns="0" anchor="t">
            <a:spAutoFit/>
          </a:bodyPr>
          <a:lstStyle/>
          <a:p>
            <a:pPr algn="ctr">
              <a:lnSpc>
                <a:spcPct val="115000"/>
              </a:lnSpc>
              <a:spcAft>
                <a:spcPts val="0"/>
              </a:spcAft>
            </a:pPr>
            <a:r>
              <a:rPr sz="2200" b="1" i="0">
                <a:solidFill>
                  <a:srgbClr val="262626"/>
                </a:solidFill>
                <a:latin typeface="Be Vietnam Pro"/>
              </a:rPr>
              <a:t>Seis hallazgos que ordenan la estrategia</a:t>
            </a:r>
          </a:p>
        </p:txBody>
      </p:sp>
      <p:sp>
        <p:nvSpPr>
          <p:cNvPr id="12" name="Rounded Rectangle 11"/>
          <p:cNvSpPr/>
          <p:nvPr/>
        </p:nvSpPr>
        <p:spPr>
          <a:xfrm>
            <a:off x="384048" y="1371600"/>
            <a:ext cx="2798064" cy="1572768"/>
          </a:xfrm>
          <a:prstGeom prst="roundRect">
            <a:avLst>
              <a:gd name="adj" fmla="val 6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536192"/>
            <a:ext cx="365760" cy="182880"/>
          </a:xfrm>
          <a:prstGeom prst="rect">
            <a:avLst/>
          </a:prstGeom>
          <a:noFill/>
        </p:spPr>
        <p:txBody>
          <a:bodyPr wrap="square" lIns="0" rIns="0" tIns="0" bIns="0" anchor="t">
            <a:spAutoFit/>
          </a:bodyPr>
          <a:lstStyle/>
          <a:p>
            <a:pPr algn="l">
              <a:lnSpc>
                <a:spcPct val="115000"/>
              </a:lnSpc>
              <a:spcAft>
                <a:spcPts val="0"/>
              </a:spcAft>
            </a:pPr>
            <a:r>
              <a:rPr sz="950" b="1" i="0">
                <a:solidFill>
                  <a:srgbClr val="E57000"/>
                </a:solidFill>
                <a:latin typeface="Be Vietnam Pro"/>
              </a:rPr>
              <a:t>01</a:t>
            </a:r>
          </a:p>
        </p:txBody>
      </p:sp>
      <p:sp>
        <p:nvSpPr>
          <p:cNvPr id="14" name="TextBox 13"/>
          <p:cNvSpPr txBox="1"/>
          <p:nvPr/>
        </p:nvSpPr>
        <p:spPr>
          <a:xfrm>
            <a:off x="566928" y="1792224"/>
            <a:ext cx="2432304" cy="365760"/>
          </a:xfrm>
          <a:prstGeom prst="rect">
            <a:avLst/>
          </a:prstGeom>
          <a:noFill/>
        </p:spPr>
        <p:txBody>
          <a:bodyPr wrap="square" lIns="0" rIns="0" tIns="0" bIns="0" anchor="t">
            <a:spAutoFit/>
          </a:bodyPr>
          <a:lstStyle/>
          <a:p>
            <a:pPr algn="l">
              <a:lnSpc>
                <a:spcPct val="115000"/>
              </a:lnSpc>
              <a:spcAft>
                <a:spcPts val="0"/>
              </a:spcAft>
            </a:pPr>
            <a:r>
              <a:rPr sz="1050" b="1" i="0">
                <a:solidFill>
                  <a:srgbClr val="262626"/>
                </a:solidFill>
                <a:latin typeface="Be Vietnam Pro"/>
              </a:rPr>
              <a:t>El problema no es tráfico</a:t>
            </a:r>
          </a:p>
        </p:txBody>
      </p:sp>
      <p:sp>
        <p:nvSpPr>
          <p:cNvPr id="15" name="TextBox 14"/>
          <p:cNvSpPr txBox="1"/>
          <p:nvPr/>
        </p:nvSpPr>
        <p:spPr>
          <a:xfrm>
            <a:off x="566928" y="2267712"/>
            <a:ext cx="2432304" cy="594360"/>
          </a:xfrm>
          <a:prstGeom prst="rect">
            <a:avLst/>
          </a:prstGeom>
          <a:noFill/>
        </p:spPr>
        <p:txBody>
          <a:bodyPr wrap="square" lIns="0" rIns="0" tIns="0" bIns="0" anchor="t">
            <a:spAutoFit/>
          </a:bodyPr>
          <a:lstStyle/>
          <a:p>
            <a:pPr algn="l">
              <a:lnSpc>
                <a:spcPct val="125000"/>
              </a:lnSpc>
              <a:spcAft>
                <a:spcPts val="0"/>
              </a:spcAft>
            </a:pPr>
            <a:r>
              <a:rPr sz="819" b="0" i="0">
                <a:solidFill>
                  <a:srgbClr val="7F7F7F"/>
                </a:solidFill>
                <a:latin typeface="Be Vietnam Pro"/>
              </a:rPr>
              <a:t>Es la fricción del proceso de contratación. Cada paso es un punto de fuga que hoy no se mide por separado.</a:t>
            </a:r>
          </a:p>
        </p:txBody>
      </p:sp>
      <p:sp>
        <p:nvSpPr>
          <p:cNvPr id="16" name="Rounded Rectangle 15"/>
          <p:cNvSpPr/>
          <p:nvPr/>
        </p:nvSpPr>
        <p:spPr>
          <a:xfrm>
            <a:off x="3282696" y="1371600"/>
            <a:ext cx="2798064" cy="1572768"/>
          </a:xfrm>
          <a:prstGeom prst="roundRect">
            <a:avLst>
              <a:gd name="adj" fmla="val 6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5576" y="1536192"/>
            <a:ext cx="365760" cy="182880"/>
          </a:xfrm>
          <a:prstGeom prst="rect">
            <a:avLst/>
          </a:prstGeom>
          <a:noFill/>
        </p:spPr>
        <p:txBody>
          <a:bodyPr wrap="square" lIns="0" rIns="0" tIns="0" bIns="0" anchor="t">
            <a:spAutoFit/>
          </a:bodyPr>
          <a:lstStyle/>
          <a:p>
            <a:pPr algn="l">
              <a:lnSpc>
                <a:spcPct val="115000"/>
              </a:lnSpc>
              <a:spcAft>
                <a:spcPts val="0"/>
              </a:spcAft>
            </a:pPr>
            <a:r>
              <a:rPr sz="950" b="1" i="0">
                <a:solidFill>
                  <a:srgbClr val="E57000"/>
                </a:solidFill>
                <a:latin typeface="Be Vietnam Pro"/>
              </a:rPr>
              <a:t>02</a:t>
            </a:r>
          </a:p>
        </p:txBody>
      </p:sp>
      <p:sp>
        <p:nvSpPr>
          <p:cNvPr id="18" name="TextBox 17"/>
          <p:cNvSpPr txBox="1"/>
          <p:nvPr/>
        </p:nvSpPr>
        <p:spPr>
          <a:xfrm>
            <a:off x="3465576" y="1792224"/>
            <a:ext cx="2432304" cy="365760"/>
          </a:xfrm>
          <a:prstGeom prst="rect">
            <a:avLst/>
          </a:prstGeom>
          <a:noFill/>
        </p:spPr>
        <p:txBody>
          <a:bodyPr wrap="square" lIns="0" rIns="0" tIns="0" bIns="0" anchor="t">
            <a:spAutoFit/>
          </a:bodyPr>
          <a:lstStyle/>
          <a:p>
            <a:pPr algn="l">
              <a:lnSpc>
                <a:spcPct val="115000"/>
              </a:lnSpc>
              <a:spcAft>
                <a:spcPts val="0"/>
              </a:spcAft>
            </a:pPr>
            <a:r>
              <a:rPr sz="1050" b="1" i="0">
                <a:solidFill>
                  <a:srgbClr val="FFFFFF"/>
                </a:solidFill>
                <a:latin typeface="Be Vietnam Pro"/>
              </a:rPr>
              <a:t>Hay un diferenciador sin ocupar</a:t>
            </a:r>
          </a:p>
        </p:txBody>
      </p:sp>
      <p:sp>
        <p:nvSpPr>
          <p:cNvPr id="19" name="TextBox 18"/>
          <p:cNvSpPr txBox="1"/>
          <p:nvPr/>
        </p:nvSpPr>
        <p:spPr>
          <a:xfrm>
            <a:off x="3465576" y="2267712"/>
            <a:ext cx="2432304" cy="594360"/>
          </a:xfrm>
          <a:prstGeom prst="rect">
            <a:avLst/>
          </a:prstGeom>
          <a:noFill/>
        </p:spPr>
        <p:txBody>
          <a:bodyPr wrap="square" lIns="0" rIns="0" tIns="0" bIns="0" anchor="t">
            <a:spAutoFit/>
          </a:bodyPr>
          <a:lstStyle/>
          <a:p>
            <a:pPr algn="l">
              <a:lnSpc>
                <a:spcPct val="125000"/>
              </a:lnSpc>
              <a:spcAft>
                <a:spcPts val="0"/>
              </a:spcAft>
            </a:pPr>
            <a:r>
              <a:rPr sz="819" b="0" i="0">
                <a:solidFill>
                  <a:srgbClr val="EEEEEE"/>
                </a:solidFill>
                <a:latin typeface="Be Vietnam Pro"/>
              </a:rPr>
              <a:t>La evaluación por múltiples fuentes de ingreso habilita el nicho de independientes. Nadie lo comunica.</a:t>
            </a:r>
          </a:p>
        </p:txBody>
      </p:sp>
      <p:sp>
        <p:nvSpPr>
          <p:cNvPr id="20" name="Rounded Rectangle 19"/>
          <p:cNvSpPr/>
          <p:nvPr/>
        </p:nvSpPr>
        <p:spPr>
          <a:xfrm>
            <a:off x="6181344" y="1371600"/>
            <a:ext cx="2798064" cy="1572768"/>
          </a:xfrm>
          <a:prstGeom prst="roundRect">
            <a:avLst>
              <a:gd name="adj" fmla="val 6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536192"/>
            <a:ext cx="365760" cy="182880"/>
          </a:xfrm>
          <a:prstGeom prst="rect">
            <a:avLst/>
          </a:prstGeom>
          <a:noFill/>
        </p:spPr>
        <p:txBody>
          <a:bodyPr wrap="square" lIns="0" rIns="0" tIns="0" bIns="0" anchor="t">
            <a:spAutoFit/>
          </a:bodyPr>
          <a:lstStyle/>
          <a:p>
            <a:pPr algn="l">
              <a:lnSpc>
                <a:spcPct val="115000"/>
              </a:lnSpc>
              <a:spcAft>
                <a:spcPts val="0"/>
              </a:spcAft>
            </a:pPr>
            <a:r>
              <a:rPr sz="950" b="1" i="0">
                <a:solidFill>
                  <a:srgbClr val="E57000"/>
                </a:solidFill>
                <a:latin typeface="Be Vietnam Pro"/>
              </a:rPr>
              <a:t>03</a:t>
            </a:r>
          </a:p>
        </p:txBody>
      </p:sp>
      <p:sp>
        <p:nvSpPr>
          <p:cNvPr id="22" name="TextBox 21"/>
          <p:cNvSpPr txBox="1"/>
          <p:nvPr/>
        </p:nvSpPr>
        <p:spPr>
          <a:xfrm>
            <a:off x="6364224" y="1792224"/>
            <a:ext cx="2432304" cy="365760"/>
          </a:xfrm>
          <a:prstGeom prst="rect">
            <a:avLst/>
          </a:prstGeom>
          <a:noFill/>
        </p:spPr>
        <p:txBody>
          <a:bodyPr wrap="square" lIns="0" rIns="0" tIns="0" bIns="0" anchor="t">
            <a:spAutoFit/>
          </a:bodyPr>
          <a:lstStyle/>
          <a:p>
            <a:pPr algn="l">
              <a:lnSpc>
                <a:spcPct val="115000"/>
              </a:lnSpc>
              <a:spcAft>
                <a:spcPts val="0"/>
              </a:spcAft>
            </a:pPr>
            <a:r>
              <a:rPr sz="1050" b="1" i="0">
                <a:solidFill>
                  <a:srgbClr val="FFFFFF"/>
                </a:solidFill>
                <a:latin typeface="Be Vietnam Pro"/>
              </a:rPr>
              <a:t>La landing no cumple con Google</a:t>
            </a:r>
          </a:p>
        </p:txBody>
      </p:sp>
      <p:sp>
        <p:nvSpPr>
          <p:cNvPr id="23" name="TextBox 22"/>
          <p:cNvSpPr txBox="1"/>
          <p:nvPr/>
        </p:nvSpPr>
        <p:spPr>
          <a:xfrm>
            <a:off x="6364224" y="2267712"/>
            <a:ext cx="2432304" cy="594360"/>
          </a:xfrm>
          <a:prstGeom prst="rect">
            <a:avLst/>
          </a:prstGeom>
          <a:noFill/>
        </p:spPr>
        <p:txBody>
          <a:bodyPr wrap="square" lIns="0" rIns="0" tIns="0" bIns="0" anchor="t">
            <a:spAutoFit/>
          </a:bodyPr>
          <a:lstStyle/>
          <a:p>
            <a:pPr algn="l">
              <a:lnSpc>
                <a:spcPct val="125000"/>
              </a:lnSpc>
              <a:spcAft>
                <a:spcPts val="0"/>
              </a:spcAft>
            </a:pPr>
            <a:r>
              <a:rPr sz="819" b="0" i="0">
                <a:solidFill>
                  <a:srgbClr val="EEEEEE"/>
                </a:solidFill>
                <a:latin typeface="Be Vietnam Pro"/>
              </a:rPr>
              <a:t>No expone CAE, plazos ni costo total. Es un bloqueante previo al lanzamiento.</a:t>
            </a:r>
          </a:p>
        </p:txBody>
      </p:sp>
      <p:sp>
        <p:nvSpPr>
          <p:cNvPr id="24" name="Rounded Rectangle 23"/>
          <p:cNvSpPr/>
          <p:nvPr/>
        </p:nvSpPr>
        <p:spPr>
          <a:xfrm>
            <a:off x="384048" y="3090672"/>
            <a:ext cx="2798064" cy="1572768"/>
          </a:xfrm>
          <a:prstGeom prst="roundRect">
            <a:avLst>
              <a:gd name="adj" fmla="val 6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255264"/>
            <a:ext cx="365760" cy="182880"/>
          </a:xfrm>
          <a:prstGeom prst="rect">
            <a:avLst/>
          </a:prstGeom>
          <a:noFill/>
        </p:spPr>
        <p:txBody>
          <a:bodyPr wrap="square" lIns="0" rIns="0" tIns="0" bIns="0" anchor="t">
            <a:spAutoFit/>
          </a:bodyPr>
          <a:lstStyle/>
          <a:p>
            <a:pPr algn="l">
              <a:lnSpc>
                <a:spcPct val="115000"/>
              </a:lnSpc>
              <a:spcAft>
                <a:spcPts val="0"/>
              </a:spcAft>
            </a:pPr>
            <a:r>
              <a:rPr sz="950" b="1" i="0">
                <a:solidFill>
                  <a:srgbClr val="E57000"/>
                </a:solidFill>
                <a:latin typeface="Be Vietnam Pro"/>
              </a:rPr>
              <a:t>04</a:t>
            </a:r>
          </a:p>
        </p:txBody>
      </p:sp>
      <p:sp>
        <p:nvSpPr>
          <p:cNvPr id="26" name="TextBox 25"/>
          <p:cNvSpPr txBox="1"/>
          <p:nvPr/>
        </p:nvSpPr>
        <p:spPr>
          <a:xfrm>
            <a:off x="566928" y="3511296"/>
            <a:ext cx="2432304" cy="365760"/>
          </a:xfrm>
          <a:prstGeom prst="rect">
            <a:avLst/>
          </a:prstGeom>
          <a:noFill/>
        </p:spPr>
        <p:txBody>
          <a:bodyPr wrap="square" lIns="0" rIns="0" tIns="0" bIns="0" anchor="t">
            <a:spAutoFit/>
          </a:bodyPr>
          <a:lstStyle/>
          <a:p>
            <a:pPr algn="l">
              <a:lnSpc>
                <a:spcPct val="115000"/>
              </a:lnSpc>
              <a:spcAft>
                <a:spcPts val="0"/>
              </a:spcAft>
            </a:pPr>
            <a:r>
              <a:rPr sz="1050" b="1" i="0">
                <a:solidFill>
                  <a:srgbClr val="FFFFFF"/>
                </a:solidFill>
                <a:latin typeface="Be Vietnam Pro"/>
              </a:rPr>
              <a:t>En Chile sí hay segmentación en Meta</a:t>
            </a:r>
          </a:p>
        </p:txBody>
      </p:sp>
      <p:sp>
        <p:nvSpPr>
          <p:cNvPr id="27" name="TextBox 26"/>
          <p:cNvSpPr txBox="1"/>
          <p:nvPr/>
        </p:nvSpPr>
        <p:spPr>
          <a:xfrm>
            <a:off x="566928" y="3986784"/>
            <a:ext cx="2432304" cy="594360"/>
          </a:xfrm>
          <a:prstGeom prst="rect">
            <a:avLst/>
          </a:prstGeom>
          <a:noFill/>
        </p:spPr>
        <p:txBody>
          <a:bodyPr wrap="square" lIns="0" rIns="0" tIns="0" bIns="0" anchor="t">
            <a:spAutoFit/>
          </a:bodyPr>
          <a:lstStyle/>
          <a:p>
            <a:pPr algn="l">
              <a:lnSpc>
                <a:spcPct val="125000"/>
              </a:lnSpc>
              <a:spcAft>
                <a:spcPts val="0"/>
              </a:spcAft>
            </a:pPr>
            <a:r>
              <a:rPr sz="819" b="0" i="0">
                <a:solidFill>
                  <a:srgbClr val="EEEEEE"/>
                </a:solidFill>
                <a:latin typeface="Be Vietnam Pro"/>
              </a:rPr>
              <a:t>Las restricciones de categoría especial aplican a EE.UU., Canadá y parte de Europa. Chile no.</a:t>
            </a:r>
          </a:p>
        </p:txBody>
      </p:sp>
      <p:sp>
        <p:nvSpPr>
          <p:cNvPr id="28" name="Rounded Rectangle 27"/>
          <p:cNvSpPr/>
          <p:nvPr/>
        </p:nvSpPr>
        <p:spPr>
          <a:xfrm>
            <a:off x="3282696" y="3090672"/>
            <a:ext cx="2798064" cy="1572768"/>
          </a:xfrm>
          <a:prstGeom prst="roundRect">
            <a:avLst>
              <a:gd name="adj" fmla="val 6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65576" y="3255264"/>
            <a:ext cx="365760" cy="182880"/>
          </a:xfrm>
          <a:prstGeom prst="rect">
            <a:avLst/>
          </a:prstGeom>
          <a:noFill/>
        </p:spPr>
        <p:txBody>
          <a:bodyPr wrap="square" lIns="0" rIns="0" tIns="0" bIns="0" anchor="t">
            <a:spAutoFit/>
          </a:bodyPr>
          <a:lstStyle/>
          <a:p>
            <a:pPr algn="l">
              <a:lnSpc>
                <a:spcPct val="115000"/>
              </a:lnSpc>
              <a:spcAft>
                <a:spcPts val="0"/>
              </a:spcAft>
            </a:pPr>
            <a:r>
              <a:rPr sz="950" b="1" i="0">
                <a:solidFill>
                  <a:srgbClr val="E57000"/>
                </a:solidFill>
                <a:latin typeface="Be Vietnam Pro"/>
              </a:rPr>
              <a:t>05</a:t>
            </a:r>
          </a:p>
        </p:txBody>
      </p:sp>
      <p:sp>
        <p:nvSpPr>
          <p:cNvPr id="30" name="TextBox 29"/>
          <p:cNvSpPr txBox="1"/>
          <p:nvPr/>
        </p:nvSpPr>
        <p:spPr>
          <a:xfrm>
            <a:off x="3465576" y="3511296"/>
            <a:ext cx="2432304" cy="365760"/>
          </a:xfrm>
          <a:prstGeom prst="rect">
            <a:avLst/>
          </a:prstGeom>
          <a:noFill/>
        </p:spPr>
        <p:txBody>
          <a:bodyPr wrap="square" lIns="0" rIns="0" tIns="0" bIns="0" anchor="t">
            <a:spAutoFit/>
          </a:bodyPr>
          <a:lstStyle/>
          <a:p>
            <a:pPr algn="l">
              <a:lnSpc>
                <a:spcPct val="115000"/>
              </a:lnSpc>
              <a:spcAft>
                <a:spcPts val="0"/>
              </a:spcAft>
            </a:pPr>
            <a:r>
              <a:rPr sz="1050" b="1" i="0">
                <a:solidFill>
                  <a:srgbClr val="262626"/>
                </a:solidFill>
                <a:latin typeface="Be Vietnam Pro"/>
              </a:rPr>
              <a:t>En email mandan los flujos</a:t>
            </a:r>
          </a:p>
        </p:txBody>
      </p:sp>
      <p:sp>
        <p:nvSpPr>
          <p:cNvPr id="31" name="TextBox 30"/>
          <p:cNvSpPr txBox="1"/>
          <p:nvPr/>
        </p:nvSpPr>
        <p:spPr>
          <a:xfrm>
            <a:off x="3465576" y="3986784"/>
            <a:ext cx="2432304" cy="594360"/>
          </a:xfrm>
          <a:prstGeom prst="rect">
            <a:avLst/>
          </a:prstGeom>
          <a:noFill/>
        </p:spPr>
        <p:txBody>
          <a:bodyPr wrap="square" lIns="0" rIns="0" tIns="0" bIns="0" anchor="t">
            <a:spAutoFit/>
          </a:bodyPr>
          <a:lstStyle/>
          <a:p>
            <a:pPr algn="l">
              <a:lnSpc>
                <a:spcPct val="125000"/>
              </a:lnSpc>
              <a:spcAft>
                <a:spcPts val="0"/>
              </a:spcAft>
            </a:pPr>
            <a:r>
              <a:rPr sz="819" b="0" i="0">
                <a:solidFill>
                  <a:srgbClr val="7F7F7F"/>
                </a:solidFill>
                <a:latin typeface="Be Vietnam Pro"/>
              </a:rPr>
              <a:t>41% de los ingresos con 5,3% de los envíos. Banca tiene el click rate más bajo de todas las industrias.</a:t>
            </a:r>
          </a:p>
        </p:txBody>
      </p:sp>
      <p:sp>
        <p:nvSpPr>
          <p:cNvPr id="32" name="Rounded Rectangle 31"/>
          <p:cNvSpPr/>
          <p:nvPr/>
        </p:nvSpPr>
        <p:spPr>
          <a:xfrm>
            <a:off x="6181344" y="3090672"/>
            <a:ext cx="2798064" cy="1572768"/>
          </a:xfrm>
          <a:prstGeom prst="roundRect">
            <a:avLst>
              <a:gd name="adj" fmla="val 6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64224" y="3255264"/>
            <a:ext cx="365760" cy="182880"/>
          </a:xfrm>
          <a:prstGeom prst="rect">
            <a:avLst/>
          </a:prstGeom>
          <a:noFill/>
        </p:spPr>
        <p:txBody>
          <a:bodyPr wrap="square" lIns="0" rIns="0" tIns="0" bIns="0" anchor="t">
            <a:spAutoFit/>
          </a:bodyPr>
          <a:lstStyle/>
          <a:p>
            <a:pPr algn="l">
              <a:lnSpc>
                <a:spcPct val="115000"/>
              </a:lnSpc>
              <a:spcAft>
                <a:spcPts val="0"/>
              </a:spcAft>
            </a:pPr>
            <a:r>
              <a:rPr sz="950" b="1" i="0">
                <a:solidFill>
                  <a:srgbClr val="E57000"/>
                </a:solidFill>
                <a:latin typeface="Be Vietnam Pro"/>
              </a:rPr>
              <a:t>06</a:t>
            </a:r>
          </a:p>
        </p:txBody>
      </p:sp>
      <p:sp>
        <p:nvSpPr>
          <p:cNvPr id="34" name="TextBox 33"/>
          <p:cNvSpPr txBox="1"/>
          <p:nvPr/>
        </p:nvSpPr>
        <p:spPr>
          <a:xfrm>
            <a:off x="6364224" y="3511296"/>
            <a:ext cx="2432304" cy="365760"/>
          </a:xfrm>
          <a:prstGeom prst="rect">
            <a:avLst/>
          </a:prstGeom>
          <a:noFill/>
        </p:spPr>
        <p:txBody>
          <a:bodyPr wrap="square" lIns="0" rIns="0" tIns="0" bIns="0" anchor="t">
            <a:spAutoFit/>
          </a:bodyPr>
          <a:lstStyle/>
          <a:p>
            <a:pPr algn="l">
              <a:lnSpc>
                <a:spcPct val="115000"/>
              </a:lnSpc>
              <a:spcAft>
                <a:spcPts val="0"/>
              </a:spcAft>
            </a:pPr>
            <a:r>
              <a:rPr sz="1050" b="1" i="0">
                <a:solidFill>
                  <a:srgbClr val="262626"/>
                </a:solidFill>
                <a:latin typeface="Be Vietnam Pro"/>
              </a:rPr>
              <a:t>En social hay que fijar el objetivo correcto</a:t>
            </a:r>
          </a:p>
        </p:txBody>
      </p:sp>
      <p:sp>
        <p:nvSpPr>
          <p:cNvPr id="35" name="TextBox 34"/>
          <p:cNvSpPr txBox="1"/>
          <p:nvPr/>
        </p:nvSpPr>
        <p:spPr>
          <a:xfrm>
            <a:off x="6364224" y="3986784"/>
            <a:ext cx="2432304" cy="594360"/>
          </a:xfrm>
          <a:prstGeom prst="rect">
            <a:avLst/>
          </a:prstGeom>
          <a:noFill/>
        </p:spPr>
        <p:txBody>
          <a:bodyPr wrap="square" lIns="0" rIns="0" tIns="0" bIns="0" anchor="t">
            <a:spAutoFit/>
          </a:bodyPr>
          <a:lstStyle/>
          <a:p>
            <a:pPr algn="l">
              <a:lnSpc>
                <a:spcPct val="125000"/>
              </a:lnSpc>
              <a:spcAft>
                <a:spcPts val="0"/>
              </a:spcAft>
            </a:pPr>
            <a:r>
              <a:rPr sz="819" b="0" i="0">
                <a:solidFill>
                  <a:srgbClr val="7F7F7F"/>
                </a:solidFill>
                <a:latin typeface="Be Vietnam Pro"/>
              </a:rPr>
              <a:t>Engagement estructuralmente bajo en finanzas. El rol es confianza, no seguidores.</a:t>
            </a:r>
          </a:p>
        </p:txBody>
      </p:sp>
      <p:sp>
        <p:nvSpPr>
          <p:cNvPr id="36" name="TextBox 35"/>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37" name="Picture 36"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Contexto</a:t>
            </a:r>
          </a:p>
        </p:txBody>
      </p:sp>
      <p:sp>
        <p:nvSpPr>
          <p:cNvPr id="4" name="Rectangle 3"/>
          <p:cNvSpPr/>
          <p:nvPr/>
        </p:nvSpPr>
        <p:spPr>
          <a:xfrm>
            <a:off x="1207008" y="498348"/>
            <a:ext cx="65836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6" name="TextBox 5"/>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TextBox 10"/>
          <p:cNvSpPr txBox="1"/>
          <p:nvPr/>
        </p:nvSpPr>
        <p:spPr>
          <a:xfrm>
            <a:off x="548640" y="804672"/>
            <a:ext cx="8046720" cy="45720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El contexto </a:t>
            </a:r>
            <a:r>
              <a:rPr sz="2300" b="1" i="0">
                <a:solidFill>
                  <a:srgbClr val="E57000"/>
                </a:solidFill>
                <a:latin typeface="Be Vietnam Pro"/>
              </a:rPr>
              <a:t>de mercado</a:t>
            </a:r>
          </a:p>
        </p:txBody>
      </p:sp>
      <p:sp>
        <p:nvSpPr>
          <p:cNvPr id="12" name="TextBox 11"/>
          <p:cNvSpPr txBox="1"/>
          <p:nvPr/>
        </p:nvSpPr>
        <p:spPr>
          <a:xfrm>
            <a:off x="548640" y="1389888"/>
            <a:ext cx="4206240" cy="1005840"/>
          </a:xfrm>
          <a:prstGeom prst="rect">
            <a:avLst/>
          </a:prstGeom>
          <a:noFill/>
        </p:spPr>
        <p:txBody>
          <a:bodyPr wrap="square" lIns="0" rIns="0" tIns="0" bIns="0" anchor="t">
            <a:spAutoFit/>
          </a:bodyPr>
          <a:lstStyle/>
          <a:p>
            <a:pPr algn="l">
              <a:lnSpc>
                <a:spcPct val="130000"/>
              </a:lnSpc>
              <a:spcAft>
                <a:spcPts val="0"/>
              </a:spcAft>
            </a:pPr>
            <a:r>
              <a:rPr sz="900" b="0" i="0">
                <a:solidFill>
                  <a:srgbClr val="7F7F7F"/>
                </a:solidFill>
                <a:latin typeface="Be Vietnam Pro"/>
              </a:rPr>
              <a:t>La cartera de consumo es el corazón del negocio cooperativo y lo digital ya superó la mitad de la inversión publicitaria chilena. Al mismo tiempo, los indicadores de riesgo de la cartera de consumo muestran alzas, lo que refuerza la necesidad de calificar antes de derivar.</a:t>
            </a:r>
          </a:p>
        </p:txBody>
      </p:sp>
      <p:pic>
        <p:nvPicPr>
          <p:cNvPr id="13" name="Picture 12" descr="div_casos.jpeg"/>
          <p:cNvPicPr>
            <a:picLocks noChangeAspect="1"/>
          </p:cNvPicPr>
          <p:nvPr/>
        </p:nvPicPr>
        <p:blipFill>
          <a:blip r:embed="rId2"/>
          <a:srcRect t="9473" b="9473"/>
          <a:stretch>
            <a:fillRect/>
          </a:stretch>
        </p:blipFill>
        <p:spPr>
          <a:xfrm>
            <a:off x="548640" y="2331720"/>
            <a:ext cx="3977639" cy="2148840"/>
          </a:xfrm>
          <a:prstGeom prst="rect">
            <a:avLst/>
          </a:prstGeom>
        </p:spPr>
      </p:pic>
      <p:sp>
        <p:nvSpPr>
          <p:cNvPr id="14" name="Rounded Rectangle 13"/>
          <p:cNvSpPr/>
          <p:nvPr/>
        </p:nvSpPr>
        <p:spPr>
          <a:xfrm>
            <a:off x="4892040" y="1325880"/>
            <a:ext cx="1874519" cy="1417320"/>
          </a:xfrm>
          <a:prstGeom prst="roundRect">
            <a:avLst>
              <a:gd name="adj" fmla="val 8000"/>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1636776"/>
            <a:ext cx="1874519" cy="457200"/>
          </a:xfrm>
          <a:prstGeom prst="rect">
            <a:avLst/>
          </a:prstGeom>
          <a:noFill/>
        </p:spPr>
        <p:txBody>
          <a:bodyPr wrap="square" lIns="0" rIns="0" tIns="0" bIns="0" anchor="t">
            <a:spAutoFit/>
          </a:bodyPr>
          <a:lstStyle/>
          <a:p>
            <a:pPr algn="ctr">
              <a:lnSpc>
                <a:spcPct val="115000"/>
              </a:lnSpc>
              <a:spcAft>
                <a:spcPts val="0"/>
              </a:spcAft>
            </a:pPr>
            <a:r>
              <a:rPr sz="2500" b="1" i="0">
                <a:solidFill>
                  <a:srgbClr val="FFFFFF"/>
                </a:solidFill>
                <a:latin typeface="Be Vietnam Pro"/>
              </a:rPr>
              <a:t>68,7%</a:t>
            </a:r>
          </a:p>
        </p:txBody>
      </p:sp>
      <p:sp>
        <p:nvSpPr>
          <p:cNvPr id="16" name="TextBox 15"/>
          <p:cNvSpPr txBox="1"/>
          <p:nvPr/>
        </p:nvSpPr>
        <p:spPr>
          <a:xfrm>
            <a:off x="4983480" y="2167128"/>
            <a:ext cx="1691639" cy="457200"/>
          </a:xfrm>
          <a:prstGeom prst="rect">
            <a:avLst/>
          </a:prstGeom>
          <a:noFill/>
        </p:spPr>
        <p:txBody>
          <a:bodyPr wrap="square" lIns="0" rIns="0" tIns="0" bIns="0" anchor="t">
            <a:spAutoFit/>
          </a:bodyPr>
          <a:lstStyle/>
          <a:p>
            <a:pPr algn="ctr">
              <a:lnSpc>
                <a:spcPct val="115000"/>
              </a:lnSpc>
              <a:spcAft>
                <a:spcPts val="0"/>
              </a:spcAft>
            </a:pPr>
            <a:r>
              <a:rPr sz="950" b="0" i="0">
                <a:solidFill>
                  <a:srgbClr val="FFFFFF"/>
                </a:solidFill>
                <a:latin typeface="Be Vietnam Pro"/>
              </a:rPr>
              <a:t>de la cartera de</a:t>
            </a:r>
          </a:p>
          <a:p>
            <a:pPr algn="ctr">
              <a:lnSpc>
                <a:spcPct val="115000"/>
              </a:lnSpc>
              <a:spcAft>
                <a:spcPts val="0"/>
              </a:spcAft>
            </a:pPr>
            <a:r>
              <a:rPr sz="950" b="0" i="0">
                <a:solidFill>
                  <a:srgbClr val="FFFFFF"/>
                </a:solidFill>
                <a:latin typeface="Be Vietnam Pro"/>
              </a:rPr>
              <a:t>cooperativas es consumo</a:t>
            </a:r>
          </a:p>
        </p:txBody>
      </p:sp>
      <p:sp>
        <p:nvSpPr>
          <p:cNvPr id="17" name="Rounded Rectangle 16"/>
          <p:cNvSpPr/>
          <p:nvPr/>
        </p:nvSpPr>
        <p:spPr>
          <a:xfrm>
            <a:off x="6931151" y="1325880"/>
            <a:ext cx="1874519"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31151" y="1325880"/>
            <a:ext cx="1874519" cy="1417320"/>
          </a:xfrm>
          <a:prstGeom prst="roundRect">
            <a:avLst>
              <a:gd name="adj" fmla="val 8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31151" y="1636776"/>
            <a:ext cx="1874519" cy="457200"/>
          </a:xfrm>
          <a:prstGeom prst="rect">
            <a:avLst/>
          </a:prstGeom>
          <a:noFill/>
        </p:spPr>
        <p:txBody>
          <a:bodyPr wrap="square" lIns="0" rIns="0" tIns="0" bIns="0" anchor="t">
            <a:spAutoFit/>
          </a:bodyPr>
          <a:lstStyle/>
          <a:p>
            <a:pPr algn="ctr">
              <a:lnSpc>
                <a:spcPct val="115000"/>
              </a:lnSpc>
              <a:spcAft>
                <a:spcPts val="0"/>
              </a:spcAft>
            </a:pPr>
            <a:r>
              <a:rPr sz="2500" b="1" i="0">
                <a:solidFill>
                  <a:srgbClr val="262626"/>
                </a:solidFill>
                <a:latin typeface="Be Vietnam Pro"/>
              </a:rPr>
              <a:t>+4,77%</a:t>
            </a:r>
          </a:p>
        </p:txBody>
      </p:sp>
      <p:sp>
        <p:nvSpPr>
          <p:cNvPr id="20" name="TextBox 19"/>
          <p:cNvSpPr txBox="1"/>
          <p:nvPr/>
        </p:nvSpPr>
        <p:spPr>
          <a:xfrm>
            <a:off x="7022591" y="2167128"/>
            <a:ext cx="1691639" cy="457200"/>
          </a:xfrm>
          <a:prstGeom prst="rect">
            <a:avLst/>
          </a:prstGeom>
          <a:noFill/>
        </p:spPr>
        <p:txBody>
          <a:bodyPr wrap="square" lIns="0" rIns="0" tIns="0" bIns="0" anchor="t">
            <a:spAutoFit/>
          </a:bodyPr>
          <a:lstStyle/>
          <a:p>
            <a:pPr algn="ctr">
              <a:lnSpc>
                <a:spcPct val="115000"/>
              </a:lnSpc>
              <a:spcAft>
                <a:spcPts val="0"/>
              </a:spcAft>
            </a:pPr>
            <a:r>
              <a:rPr sz="950" b="0" i="0">
                <a:solidFill>
                  <a:srgbClr val="595959"/>
                </a:solidFill>
                <a:latin typeface="Be Vietnam Pro"/>
              </a:rPr>
              <a:t>crecimiento real</a:t>
            </a:r>
          </a:p>
          <a:p>
            <a:pPr algn="ctr">
              <a:lnSpc>
                <a:spcPct val="115000"/>
              </a:lnSpc>
              <a:spcAft>
                <a:spcPts val="0"/>
              </a:spcAft>
            </a:pPr>
            <a:r>
              <a:rPr sz="950" b="0" i="0">
                <a:solidFill>
                  <a:srgbClr val="595959"/>
                </a:solidFill>
                <a:latin typeface="Be Vietnam Pro"/>
              </a:rPr>
              <a:t>a doce meses</a:t>
            </a:r>
          </a:p>
        </p:txBody>
      </p:sp>
      <p:sp>
        <p:nvSpPr>
          <p:cNvPr id="21" name="Rounded Rectangle 20"/>
          <p:cNvSpPr/>
          <p:nvPr/>
        </p:nvSpPr>
        <p:spPr>
          <a:xfrm>
            <a:off x="4892040" y="2907792"/>
            <a:ext cx="1874519"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92040" y="2907792"/>
            <a:ext cx="1874519" cy="1417320"/>
          </a:xfrm>
          <a:prstGeom prst="roundRect">
            <a:avLst>
              <a:gd name="adj" fmla="val 8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3218688"/>
            <a:ext cx="1874519" cy="457200"/>
          </a:xfrm>
          <a:prstGeom prst="rect">
            <a:avLst/>
          </a:prstGeom>
          <a:noFill/>
        </p:spPr>
        <p:txBody>
          <a:bodyPr wrap="square" lIns="0" rIns="0" tIns="0" bIns="0" anchor="t">
            <a:spAutoFit/>
          </a:bodyPr>
          <a:lstStyle/>
          <a:p>
            <a:pPr algn="ctr">
              <a:lnSpc>
                <a:spcPct val="115000"/>
              </a:lnSpc>
              <a:spcAft>
                <a:spcPts val="0"/>
              </a:spcAft>
            </a:pPr>
            <a:r>
              <a:rPr sz="2500" b="1" i="0">
                <a:solidFill>
                  <a:srgbClr val="262626"/>
                </a:solidFill>
                <a:latin typeface="Be Vietnam Pro"/>
              </a:rPr>
              <a:t>50,1%</a:t>
            </a:r>
          </a:p>
        </p:txBody>
      </p:sp>
      <p:sp>
        <p:nvSpPr>
          <p:cNvPr id="24" name="TextBox 23"/>
          <p:cNvSpPr txBox="1"/>
          <p:nvPr/>
        </p:nvSpPr>
        <p:spPr>
          <a:xfrm>
            <a:off x="4983480" y="3749040"/>
            <a:ext cx="1691639" cy="457200"/>
          </a:xfrm>
          <a:prstGeom prst="rect">
            <a:avLst/>
          </a:prstGeom>
          <a:noFill/>
        </p:spPr>
        <p:txBody>
          <a:bodyPr wrap="square" lIns="0" rIns="0" tIns="0" bIns="0" anchor="t">
            <a:spAutoFit/>
          </a:bodyPr>
          <a:lstStyle/>
          <a:p>
            <a:pPr algn="ctr">
              <a:lnSpc>
                <a:spcPct val="115000"/>
              </a:lnSpc>
              <a:spcAft>
                <a:spcPts val="0"/>
              </a:spcAft>
            </a:pPr>
            <a:r>
              <a:rPr sz="950" b="0" i="0">
                <a:solidFill>
                  <a:srgbClr val="595959"/>
                </a:solidFill>
                <a:latin typeface="Be Vietnam Pro"/>
              </a:rPr>
              <a:t>share de inversión</a:t>
            </a:r>
          </a:p>
          <a:p>
            <a:pPr algn="ctr">
              <a:lnSpc>
                <a:spcPct val="115000"/>
              </a:lnSpc>
              <a:spcAft>
                <a:spcPts val="0"/>
              </a:spcAft>
            </a:pPr>
            <a:r>
              <a:rPr sz="950" b="0" i="0">
                <a:solidFill>
                  <a:srgbClr val="595959"/>
                </a:solidFill>
                <a:latin typeface="Be Vietnam Pro"/>
              </a:rPr>
              <a:t>digital en Chile</a:t>
            </a:r>
          </a:p>
        </p:txBody>
      </p:sp>
      <p:sp>
        <p:nvSpPr>
          <p:cNvPr id="25" name="Rounded Rectangle 24"/>
          <p:cNvSpPr/>
          <p:nvPr/>
        </p:nvSpPr>
        <p:spPr>
          <a:xfrm>
            <a:off x="6931151" y="2907792"/>
            <a:ext cx="1874519"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31151" y="2907792"/>
            <a:ext cx="1874519" cy="1417320"/>
          </a:xfrm>
          <a:prstGeom prst="roundRect">
            <a:avLst>
              <a:gd name="adj" fmla="val 8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31151" y="3218688"/>
            <a:ext cx="1874519" cy="457200"/>
          </a:xfrm>
          <a:prstGeom prst="rect">
            <a:avLst/>
          </a:prstGeom>
          <a:noFill/>
        </p:spPr>
        <p:txBody>
          <a:bodyPr wrap="square" lIns="0" rIns="0" tIns="0" bIns="0" anchor="t">
            <a:spAutoFit/>
          </a:bodyPr>
          <a:lstStyle/>
          <a:p>
            <a:pPr algn="ctr">
              <a:lnSpc>
                <a:spcPct val="115000"/>
              </a:lnSpc>
              <a:spcAft>
                <a:spcPts val="0"/>
              </a:spcAft>
            </a:pPr>
            <a:r>
              <a:rPr sz="2500" b="1" i="0">
                <a:solidFill>
                  <a:srgbClr val="262626"/>
                </a:solidFill>
                <a:latin typeface="Be Vietnam Pro"/>
              </a:rPr>
              <a:t>+213%</a:t>
            </a:r>
          </a:p>
        </p:txBody>
      </p:sp>
      <p:sp>
        <p:nvSpPr>
          <p:cNvPr id="28" name="TextBox 27"/>
          <p:cNvSpPr txBox="1"/>
          <p:nvPr/>
        </p:nvSpPr>
        <p:spPr>
          <a:xfrm>
            <a:off x="7022591" y="3749040"/>
            <a:ext cx="1691639" cy="457200"/>
          </a:xfrm>
          <a:prstGeom prst="rect">
            <a:avLst/>
          </a:prstGeom>
          <a:noFill/>
        </p:spPr>
        <p:txBody>
          <a:bodyPr wrap="square" lIns="0" rIns="0" tIns="0" bIns="0" anchor="t">
            <a:spAutoFit/>
          </a:bodyPr>
          <a:lstStyle/>
          <a:p>
            <a:pPr algn="ctr">
              <a:lnSpc>
                <a:spcPct val="115000"/>
              </a:lnSpc>
              <a:spcAft>
                <a:spcPts val="0"/>
              </a:spcAft>
            </a:pPr>
            <a:r>
              <a:rPr sz="950" b="0" i="0">
                <a:solidFill>
                  <a:srgbClr val="595959"/>
                </a:solidFill>
                <a:latin typeface="Be Vietnam Pro"/>
              </a:rPr>
              <a:t>crecimiento del uso</a:t>
            </a:r>
          </a:p>
          <a:p>
            <a:pPr algn="ctr">
              <a:lnSpc>
                <a:spcPct val="115000"/>
              </a:lnSpc>
              <a:spcAft>
                <a:spcPts val="0"/>
              </a:spcAft>
            </a:pPr>
            <a:r>
              <a:rPr sz="950" b="0" i="0">
                <a:solidFill>
                  <a:srgbClr val="595959"/>
                </a:solidFill>
                <a:latin typeface="Be Vietnam Pro"/>
              </a:rPr>
              <a:t>de tarjetas prepago</a:t>
            </a:r>
          </a:p>
        </p:txBody>
      </p:sp>
      <p:sp>
        <p:nvSpPr>
          <p:cNvPr id="29" name="TextBox 28"/>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30" name="Picture 29" descr="logo_intothecom_negro.png"/>
          <p:cNvPicPr>
            <a:picLocks noChangeAspect="1"/>
          </p:cNvPicPr>
          <p:nvPr/>
        </p:nvPicPr>
        <p:blipFill>
          <a:blip r:embed="rId3"/>
          <a:stretch>
            <a:fillRect/>
          </a:stretch>
        </p:blipFill>
        <p:spPr>
          <a:xfrm>
            <a:off x="8339327" y="4553712"/>
            <a:ext cx="599846" cy="38404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ffice_wide.jpeg"/>
          <p:cNvPicPr>
            <a:picLocks noChangeAspect="1"/>
          </p:cNvPicPr>
          <p:nvPr/>
        </p:nvPicPr>
        <p:blipFill>
          <a:blip r:embed="rId2"/>
          <a:srcRect l="5842" r="5842"/>
          <a:stretch>
            <a:fillRect/>
          </a:stretch>
        </p:blipFill>
        <p:spPr>
          <a:xfrm>
            <a:off x="4745736" y="658368"/>
            <a:ext cx="4398264" cy="3319272"/>
          </a:xfrm>
          <a:prstGeom prst="rect">
            <a:avLst/>
          </a:prstGeom>
        </p:spPr>
      </p:pic>
      <p:sp>
        <p:nvSpPr>
          <p:cNvPr id="4" name="Rectangle 3"/>
          <p:cNvSpPr/>
          <p:nvPr/>
        </p:nvSpPr>
        <p:spPr>
          <a:xfrm>
            <a:off x="4745736" y="3977639"/>
            <a:ext cx="4398264" cy="116586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6" name="TextBox 5"/>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Cliente</a:t>
            </a:r>
          </a:p>
        </p:txBody>
      </p:sp>
      <p:sp>
        <p:nvSpPr>
          <p:cNvPr id="7" name="Rectangle 6"/>
          <p:cNvSpPr/>
          <p:nvPr/>
        </p:nvSpPr>
        <p:spPr>
          <a:xfrm>
            <a:off x="1993392" y="498348"/>
            <a:ext cx="58978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9" name="TextBox 8"/>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10" name="TextBox 9"/>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11" name="TextBox 10"/>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2" name="TextBox 11"/>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3" name="Rectangle 12"/>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841248"/>
            <a:ext cx="3840480" cy="45720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Dale compite</a:t>
            </a:r>
          </a:p>
        </p:txBody>
      </p:sp>
      <p:sp>
        <p:nvSpPr>
          <p:cNvPr id="15" name="TextBox 14"/>
          <p:cNvSpPr txBox="1"/>
          <p:nvPr/>
        </p:nvSpPr>
        <p:spPr>
          <a:xfrm>
            <a:off x="658368" y="1243584"/>
            <a:ext cx="3840480" cy="457200"/>
          </a:xfrm>
          <a:prstGeom prst="rect">
            <a:avLst/>
          </a:prstGeom>
          <a:noFill/>
        </p:spPr>
        <p:txBody>
          <a:bodyPr wrap="square" lIns="0" rIns="0" tIns="0" bIns="0" anchor="t">
            <a:spAutoFit/>
          </a:bodyPr>
          <a:lstStyle/>
          <a:p>
            <a:pPr algn="l">
              <a:lnSpc>
                <a:spcPct val="115000"/>
              </a:lnSpc>
              <a:spcAft>
                <a:spcPts val="0"/>
              </a:spcAft>
            </a:pPr>
            <a:r>
              <a:rPr sz="2300" b="1" i="0">
                <a:solidFill>
                  <a:srgbClr val="E57000"/>
                </a:solidFill>
                <a:latin typeface="Be Vietnam Pro"/>
              </a:rPr>
              <a:t>en dos canchas</a:t>
            </a:r>
          </a:p>
        </p:txBody>
      </p:sp>
      <p:sp>
        <p:nvSpPr>
          <p:cNvPr id="16" name="TextBox 15"/>
          <p:cNvSpPr txBox="1"/>
          <p:nvPr/>
        </p:nvSpPr>
        <p:spPr>
          <a:xfrm>
            <a:off x="658368" y="1828800"/>
            <a:ext cx="3840480" cy="384048"/>
          </a:xfrm>
          <a:prstGeom prst="rect">
            <a:avLst/>
          </a:prstGeom>
          <a:noFill/>
        </p:spPr>
        <p:txBody>
          <a:bodyPr wrap="square" lIns="0" rIns="0" tIns="0" bIns="0" anchor="t">
            <a:spAutoFit/>
          </a:bodyPr>
          <a:lstStyle/>
          <a:p>
            <a:pPr algn="l">
              <a:lnSpc>
                <a:spcPct val="130000"/>
              </a:lnSpc>
              <a:spcAft>
                <a:spcPts val="0"/>
              </a:spcAft>
            </a:pPr>
            <a:r>
              <a:rPr sz="1000" b="0" i="0">
                <a:solidFill>
                  <a:srgbClr val="7F7F7F"/>
                </a:solidFill>
                <a:latin typeface="Be Vietnam Pro"/>
              </a:rPr>
              <a:t>La estrategia de comunicación no puede tratar ambas como una sola.</a:t>
            </a:r>
          </a:p>
        </p:txBody>
      </p:sp>
      <p:sp>
        <p:nvSpPr>
          <p:cNvPr id="17" name="TextBox 16"/>
          <p:cNvSpPr txBox="1"/>
          <p:nvPr/>
        </p:nvSpPr>
        <p:spPr>
          <a:xfrm>
            <a:off x="658368" y="2423159"/>
            <a:ext cx="3840480" cy="2194560"/>
          </a:xfrm>
          <a:prstGeom prst="rect">
            <a:avLst/>
          </a:prstGeom>
          <a:noFill/>
        </p:spPr>
        <p:txBody>
          <a:bodyPr wrap="square" lIns="0" rIns="0" tIns="0" bIns="0">
            <a:spAutoFit/>
          </a:bodyPr>
          <a:lstStyle/>
          <a:p>
            <a:pPr>
              <a:lnSpc>
                <a:spcPct val="125000"/>
              </a:lnSpc>
              <a:spcAft>
                <a:spcPts val="700"/>
              </a:spcAft>
            </a:pPr>
            <a:r>
              <a:rPr sz="1050" b="1">
                <a:solidFill>
                  <a:srgbClr val="262626"/>
                </a:solidFill>
                <a:latin typeface="Be Vietnam Pro"/>
              </a:rPr>
              <a:t>•  </a:t>
            </a:r>
            <a:r>
              <a:rPr sz="1050" b="1">
                <a:solidFill>
                  <a:srgbClr val="262626"/>
                </a:solidFill>
                <a:latin typeface="Be Vietnam Pro"/>
              </a:rPr>
              <a:t>Cuenta y prepago: </a:t>
            </a:r>
            <a:r>
              <a:rPr sz="1050">
                <a:solidFill>
                  <a:srgbClr val="7F7F7F"/>
                </a:solidFill>
                <a:latin typeface="Be Vietnam Pro"/>
              </a:rPr>
              <a:t>Tenpo, MACH, Mercado Pago y Tapp, todas sin costo de mantención. Mercado Pago entra a crédito en 2026 y Tenpo busca ser el primer neobanco del país.</a:t>
            </a:r>
          </a:p>
          <a:p>
            <a:pPr>
              <a:lnSpc>
                <a:spcPct val="125000"/>
              </a:lnSpc>
              <a:spcAft>
                <a:spcPts val="700"/>
              </a:spcAft>
            </a:pPr>
            <a:r>
              <a:rPr sz="1050" b="1">
                <a:solidFill>
                  <a:srgbClr val="262626"/>
                </a:solidFill>
                <a:latin typeface="Be Vietnam Pro"/>
              </a:rPr>
              <a:t>•  </a:t>
            </a:r>
            <a:r>
              <a:rPr sz="1050" b="1">
                <a:solidFill>
                  <a:srgbClr val="262626"/>
                </a:solidFill>
                <a:latin typeface="Be Vietnam Pro"/>
              </a:rPr>
              <a:t>Crédito de consumo: </a:t>
            </a:r>
            <a:r>
              <a:rPr sz="1050">
                <a:solidFill>
                  <a:srgbClr val="7F7F7F"/>
                </a:solidFill>
                <a:latin typeface="Be Vietnam Pro"/>
              </a:rPr>
              <a:t>banca, cooperativas y retail financiero. Es la cancha donde está el objetivo declarado.</a:t>
            </a:r>
          </a:p>
          <a:p>
            <a:pPr>
              <a:lnSpc>
                <a:spcPct val="125000"/>
              </a:lnSpc>
              <a:spcAft>
                <a:spcPts val="700"/>
              </a:spcAft>
            </a:pPr>
            <a:r>
              <a:rPr sz="1050" b="1">
                <a:solidFill>
                  <a:srgbClr val="262626"/>
                </a:solidFill>
                <a:latin typeface="Be Vietnam Pro"/>
              </a:rPr>
              <a:t>•  </a:t>
            </a:r>
            <a:r>
              <a:rPr sz="1050" b="1">
                <a:solidFill>
                  <a:srgbClr val="262626"/>
                </a:solidFill>
                <a:latin typeface="Be Vietnam Pro"/>
              </a:rPr>
              <a:t>La ventaja estructural: </a:t>
            </a:r>
            <a:r>
              <a:rPr sz="1050">
                <a:solidFill>
                  <a:srgbClr val="7F7F7F"/>
                </a:solidFill>
                <a:latin typeface="Be Vietnam Pro"/>
              </a:rPr>
              <a:t>el Remanente. La devolución anual de utilidades al Socio no tiene equivalente en ningún neobanco.</a:t>
            </a:r>
          </a:p>
        </p:txBody>
      </p:sp>
      <p:sp>
        <p:nvSpPr>
          <p:cNvPr id="18" name="TextBox 17"/>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9" name="Picture 18" descr="logo_intothecom_blanco.png"/>
          <p:cNvPicPr>
            <a:picLocks noChangeAspect="1"/>
          </p:cNvPicPr>
          <p:nvPr/>
        </p:nvPicPr>
        <p:blipFill>
          <a:blip r:embed="rId3"/>
          <a:stretch>
            <a:fillRect/>
          </a:stretch>
        </p:blipFill>
        <p:spPr>
          <a:xfrm>
            <a:off x="8339327" y="4553712"/>
            <a:ext cx="599607" cy="3840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Cliente</a:t>
            </a:r>
          </a:p>
        </p:txBody>
      </p:sp>
      <p:sp>
        <p:nvSpPr>
          <p:cNvPr id="5" name="Rectangle 4"/>
          <p:cNvSpPr/>
          <p:nvPr/>
        </p:nvSpPr>
        <p:spPr>
          <a:xfrm>
            <a:off x="1993392" y="498348"/>
            <a:ext cx="58978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TextBox 10"/>
          <p:cNvSpPr txBox="1"/>
          <p:nvPr/>
        </p:nvSpPr>
        <p:spPr>
          <a:xfrm>
            <a:off x="658368" y="841248"/>
            <a:ext cx="3291840" cy="45720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El embudo</a:t>
            </a:r>
          </a:p>
        </p:txBody>
      </p:sp>
      <p:sp>
        <p:nvSpPr>
          <p:cNvPr id="12" name="TextBox 11"/>
          <p:cNvSpPr txBox="1"/>
          <p:nvPr/>
        </p:nvSpPr>
        <p:spPr>
          <a:xfrm>
            <a:off x="658368" y="1243584"/>
            <a:ext cx="3291840" cy="457200"/>
          </a:xfrm>
          <a:prstGeom prst="rect">
            <a:avLst/>
          </a:prstGeom>
          <a:noFill/>
        </p:spPr>
        <p:txBody>
          <a:bodyPr wrap="square" lIns="0" rIns="0" tIns="0" bIns="0" anchor="t">
            <a:spAutoFit/>
          </a:bodyPr>
          <a:lstStyle/>
          <a:p>
            <a:pPr algn="l">
              <a:lnSpc>
                <a:spcPct val="115000"/>
              </a:lnSpc>
              <a:spcAft>
                <a:spcPts val="0"/>
              </a:spcAft>
            </a:pPr>
            <a:r>
              <a:rPr sz="2300" b="1" i="0">
                <a:solidFill>
                  <a:srgbClr val="E57000"/>
                </a:solidFill>
                <a:latin typeface="Be Vietnam Pro"/>
              </a:rPr>
              <a:t>hacia el curse</a:t>
            </a:r>
          </a:p>
        </p:txBody>
      </p:sp>
      <p:sp>
        <p:nvSpPr>
          <p:cNvPr id="13" name="TextBox 12"/>
          <p:cNvSpPr txBox="1"/>
          <p:nvPr/>
        </p:nvSpPr>
        <p:spPr>
          <a:xfrm>
            <a:off x="658368" y="1874519"/>
            <a:ext cx="3108960" cy="1097280"/>
          </a:xfrm>
          <a:prstGeom prst="rect">
            <a:avLst/>
          </a:prstGeom>
          <a:noFill/>
        </p:spPr>
        <p:txBody>
          <a:bodyPr wrap="square" lIns="0" rIns="0" tIns="0" bIns="0" anchor="t">
            <a:spAutoFit/>
          </a:bodyPr>
          <a:lstStyle/>
          <a:p>
            <a:pPr algn="l">
              <a:lnSpc>
                <a:spcPct val="130000"/>
              </a:lnSpc>
              <a:spcAft>
                <a:spcPts val="0"/>
              </a:spcAft>
            </a:pPr>
            <a:r>
              <a:rPr sz="950" b="0" i="0">
                <a:solidFill>
                  <a:srgbClr val="7F7F7F"/>
                </a:solidFill>
                <a:latin typeface="Be Vietnam Pro"/>
              </a:rPr>
              <a:t>Cada etapa es un punto de fuga medible. Con un embudo de esta longitud, optimizar hacia "lead" produce volumen que no se traduce en curse.</a:t>
            </a:r>
          </a:p>
        </p:txBody>
      </p:sp>
      <p:sp>
        <p:nvSpPr>
          <p:cNvPr id="14" name="TextBox 13"/>
          <p:cNvSpPr txBox="1"/>
          <p:nvPr/>
        </p:nvSpPr>
        <p:spPr>
          <a:xfrm>
            <a:off x="4160520" y="868680"/>
            <a:ext cx="713232" cy="365760"/>
          </a:xfrm>
          <a:prstGeom prst="rect">
            <a:avLst/>
          </a:prstGeom>
          <a:noFill/>
        </p:spPr>
        <p:txBody>
          <a:bodyPr wrap="square" lIns="0" rIns="0" tIns="0" bIns="0" anchor="t">
            <a:spAutoFit/>
          </a:bodyPr>
          <a:lstStyle/>
          <a:p>
            <a:pPr algn="l">
              <a:lnSpc>
                <a:spcPct val="115000"/>
              </a:lnSpc>
              <a:spcAft>
                <a:spcPts val="0"/>
              </a:spcAft>
            </a:pPr>
            <a:r>
              <a:rPr sz="1900" b="1" i="0">
                <a:solidFill>
                  <a:srgbClr val="E57000"/>
                </a:solidFill>
                <a:latin typeface="Be Vietnam Pro"/>
              </a:rPr>
              <a:t>01.</a:t>
            </a:r>
          </a:p>
        </p:txBody>
      </p:sp>
      <p:sp>
        <p:nvSpPr>
          <p:cNvPr id="15" name="TextBox 14"/>
          <p:cNvSpPr txBox="1"/>
          <p:nvPr/>
        </p:nvSpPr>
        <p:spPr>
          <a:xfrm>
            <a:off x="4937760" y="886968"/>
            <a:ext cx="3931920" cy="274320"/>
          </a:xfrm>
          <a:prstGeom prst="rect">
            <a:avLst/>
          </a:prstGeom>
          <a:noFill/>
        </p:spPr>
        <p:txBody>
          <a:bodyPr wrap="square" lIns="0" rIns="0" tIns="0" bIns="0" anchor="t">
            <a:spAutoFit/>
          </a:bodyPr>
          <a:lstStyle/>
          <a:p>
            <a:pPr algn="l">
              <a:lnSpc>
                <a:spcPct val="115000"/>
              </a:lnSpc>
              <a:spcAft>
                <a:spcPts val="0"/>
              </a:spcAft>
            </a:pPr>
            <a:r>
              <a:rPr sz="1200" b="1" i="0">
                <a:solidFill>
                  <a:srgbClr val="E57000"/>
                </a:solidFill>
                <a:latin typeface="Be Vietnam Pro"/>
              </a:rPr>
              <a:t>Impacto y conversación</a:t>
            </a:r>
          </a:p>
        </p:txBody>
      </p:sp>
      <p:sp>
        <p:nvSpPr>
          <p:cNvPr id="16" name="TextBox 15"/>
          <p:cNvSpPr txBox="1"/>
          <p:nvPr/>
        </p:nvSpPr>
        <p:spPr>
          <a:xfrm>
            <a:off x="4937760" y="1143000"/>
            <a:ext cx="3977639" cy="777240"/>
          </a:xfrm>
          <a:prstGeom prst="rect">
            <a:avLst/>
          </a:prstGeom>
          <a:noFill/>
        </p:spPr>
        <p:txBody>
          <a:bodyPr wrap="square" lIns="0" rIns="0" tIns="0" bIns="0" anchor="t">
            <a:spAutoFit/>
          </a:bodyPr>
          <a:lstStyle/>
          <a:p>
            <a:pPr algn="l">
              <a:lnSpc>
                <a:spcPct val="125000"/>
              </a:lnSpc>
              <a:spcAft>
                <a:spcPts val="0"/>
              </a:spcAft>
            </a:pPr>
            <a:r>
              <a:rPr sz="880" b="0" i="0">
                <a:solidFill>
                  <a:srgbClr val="7F7F7F"/>
                </a:solidFill>
                <a:latin typeface="Be Vietnam Pro"/>
              </a:rPr>
              <a:t>El anuncio deriva a WhatsApp. Iniciar una conversación exige menos compromiso que completar un formulario en frío.</a:t>
            </a:r>
          </a:p>
        </p:txBody>
      </p:sp>
      <p:sp>
        <p:nvSpPr>
          <p:cNvPr id="17" name="TextBox 16"/>
          <p:cNvSpPr txBox="1"/>
          <p:nvPr/>
        </p:nvSpPr>
        <p:spPr>
          <a:xfrm>
            <a:off x="4160520" y="2112264"/>
            <a:ext cx="713232" cy="365760"/>
          </a:xfrm>
          <a:prstGeom prst="rect">
            <a:avLst/>
          </a:prstGeom>
          <a:noFill/>
        </p:spPr>
        <p:txBody>
          <a:bodyPr wrap="square" lIns="0" rIns="0" tIns="0" bIns="0" anchor="t">
            <a:spAutoFit/>
          </a:bodyPr>
          <a:lstStyle/>
          <a:p>
            <a:pPr algn="l">
              <a:lnSpc>
                <a:spcPct val="115000"/>
              </a:lnSpc>
              <a:spcAft>
                <a:spcPts val="0"/>
              </a:spcAft>
            </a:pPr>
            <a:r>
              <a:rPr sz="1900" b="1" i="0">
                <a:solidFill>
                  <a:srgbClr val="E57000"/>
                </a:solidFill>
                <a:latin typeface="Be Vietnam Pro"/>
              </a:rPr>
              <a:t>02.</a:t>
            </a:r>
          </a:p>
        </p:txBody>
      </p:sp>
      <p:sp>
        <p:nvSpPr>
          <p:cNvPr id="18" name="TextBox 17"/>
          <p:cNvSpPr txBox="1"/>
          <p:nvPr/>
        </p:nvSpPr>
        <p:spPr>
          <a:xfrm>
            <a:off x="4937760" y="2130552"/>
            <a:ext cx="3931920" cy="274320"/>
          </a:xfrm>
          <a:prstGeom prst="rect">
            <a:avLst/>
          </a:prstGeom>
          <a:noFill/>
        </p:spPr>
        <p:txBody>
          <a:bodyPr wrap="square" lIns="0" rIns="0" tIns="0" bIns="0" anchor="t">
            <a:spAutoFit/>
          </a:bodyPr>
          <a:lstStyle/>
          <a:p>
            <a:pPr algn="l">
              <a:lnSpc>
                <a:spcPct val="115000"/>
              </a:lnSpc>
              <a:spcAft>
                <a:spcPts val="0"/>
              </a:spcAft>
            </a:pPr>
            <a:r>
              <a:rPr sz="1200" b="1" i="0">
                <a:solidFill>
                  <a:srgbClr val="E57000"/>
                </a:solidFill>
                <a:latin typeface="Be Vietnam Pro"/>
              </a:rPr>
              <a:t>Calificación y derivación</a:t>
            </a:r>
          </a:p>
        </p:txBody>
      </p:sp>
      <p:sp>
        <p:nvSpPr>
          <p:cNvPr id="19" name="TextBox 18"/>
          <p:cNvSpPr txBox="1"/>
          <p:nvPr/>
        </p:nvSpPr>
        <p:spPr>
          <a:xfrm>
            <a:off x="4937760" y="2386584"/>
            <a:ext cx="3977639" cy="777240"/>
          </a:xfrm>
          <a:prstGeom prst="rect">
            <a:avLst/>
          </a:prstGeom>
          <a:noFill/>
        </p:spPr>
        <p:txBody>
          <a:bodyPr wrap="square" lIns="0" rIns="0" tIns="0" bIns="0" anchor="t">
            <a:spAutoFit/>
          </a:bodyPr>
          <a:lstStyle/>
          <a:p>
            <a:pPr algn="l">
              <a:lnSpc>
                <a:spcPct val="125000"/>
              </a:lnSpc>
              <a:spcAft>
                <a:spcPts val="0"/>
              </a:spcAft>
            </a:pPr>
            <a:r>
              <a:rPr sz="880" b="0" i="0">
                <a:solidFill>
                  <a:srgbClr val="7F7F7F"/>
                </a:solidFill>
                <a:latin typeface="Be Vietnam Pro"/>
              </a:rPr>
              <a:t>El agente IA levanta información y filtra. El área comercial recibe prospectos depurados, no volumen bruto.</a:t>
            </a:r>
          </a:p>
        </p:txBody>
      </p:sp>
      <p:sp>
        <p:nvSpPr>
          <p:cNvPr id="20" name="TextBox 19"/>
          <p:cNvSpPr txBox="1"/>
          <p:nvPr/>
        </p:nvSpPr>
        <p:spPr>
          <a:xfrm>
            <a:off x="4160520" y="3355848"/>
            <a:ext cx="713232" cy="365760"/>
          </a:xfrm>
          <a:prstGeom prst="rect">
            <a:avLst/>
          </a:prstGeom>
          <a:noFill/>
        </p:spPr>
        <p:txBody>
          <a:bodyPr wrap="square" lIns="0" rIns="0" tIns="0" bIns="0" anchor="t">
            <a:spAutoFit/>
          </a:bodyPr>
          <a:lstStyle/>
          <a:p>
            <a:pPr algn="l">
              <a:lnSpc>
                <a:spcPct val="115000"/>
              </a:lnSpc>
              <a:spcAft>
                <a:spcPts val="0"/>
              </a:spcAft>
            </a:pPr>
            <a:r>
              <a:rPr sz="1900" b="1" i="0">
                <a:solidFill>
                  <a:srgbClr val="E57000"/>
                </a:solidFill>
                <a:latin typeface="Be Vietnam Pro"/>
              </a:rPr>
              <a:t>03.</a:t>
            </a:r>
          </a:p>
        </p:txBody>
      </p:sp>
      <p:sp>
        <p:nvSpPr>
          <p:cNvPr id="21" name="TextBox 20"/>
          <p:cNvSpPr txBox="1"/>
          <p:nvPr/>
        </p:nvSpPr>
        <p:spPr>
          <a:xfrm>
            <a:off x="4937760" y="3374136"/>
            <a:ext cx="3931920" cy="274320"/>
          </a:xfrm>
          <a:prstGeom prst="rect">
            <a:avLst/>
          </a:prstGeom>
          <a:noFill/>
        </p:spPr>
        <p:txBody>
          <a:bodyPr wrap="square" lIns="0" rIns="0" tIns="0" bIns="0" anchor="t">
            <a:spAutoFit/>
          </a:bodyPr>
          <a:lstStyle/>
          <a:p>
            <a:pPr algn="l">
              <a:lnSpc>
                <a:spcPct val="115000"/>
              </a:lnSpc>
              <a:spcAft>
                <a:spcPts val="0"/>
              </a:spcAft>
            </a:pPr>
            <a:r>
              <a:rPr sz="1200" b="1" i="0">
                <a:solidFill>
                  <a:srgbClr val="E57000"/>
                </a:solidFill>
                <a:latin typeface="Be Vietnam Pro"/>
              </a:rPr>
              <a:t>Contratación y curse</a:t>
            </a:r>
          </a:p>
        </p:txBody>
      </p:sp>
      <p:sp>
        <p:nvSpPr>
          <p:cNvPr id="22" name="TextBox 21"/>
          <p:cNvSpPr txBox="1"/>
          <p:nvPr/>
        </p:nvSpPr>
        <p:spPr>
          <a:xfrm>
            <a:off x="4937760" y="3630168"/>
            <a:ext cx="3977639" cy="777240"/>
          </a:xfrm>
          <a:prstGeom prst="rect">
            <a:avLst/>
          </a:prstGeom>
          <a:noFill/>
        </p:spPr>
        <p:txBody>
          <a:bodyPr wrap="square" lIns="0" rIns="0" tIns="0" bIns="0" anchor="t">
            <a:spAutoFit/>
          </a:bodyPr>
          <a:lstStyle/>
          <a:p>
            <a:pPr algn="l">
              <a:lnSpc>
                <a:spcPct val="125000"/>
              </a:lnSpc>
              <a:spcAft>
                <a:spcPts val="0"/>
              </a:spcAft>
            </a:pPr>
            <a:r>
              <a:rPr sz="880" b="0" i="0">
                <a:solidFill>
                  <a:srgbClr val="7F7F7F"/>
                </a:solidFill>
                <a:latin typeface="Be Vietnam Pro"/>
              </a:rPr>
              <a:t>Requisitos previos, evaluación en línea, monto y firma. Los flujos automatizados recuperan a quien no completa.</a:t>
            </a:r>
          </a:p>
        </p:txBody>
      </p:sp>
      <p:pic>
        <p:nvPicPr>
          <p:cNvPr id="23" name="Picture 22" descr="office_vertical.jpeg"/>
          <p:cNvPicPr>
            <a:picLocks noChangeAspect="1"/>
          </p:cNvPicPr>
          <p:nvPr/>
        </p:nvPicPr>
        <p:blipFill>
          <a:blip r:embed="rId2"/>
          <a:srcRect t="16656" b="16656"/>
          <a:stretch>
            <a:fillRect/>
          </a:stretch>
        </p:blipFill>
        <p:spPr>
          <a:xfrm>
            <a:off x="658368" y="2834640"/>
            <a:ext cx="1481328" cy="1536192"/>
          </a:xfrm>
          <a:prstGeom prst="rect">
            <a:avLst/>
          </a:prstGeom>
        </p:spPr>
      </p:pic>
      <p:pic>
        <p:nvPicPr>
          <p:cNvPr id="24" name="Picture 23" descr="desk_wide.jpeg"/>
          <p:cNvPicPr>
            <a:picLocks noChangeAspect="1"/>
          </p:cNvPicPr>
          <p:nvPr/>
        </p:nvPicPr>
        <p:blipFill>
          <a:blip r:embed="rId3"/>
          <a:srcRect l="22826" r="22826"/>
          <a:stretch>
            <a:fillRect/>
          </a:stretch>
        </p:blipFill>
        <p:spPr>
          <a:xfrm>
            <a:off x="2249424" y="2395728"/>
            <a:ext cx="1609344" cy="1975104"/>
          </a:xfrm>
          <a:prstGeom prst="rect">
            <a:avLst/>
          </a:prstGeom>
        </p:spPr>
      </p:pic>
      <p:sp>
        <p:nvSpPr>
          <p:cNvPr id="25" name="TextBox 24"/>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26" name="Picture 25" descr="logo_intothecom_negro.png"/>
          <p:cNvPicPr>
            <a:picLocks noChangeAspect="1"/>
          </p:cNvPicPr>
          <p:nvPr/>
        </p:nvPicPr>
        <p:blipFill>
          <a:blip r:embed="rId4"/>
          <a:stretch>
            <a:fillRect/>
          </a:stretch>
        </p:blipFill>
        <p:spPr>
          <a:xfrm>
            <a:off x="8339327" y="4553712"/>
            <a:ext cx="599846" cy="3840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cm.jpeg"/>
          <p:cNvPicPr>
            <a:picLocks noChangeAspect="1"/>
          </p:cNvPicPr>
          <p:nvPr/>
        </p:nvPicPr>
        <p:blipFill>
          <a:blip r:embed="rId2"/>
          <a:srcRect l="5842" r="5842"/>
          <a:stretch>
            <a:fillRect/>
          </a:stretch>
        </p:blipFill>
        <p:spPr>
          <a:xfrm>
            <a:off x="4745736" y="658368"/>
            <a:ext cx="4398264" cy="3319272"/>
          </a:xfrm>
          <a:prstGeom prst="rect">
            <a:avLst/>
          </a:prstGeom>
        </p:spPr>
      </p:pic>
      <p:sp>
        <p:nvSpPr>
          <p:cNvPr id="4" name="Rectangle 3"/>
          <p:cNvSpPr/>
          <p:nvPr/>
        </p:nvSpPr>
        <p:spPr>
          <a:xfrm>
            <a:off x="4745736" y="3977639"/>
            <a:ext cx="4398264" cy="116586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6" name="TextBox 5"/>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Cliente</a:t>
            </a:r>
          </a:p>
        </p:txBody>
      </p:sp>
      <p:sp>
        <p:nvSpPr>
          <p:cNvPr id="7" name="Rectangle 6"/>
          <p:cNvSpPr/>
          <p:nvPr/>
        </p:nvSpPr>
        <p:spPr>
          <a:xfrm>
            <a:off x="1993392" y="498348"/>
            <a:ext cx="58978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9" name="TextBox 8"/>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10" name="TextBox 9"/>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11" name="TextBox 10"/>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2" name="TextBox 11"/>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3" name="Rectangle 12"/>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841248"/>
            <a:ext cx="3840480" cy="45720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El diferenciador</a:t>
            </a:r>
          </a:p>
        </p:txBody>
      </p:sp>
      <p:sp>
        <p:nvSpPr>
          <p:cNvPr id="15" name="TextBox 14"/>
          <p:cNvSpPr txBox="1"/>
          <p:nvPr/>
        </p:nvSpPr>
        <p:spPr>
          <a:xfrm>
            <a:off x="658368" y="1243584"/>
            <a:ext cx="3840480" cy="457200"/>
          </a:xfrm>
          <a:prstGeom prst="rect">
            <a:avLst/>
          </a:prstGeom>
          <a:noFill/>
        </p:spPr>
        <p:txBody>
          <a:bodyPr wrap="square" lIns="0" rIns="0" tIns="0" bIns="0" anchor="t">
            <a:spAutoFit/>
          </a:bodyPr>
          <a:lstStyle/>
          <a:p>
            <a:pPr algn="l">
              <a:lnSpc>
                <a:spcPct val="115000"/>
              </a:lnSpc>
              <a:spcAft>
                <a:spcPts val="0"/>
              </a:spcAft>
            </a:pPr>
            <a:r>
              <a:rPr sz="2300" b="1" i="0">
                <a:solidFill>
                  <a:srgbClr val="E57000"/>
                </a:solidFill>
                <a:latin typeface="Be Vietnam Pro"/>
              </a:rPr>
              <a:t>que no se está usando</a:t>
            </a:r>
          </a:p>
        </p:txBody>
      </p:sp>
      <p:sp>
        <p:nvSpPr>
          <p:cNvPr id="16" name="TextBox 15"/>
          <p:cNvSpPr txBox="1"/>
          <p:nvPr/>
        </p:nvSpPr>
        <p:spPr>
          <a:xfrm>
            <a:off x="658368" y="1828800"/>
            <a:ext cx="3840480" cy="384048"/>
          </a:xfrm>
          <a:prstGeom prst="rect">
            <a:avLst/>
          </a:prstGeom>
          <a:noFill/>
        </p:spPr>
        <p:txBody>
          <a:bodyPr wrap="square" lIns="0" rIns="0" tIns="0" bIns="0" anchor="t">
            <a:spAutoFit/>
          </a:bodyPr>
          <a:lstStyle/>
          <a:p>
            <a:pPr algn="l">
              <a:lnSpc>
                <a:spcPct val="130000"/>
              </a:lnSpc>
              <a:spcAft>
                <a:spcPts val="0"/>
              </a:spcAft>
            </a:pPr>
            <a:r>
              <a:rPr sz="1000" b="0" i="0">
                <a:solidFill>
                  <a:srgbClr val="7F7F7F"/>
                </a:solidFill>
                <a:latin typeface="Be Vietnam Pro"/>
              </a:rPr>
              <a:t>Textual del sitio: "Te evaluamos con inteligencia financiera en tiempo real considerando múltiples fuentes de ingreso".</a:t>
            </a:r>
          </a:p>
        </p:txBody>
      </p:sp>
      <p:sp>
        <p:nvSpPr>
          <p:cNvPr id="17" name="TextBox 16"/>
          <p:cNvSpPr txBox="1"/>
          <p:nvPr/>
        </p:nvSpPr>
        <p:spPr>
          <a:xfrm>
            <a:off x="658368" y="2423159"/>
            <a:ext cx="3840480" cy="2194560"/>
          </a:xfrm>
          <a:prstGeom prst="rect">
            <a:avLst/>
          </a:prstGeom>
          <a:noFill/>
        </p:spPr>
        <p:txBody>
          <a:bodyPr wrap="square" lIns="0" rIns="0" tIns="0" bIns="0">
            <a:spAutoFit/>
          </a:bodyPr>
          <a:lstStyle/>
          <a:p>
            <a:pPr>
              <a:lnSpc>
                <a:spcPct val="125000"/>
              </a:lnSpc>
              <a:spcAft>
                <a:spcPts val="700"/>
              </a:spcAft>
            </a:pPr>
            <a:r>
              <a:rPr sz="1050" b="1">
                <a:solidFill>
                  <a:srgbClr val="262626"/>
                </a:solidFill>
                <a:latin typeface="Be Vietnam Pro"/>
              </a:rPr>
              <a:t>•  </a:t>
            </a:r>
            <a:r>
              <a:rPr sz="1050" b="1">
                <a:solidFill>
                  <a:srgbClr val="262626"/>
                </a:solidFill>
                <a:latin typeface="Be Vietnam Pro"/>
              </a:rPr>
              <a:t>Abre un nicho amplio y desatendido. </a:t>
            </a:r>
            <a:r>
              <a:rPr sz="1050">
                <a:solidFill>
                  <a:srgbClr val="7F7F7F"/>
                </a:solidFill>
                <a:latin typeface="Be Vietnam Pro"/>
              </a:rPr>
              <a:t>Trabajadores independientes, honorarios y de plataformas, sistemáticamente rechazados por la evaluación tradicional que exige liquidación de sueldo.</a:t>
            </a:r>
          </a:p>
          <a:p>
            <a:pPr>
              <a:lnSpc>
                <a:spcPct val="125000"/>
              </a:lnSpc>
              <a:spcAft>
                <a:spcPts val="700"/>
              </a:spcAft>
            </a:pPr>
            <a:r>
              <a:rPr sz="1050" b="1">
                <a:solidFill>
                  <a:srgbClr val="262626"/>
                </a:solidFill>
                <a:latin typeface="Be Vietnam Pro"/>
              </a:rPr>
              <a:t>•  </a:t>
            </a:r>
            <a:r>
              <a:rPr sz="1050" b="1">
                <a:solidFill>
                  <a:srgbClr val="262626"/>
                </a:solidFill>
                <a:latin typeface="Be Vietnam Pro"/>
              </a:rPr>
              <a:t>Ningún competidor directo lo comunica. </a:t>
            </a:r>
            <a:r>
              <a:rPr sz="1050">
                <a:solidFill>
                  <a:srgbClr val="7F7F7F"/>
                </a:solidFill>
                <a:latin typeface="Be Vietnam Pro"/>
              </a:rPr>
              <a:t>Es territorio libre en el mensaje publicitario.</a:t>
            </a:r>
          </a:p>
          <a:p>
            <a:pPr>
              <a:lnSpc>
                <a:spcPct val="125000"/>
              </a:lnSpc>
              <a:spcAft>
                <a:spcPts val="700"/>
              </a:spcAft>
            </a:pPr>
            <a:r>
              <a:rPr sz="1050" b="1">
                <a:solidFill>
                  <a:srgbClr val="262626"/>
                </a:solidFill>
                <a:latin typeface="Be Vietnam Pro"/>
              </a:rPr>
              <a:t>•  </a:t>
            </a:r>
            <a:r>
              <a:rPr sz="1050" b="1">
                <a:solidFill>
                  <a:srgbClr val="262626"/>
                </a:solidFill>
                <a:latin typeface="Be Vietnam Pro"/>
              </a:rPr>
              <a:t>Hoy está enterrado. </a:t>
            </a:r>
            <a:r>
              <a:rPr sz="1050">
                <a:solidFill>
                  <a:srgbClr val="7F7F7F"/>
                </a:solidFill>
                <a:latin typeface="Be Vietnam Pro"/>
              </a:rPr>
              <a:t>Aparece en el cuerpo de una landing, no como eje de comunicación.</a:t>
            </a:r>
          </a:p>
        </p:txBody>
      </p:sp>
      <p:sp>
        <p:nvSpPr>
          <p:cNvPr id="18" name="TextBox 17"/>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9" name="Picture 18" descr="logo_intothecom_blanco.png"/>
          <p:cNvPicPr>
            <a:picLocks noChangeAspect="1"/>
          </p:cNvPicPr>
          <p:nvPr/>
        </p:nvPicPr>
        <p:blipFill>
          <a:blip r:embed="rId3"/>
          <a:stretch>
            <a:fillRect/>
          </a:stretch>
        </p:blipFill>
        <p:spPr>
          <a:xfrm>
            <a:off x="8339327" y="4553712"/>
            <a:ext cx="599607" cy="3840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Regulación</a:t>
            </a:r>
          </a:p>
        </p:txBody>
      </p:sp>
      <p:sp>
        <p:nvSpPr>
          <p:cNvPr id="6" name="Rectangle 5"/>
          <p:cNvSpPr/>
          <p:nvPr/>
        </p:nvSpPr>
        <p:spPr>
          <a:xfrm>
            <a:off x="2711196" y="498348"/>
            <a:ext cx="79552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Rectangle 10"/>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822960"/>
            <a:ext cx="7863840" cy="54864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Google exige divulgar el costo del crédito</a:t>
            </a:r>
          </a:p>
        </p:txBody>
      </p:sp>
      <p:sp>
        <p:nvSpPr>
          <p:cNvPr id="13" name="TextBox 12"/>
          <p:cNvSpPr txBox="1"/>
          <p:nvPr/>
        </p:nvSpPr>
        <p:spPr>
          <a:xfrm>
            <a:off x="658368" y="1481328"/>
            <a:ext cx="7772400" cy="457200"/>
          </a:xfrm>
          <a:prstGeom prst="rect">
            <a:avLst/>
          </a:prstGeom>
          <a:noFill/>
        </p:spPr>
        <p:txBody>
          <a:bodyPr wrap="square" lIns="0" rIns="0" tIns="0" bIns="0" anchor="t">
            <a:spAutoFit/>
          </a:bodyPr>
          <a:lstStyle/>
          <a:p>
            <a:pPr algn="l">
              <a:lnSpc>
                <a:spcPct val="130000"/>
              </a:lnSpc>
              <a:spcAft>
                <a:spcPts val="0"/>
              </a:spcAft>
            </a:pPr>
            <a:r>
              <a:rPr sz="950" b="0" i="0">
                <a:solidFill>
                  <a:srgbClr val="7F7F7F"/>
                </a:solidFill>
                <a:latin typeface="Be Vietnam Pro"/>
              </a:rPr>
              <a:t>Requisito de política para anuncios de préstamos personales. Sistema de faltas: a la tercera, suspensión de cuenta.</a:t>
            </a:r>
          </a:p>
        </p:txBody>
      </p:sp>
      <p:sp>
        <p:nvSpPr>
          <p:cNvPr id="14" name="TextBox 13"/>
          <p:cNvSpPr txBox="1"/>
          <p:nvPr/>
        </p:nvSpPr>
        <p:spPr>
          <a:xfrm>
            <a:off x="658368" y="1956816"/>
            <a:ext cx="7772400" cy="2926080"/>
          </a:xfrm>
          <a:prstGeom prst="rect">
            <a:avLst/>
          </a:prstGeom>
          <a:noFill/>
        </p:spPr>
        <p:txBody>
          <a:bodyPr wrap="square" lIns="0" rIns="0" tIns="0" bIns="0">
            <a:spAutoFit/>
          </a:bodyPr>
          <a:lstStyle/>
          <a:p>
            <a:pPr>
              <a:lnSpc>
                <a:spcPct val="125000"/>
              </a:lnSpc>
              <a:spcAft>
                <a:spcPts val="600"/>
              </a:spcAft>
            </a:pPr>
            <a:r>
              <a:rPr sz="980" b="1">
                <a:solidFill>
                  <a:srgbClr val="262626"/>
                </a:solidFill>
                <a:latin typeface="Be Vietnam Pro"/>
              </a:rPr>
              <a:t>•  </a:t>
            </a:r>
            <a:r>
              <a:rPr sz="980" b="1">
                <a:solidFill>
                  <a:srgbClr val="262626"/>
                </a:solidFill>
                <a:latin typeface="Be Vietnam Pro"/>
              </a:rPr>
              <a:t>Debe mostrarse de forma destacada en la landing o la app: </a:t>
            </a:r>
            <a:r>
              <a:rPr sz="980">
                <a:solidFill>
                  <a:srgbClr val="7F7F7F"/>
                </a:solidFill>
                <a:latin typeface="Be Vietnam Pro"/>
              </a:rPr>
              <a:t>período mínimo y máximo de pago, CAE máxima y un ejemplo representativo del costo total incluidas todas las comisiones.</a:t>
            </a:r>
          </a:p>
          <a:p>
            <a:pPr>
              <a:lnSpc>
                <a:spcPct val="125000"/>
              </a:lnSpc>
              <a:spcAft>
                <a:spcPts val="600"/>
              </a:spcAft>
            </a:pPr>
            <a:r>
              <a:rPr sz="980" b="1">
                <a:solidFill>
                  <a:srgbClr val="262626"/>
                </a:solidFill>
                <a:latin typeface="Be Vietnam Pro"/>
              </a:rPr>
              <a:t>•  </a:t>
            </a:r>
            <a:r>
              <a:rPr sz="980" b="1">
                <a:solidFill>
                  <a:srgbClr val="262626"/>
                </a:solidFill>
                <a:latin typeface="Be Vietnam Pro"/>
              </a:rPr>
              <a:t>Regla de los 61 días. </a:t>
            </a:r>
            <a:r>
              <a:rPr sz="980">
                <a:solidFill>
                  <a:srgbClr val="7F7F7F"/>
                </a:solidFill>
                <a:latin typeface="Be Vietnam Pro"/>
              </a:rPr>
              <a:t>Solo se permiten préstamos con pago íntegro en 61 días o más.</a:t>
            </a:r>
          </a:p>
          <a:p>
            <a:pPr>
              <a:lnSpc>
                <a:spcPct val="125000"/>
              </a:lnSpc>
              <a:spcAft>
                <a:spcPts val="600"/>
              </a:spcAft>
            </a:pPr>
            <a:r>
              <a:rPr sz="980" b="1">
                <a:solidFill>
                  <a:srgbClr val="262626"/>
                </a:solidFill>
                <a:latin typeface="Be Vietnam Pro"/>
              </a:rPr>
              <a:t>•  </a:t>
            </a:r>
            <a:r>
              <a:rPr sz="980" b="1">
                <a:solidFill>
                  <a:srgbClr val="262626"/>
                </a:solidFill>
                <a:latin typeface="Be Vietnam Pro"/>
              </a:rPr>
              <a:t>Hallazgo verificado: la landing de Dale no lo cumple hoy. </a:t>
            </a:r>
            <a:r>
              <a:rPr sz="980">
                <a:solidFill>
                  <a:srgbClr val="7F7F7F"/>
                </a:solidFill>
                <a:latin typeface="Be Vietnam Pro"/>
              </a:rPr>
              <a:t>Se revisó dalecoopeuch.cl/creditodigital a nivel de código fuente. No aparece CAE, ni tasa, ni plazos, ni montos, ni costo total, ni ejemplo representativo.</a:t>
            </a:r>
          </a:p>
          <a:p>
            <a:pPr>
              <a:lnSpc>
                <a:spcPct val="125000"/>
              </a:lnSpc>
              <a:spcAft>
                <a:spcPts val="600"/>
              </a:spcAft>
            </a:pPr>
            <a:r>
              <a:rPr sz="980" b="1">
                <a:solidFill>
                  <a:srgbClr val="262626"/>
                </a:solidFill>
                <a:latin typeface="Be Vietnam Pro"/>
              </a:rPr>
              <a:t>•  </a:t>
            </a:r>
            <a:r>
              <a:rPr sz="980" b="1">
                <a:solidFill>
                  <a:srgbClr val="262626"/>
                </a:solidFill>
                <a:latin typeface="Be Vietnam Pro"/>
              </a:rPr>
              <a:t>Es un bloqueante previo al lanzamiento. </a:t>
            </a:r>
            <a:r>
              <a:rPr sz="980">
                <a:solidFill>
                  <a:srgbClr val="7F7F7F"/>
                </a:solidFill>
                <a:latin typeface="Be Vietnam Pro"/>
              </a:rPr>
              <a:t>Debe resolverse antes de activar campañas de búsqueda hacia esa URL.</a:t>
            </a:r>
          </a:p>
        </p:txBody>
      </p:sp>
      <p:sp>
        <p:nvSpPr>
          <p:cNvPr id="15" name="TextBox 14"/>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6" name="Picture 15"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Regulación</a:t>
            </a:r>
          </a:p>
        </p:txBody>
      </p:sp>
      <p:sp>
        <p:nvSpPr>
          <p:cNvPr id="6" name="Rectangle 5"/>
          <p:cNvSpPr/>
          <p:nvPr/>
        </p:nvSpPr>
        <p:spPr>
          <a:xfrm>
            <a:off x="2711196" y="498348"/>
            <a:ext cx="79552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Rectangle 10"/>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822960"/>
            <a:ext cx="7863840" cy="54864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En Chile conservamos la segmentación de Meta</a:t>
            </a:r>
          </a:p>
        </p:txBody>
      </p:sp>
      <p:sp>
        <p:nvSpPr>
          <p:cNvPr id="13" name="TextBox 12"/>
          <p:cNvSpPr txBox="1"/>
          <p:nvPr/>
        </p:nvSpPr>
        <p:spPr>
          <a:xfrm>
            <a:off x="658368" y="1481328"/>
            <a:ext cx="7772400" cy="457200"/>
          </a:xfrm>
          <a:prstGeom prst="rect">
            <a:avLst/>
          </a:prstGeom>
          <a:noFill/>
        </p:spPr>
        <p:txBody>
          <a:bodyPr wrap="square" lIns="0" rIns="0" tIns="0" bIns="0" anchor="t">
            <a:spAutoFit/>
          </a:bodyPr>
          <a:lstStyle/>
          <a:p>
            <a:pPr algn="l">
              <a:lnSpc>
                <a:spcPct val="130000"/>
              </a:lnSpc>
              <a:spcAft>
                <a:spcPts val="0"/>
              </a:spcAft>
            </a:pPr>
            <a:r>
              <a:rPr sz="950" b="0" i="0">
                <a:solidFill>
                  <a:srgbClr val="7F7F7F"/>
                </a:solidFill>
                <a:latin typeface="Be Vietnam Pro"/>
              </a:rPr>
              <a:t>Una buena noticia que conviene verificar antes de dar por perdidas las audiencias avanzadas.</a:t>
            </a:r>
          </a:p>
        </p:txBody>
      </p:sp>
      <p:sp>
        <p:nvSpPr>
          <p:cNvPr id="14" name="TextBox 13"/>
          <p:cNvSpPr txBox="1"/>
          <p:nvPr/>
        </p:nvSpPr>
        <p:spPr>
          <a:xfrm>
            <a:off x="658368" y="1956816"/>
            <a:ext cx="7772400" cy="2926080"/>
          </a:xfrm>
          <a:prstGeom prst="rect">
            <a:avLst/>
          </a:prstGeom>
          <a:noFill/>
        </p:spPr>
        <p:txBody>
          <a:bodyPr wrap="square" lIns="0" rIns="0" tIns="0" bIns="0">
            <a:spAutoFit/>
          </a:bodyPr>
          <a:lstStyle/>
          <a:p>
            <a:pPr>
              <a:lnSpc>
                <a:spcPct val="125000"/>
              </a:lnSpc>
              <a:spcAft>
                <a:spcPts val="600"/>
              </a:spcAft>
            </a:pPr>
            <a:r>
              <a:rPr sz="950" b="1">
                <a:solidFill>
                  <a:srgbClr val="262626"/>
                </a:solidFill>
                <a:latin typeface="Be Vietnam Pro"/>
              </a:rPr>
              <a:t>•  </a:t>
            </a:r>
            <a:r>
              <a:rPr sz="950" b="1">
                <a:solidFill>
                  <a:srgbClr val="262626"/>
                </a:solidFill>
                <a:latin typeface="Be Vietnam Pro"/>
              </a:rPr>
              <a:t>La categoría especial de crédito restringe fuerte. </a:t>
            </a:r>
            <a:r>
              <a:rPr sz="950">
                <a:solidFill>
                  <a:srgbClr val="7F7F7F"/>
                </a:solidFill>
                <a:latin typeface="Be Vietnam Pro"/>
              </a:rPr>
              <a:t>Desactiva audiencias similares, impide exclusiones de segmentación detallada y limita la segmentación geográfica.</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Pero su alcance es EE.UU., Canadá y parte de Europa. </a:t>
            </a:r>
            <a:r>
              <a:rPr sz="950">
                <a:solidFill>
                  <a:srgbClr val="7F7F7F"/>
                </a:solidFill>
                <a:latin typeface="Be Vietnam Pro"/>
              </a:rPr>
              <a:t>Chile no figura en ese alcance según la documentación de Meta.</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En consecuencia: </a:t>
            </a:r>
            <a:r>
              <a:rPr sz="950">
                <a:solidFill>
                  <a:srgbClr val="7F7F7F"/>
                </a:solidFill>
                <a:latin typeface="Be Vietnam Pro"/>
              </a:rPr>
              <a:t>para campañas dirigidas a Chile se conservan audiencias personalizadas, lookalikes y segmentación detallada.</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Lo que sí aplica siempre: </a:t>
            </a:r>
            <a:r>
              <a:rPr sz="950">
                <a:solidFill>
                  <a:srgbClr val="7F7F7F"/>
                </a:solidFill>
                <a:latin typeface="Be Vietnam Pro"/>
              </a:rPr>
              <a:t>segmentación 18+ obligatoria, posible verificación del anunciante con acreditación regulatoria y prohibición de solicitar datos sensibles dentro de la pieza.</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Revisar al implementar. </a:t>
            </a:r>
            <a:r>
              <a:rPr sz="950">
                <a:solidFill>
                  <a:srgbClr val="7F7F7F"/>
                </a:solidFill>
                <a:latin typeface="Be Vietnam Pro"/>
              </a:rPr>
              <a:t>Meta ha ampliado este alcance de forma progresiva.</a:t>
            </a:r>
          </a:p>
        </p:txBody>
      </p:sp>
      <p:sp>
        <p:nvSpPr>
          <p:cNvPr id="15" name="TextBox 14"/>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6" name="Picture 15"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6" name="TextBox 5"/>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Paid Media</a:t>
            </a:r>
          </a:p>
        </p:txBody>
      </p:sp>
      <p:sp>
        <p:nvSpPr>
          <p:cNvPr id="7" name="Rectangle 6"/>
          <p:cNvSpPr/>
          <p:nvPr/>
        </p:nvSpPr>
        <p:spPr>
          <a:xfrm>
            <a:off x="3634740" y="498348"/>
            <a:ext cx="79552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TextBox 10"/>
          <p:cNvSpPr txBox="1"/>
          <p:nvPr/>
        </p:nvSpPr>
        <p:spPr>
          <a:xfrm>
            <a:off x="548640" y="749808"/>
            <a:ext cx="8046720" cy="548640"/>
          </a:xfrm>
          <a:prstGeom prst="rect">
            <a:avLst/>
          </a:prstGeom>
          <a:noFill/>
        </p:spPr>
        <p:txBody>
          <a:bodyPr wrap="square" lIns="0" rIns="0" tIns="0" bIns="0" anchor="t">
            <a:spAutoFit/>
          </a:bodyPr>
          <a:lstStyle/>
          <a:p>
            <a:pPr algn="ctr">
              <a:lnSpc>
                <a:spcPct val="115000"/>
              </a:lnSpc>
              <a:spcAft>
                <a:spcPts val="0"/>
              </a:spcAft>
            </a:pPr>
            <a:r>
              <a:rPr sz="2300" b="1" i="0">
                <a:solidFill>
                  <a:srgbClr val="262626"/>
                </a:solidFill>
                <a:latin typeface="Be Vietnam Pro"/>
              </a:rPr>
              <a:t>Benchmarks de Paid Media</a:t>
            </a:r>
          </a:p>
        </p:txBody>
      </p:sp>
      <p:sp>
        <p:nvSpPr>
          <p:cNvPr id="12" name="TextBox 11"/>
          <p:cNvSpPr txBox="1"/>
          <p:nvPr/>
        </p:nvSpPr>
        <p:spPr>
          <a:xfrm>
            <a:off x="914400" y="1188720"/>
            <a:ext cx="7315200" cy="274320"/>
          </a:xfrm>
          <a:prstGeom prst="rect">
            <a:avLst/>
          </a:prstGeom>
          <a:noFill/>
        </p:spPr>
        <p:txBody>
          <a:bodyPr wrap="square" lIns="0" rIns="0" tIns="0" bIns="0" anchor="t">
            <a:spAutoFit/>
          </a:bodyPr>
          <a:lstStyle/>
          <a:p>
            <a:pPr algn="ctr">
              <a:lnSpc>
                <a:spcPct val="115000"/>
              </a:lnSpc>
              <a:spcAft>
                <a:spcPts val="0"/>
              </a:spcAft>
            </a:pPr>
            <a:r>
              <a:rPr sz="950" b="0" i="0">
                <a:solidFill>
                  <a:srgbClr val="7F7F7F"/>
                </a:solidFill>
                <a:latin typeface="Be Vietnam Pro"/>
              </a:rPr>
              <a:t>Referencias internacionales. El patrón importa más que el valor absoluto.</a:t>
            </a:r>
          </a:p>
        </p:txBody>
      </p:sp>
      <p:sp>
        <p:nvSpPr>
          <p:cNvPr id="13" name="TextBox 12"/>
          <p:cNvSpPr txBox="1"/>
          <p:nvPr/>
        </p:nvSpPr>
        <p:spPr>
          <a:xfrm>
            <a:off x="548640" y="1627632"/>
            <a:ext cx="3840480" cy="228600"/>
          </a:xfrm>
          <a:prstGeom prst="rect">
            <a:avLst/>
          </a:prstGeom>
          <a:noFill/>
        </p:spPr>
        <p:txBody>
          <a:bodyPr wrap="square" lIns="0" rIns="0" tIns="0" bIns="0" anchor="t">
            <a:spAutoFit/>
          </a:bodyPr>
          <a:lstStyle/>
          <a:p>
            <a:pPr algn="l">
              <a:lnSpc>
                <a:spcPct val="115000"/>
              </a:lnSpc>
              <a:spcAft>
                <a:spcPts val="0"/>
              </a:spcAft>
            </a:pPr>
            <a:r>
              <a:rPr sz="1000" b="1" i="0">
                <a:solidFill>
                  <a:srgbClr val="E57000"/>
                </a:solidFill>
                <a:latin typeface="Be Vietnam Pro"/>
              </a:rPr>
              <a:t>GOOGLE ADS</a:t>
            </a:r>
          </a:p>
        </p:txBody>
      </p:sp>
      <p:sp>
        <p:nvSpPr>
          <p:cNvPr id="14" name="TextBox 13"/>
          <p:cNvSpPr txBox="1"/>
          <p:nvPr/>
        </p:nvSpPr>
        <p:spPr>
          <a:xfrm>
            <a:off x="548640" y="1938528"/>
            <a:ext cx="1600200" cy="201168"/>
          </a:xfrm>
          <a:prstGeom prst="rect">
            <a:avLst/>
          </a:prstGeom>
          <a:noFill/>
        </p:spPr>
        <p:txBody>
          <a:bodyPr wrap="square" lIns="0" rIns="0" tIns="0" bIns="0" anchor="t">
            <a:spAutoFit/>
          </a:bodyPr>
          <a:lstStyle/>
          <a:p>
            <a:pPr algn="l">
              <a:lnSpc>
                <a:spcPct val="115000"/>
              </a:lnSpc>
              <a:spcAft>
                <a:spcPts val="0"/>
              </a:spcAft>
            </a:pPr>
            <a:r>
              <a:rPr sz="800" b="1" i="0">
                <a:solidFill>
                  <a:srgbClr val="7F7F7F"/>
                </a:solidFill>
                <a:latin typeface="Be Vietnam Pro"/>
              </a:rPr>
              <a:t>Métrica</a:t>
            </a:r>
          </a:p>
        </p:txBody>
      </p:sp>
      <p:sp>
        <p:nvSpPr>
          <p:cNvPr id="15" name="TextBox 14"/>
          <p:cNvSpPr txBox="1"/>
          <p:nvPr/>
        </p:nvSpPr>
        <p:spPr>
          <a:xfrm>
            <a:off x="2148840" y="1938528"/>
            <a:ext cx="1051560" cy="201168"/>
          </a:xfrm>
          <a:prstGeom prst="rect">
            <a:avLst/>
          </a:prstGeom>
          <a:noFill/>
        </p:spPr>
        <p:txBody>
          <a:bodyPr wrap="square" lIns="0" rIns="0" tIns="0" bIns="0" anchor="t">
            <a:spAutoFit/>
          </a:bodyPr>
          <a:lstStyle/>
          <a:p>
            <a:pPr algn="r">
              <a:lnSpc>
                <a:spcPct val="115000"/>
              </a:lnSpc>
              <a:spcAft>
                <a:spcPts val="0"/>
              </a:spcAft>
            </a:pPr>
            <a:r>
              <a:rPr sz="800" b="1" i="0">
                <a:solidFill>
                  <a:srgbClr val="7F7F7F"/>
                </a:solidFill>
                <a:latin typeface="Be Vietnam Pro"/>
              </a:rPr>
              <a:t>Finanzas</a:t>
            </a:r>
          </a:p>
        </p:txBody>
      </p:sp>
      <p:sp>
        <p:nvSpPr>
          <p:cNvPr id="16" name="TextBox 15"/>
          <p:cNvSpPr txBox="1"/>
          <p:nvPr/>
        </p:nvSpPr>
        <p:spPr>
          <a:xfrm>
            <a:off x="3200400" y="1938528"/>
            <a:ext cx="1051560" cy="201168"/>
          </a:xfrm>
          <a:prstGeom prst="rect">
            <a:avLst/>
          </a:prstGeom>
          <a:noFill/>
        </p:spPr>
        <p:txBody>
          <a:bodyPr wrap="square" lIns="0" rIns="0" tIns="0" bIns="0" anchor="t">
            <a:spAutoFit/>
          </a:bodyPr>
          <a:lstStyle/>
          <a:p>
            <a:pPr algn="r">
              <a:lnSpc>
                <a:spcPct val="115000"/>
              </a:lnSpc>
              <a:spcAft>
                <a:spcPts val="0"/>
              </a:spcAft>
            </a:pPr>
            <a:r>
              <a:rPr sz="800" b="1" i="0">
                <a:solidFill>
                  <a:srgbClr val="7F7F7F"/>
                </a:solidFill>
                <a:latin typeface="Be Vietnam Pro"/>
              </a:rPr>
              <a:t>Banca</a:t>
            </a:r>
          </a:p>
        </p:txBody>
      </p:sp>
      <p:sp>
        <p:nvSpPr>
          <p:cNvPr id="17" name="Rectangle 16"/>
          <p:cNvSpPr/>
          <p:nvPr/>
        </p:nvSpPr>
        <p:spPr>
          <a:xfrm>
            <a:off x="548640" y="2176272"/>
            <a:ext cx="3703320" cy="127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28600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CPC Search</a:t>
            </a:r>
          </a:p>
        </p:txBody>
      </p:sp>
      <p:sp>
        <p:nvSpPr>
          <p:cNvPr id="19" name="TextBox 18"/>
          <p:cNvSpPr txBox="1"/>
          <p:nvPr/>
        </p:nvSpPr>
        <p:spPr>
          <a:xfrm>
            <a:off x="2148840" y="228600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USD 3,46</a:t>
            </a:r>
          </a:p>
        </p:txBody>
      </p:sp>
      <p:sp>
        <p:nvSpPr>
          <p:cNvPr id="20" name="TextBox 19"/>
          <p:cNvSpPr txBox="1"/>
          <p:nvPr/>
        </p:nvSpPr>
        <p:spPr>
          <a:xfrm>
            <a:off x="3200400" y="228600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USD 3,08</a:t>
            </a:r>
          </a:p>
        </p:txBody>
      </p:sp>
      <p:sp>
        <p:nvSpPr>
          <p:cNvPr id="21" name="TextBox 20"/>
          <p:cNvSpPr txBox="1"/>
          <p:nvPr/>
        </p:nvSpPr>
        <p:spPr>
          <a:xfrm>
            <a:off x="548640" y="256032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CTR Search</a:t>
            </a:r>
          </a:p>
        </p:txBody>
      </p:sp>
      <p:sp>
        <p:nvSpPr>
          <p:cNvPr id="22" name="TextBox 21"/>
          <p:cNvSpPr txBox="1"/>
          <p:nvPr/>
        </p:nvSpPr>
        <p:spPr>
          <a:xfrm>
            <a:off x="2148840" y="256032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8,3%</a:t>
            </a:r>
          </a:p>
        </p:txBody>
      </p:sp>
      <p:sp>
        <p:nvSpPr>
          <p:cNvPr id="23" name="TextBox 22"/>
          <p:cNvSpPr txBox="1"/>
          <p:nvPr/>
        </p:nvSpPr>
        <p:spPr>
          <a:xfrm>
            <a:off x="3200400" y="256032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3,41%</a:t>
            </a:r>
          </a:p>
        </p:txBody>
      </p:sp>
      <p:sp>
        <p:nvSpPr>
          <p:cNvPr id="24" name="TextBox 23"/>
          <p:cNvSpPr txBox="1"/>
          <p:nvPr/>
        </p:nvSpPr>
        <p:spPr>
          <a:xfrm>
            <a:off x="548640" y="283464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Conversión</a:t>
            </a:r>
          </a:p>
        </p:txBody>
      </p:sp>
      <p:sp>
        <p:nvSpPr>
          <p:cNvPr id="25" name="TextBox 24"/>
          <p:cNvSpPr txBox="1"/>
          <p:nvPr/>
        </p:nvSpPr>
        <p:spPr>
          <a:xfrm>
            <a:off x="2148840" y="283464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2,5%</a:t>
            </a:r>
          </a:p>
        </p:txBody>
      </p:sp>
      <p:sp>
        <p:nvSpPr>
          <p:cNvPr id="26" name="TextBox 25"/>
          <p:cNvSpPr txBox="1"/>
          <p:nvPr/>
        </p:nvSpPr>
        <p:spPr>
          <a:xfrm>
            <a:off x="3200400" y="283464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4,72%</a:t>
            </a:r>
          </a:p>
        </p:txBody>
      </p:sp>
      <p:sp>
        <p:nvSpPr>
          <p:cNvPr id="27" name="TextBox 26"/>
          <p:cNvSpPr txBox="1"/>
          <p:nvPr/>
        </p:nvSpPr>
        <p:spPr>
          <a:xfrm>
            <a:off x="548640" y="3108959"/>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CPA Search</a:t>
            </a:r>
          </a:p>
        </p:txBody>
      </p:sp>
      <p:sp>
        <p:nvSpPr>
          <p:cNvPr id="28" name="TextBox 27"/>
          <p:cNvSpPr txBox="1"/>
          <p:nvPr/>
        </p:nvSpPr>
        <p:spPr>
          <a:xfrm>
            <a:off x="2148840" y="3108959"/>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a:t>
            </a:r>
          </a:p>
        </p:txBody>
      </p:sp>
      <p:sp>
        <p:nvSpPr>
          <p:cNvPr id="29" name="TextBox 28"/>
          <p:cNvSpPr txBox="1"/>
          <p:nvPr/>
        </p:nvSpPr>
        <p:spPr>
          <a:xfrm>
            <a:off x="3200400" y="3108959"/>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USD 65,25</a:t>
            </a:r>
          </a:p>
        </p:txBody>
      </p:sp>
      <p:sp>
        <p:nvSpPr>
          <p:cNvPr id="30" name="TextBox 29"/>
          <p:cNvSpPr txBox="1"/>
          <p:nvPr/>
        </p:nvSpPr>
        <p:spPr>
          <a:xfrm>
            <a:off x="548640" y="338328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CPC interanual</a:t>
            </a:r>
          </a:p>
        </p:txBody>
      </p:sp>
      <p:sp>
        <p:nvSpPr>
          <p:cNvPr id="31" name="TextBox 30"/>
          <p:cNvSpPr txBox="1"/>
          <p:nvPr/>
        </p:nvSpPr>
        <p:spPr>
          <a:xfrm>
            <a:off x="2148840" y="338328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a:t>
            </a:r>
          </a:p>
        </p:txBody>
      </p:sp>
      <p:sp>
        <p:nvSpPr>
          <p:cNvPr id="32" name="TextBox 31"/>
          <p:cNvSpPr txBox="1"/>
          <p:nvPr/>
        </p:nvSpPr>
        <p:spPr>
          <a:xfrm>
            <a:off x="3200400" y="338328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+10%</a:t>
            </a:r>
          </a:p>
        </p:txBody>
      </p:sp>
      <p:sp>
        <p:nvSpPr>
          <p:cNvPr id="33" name="TextBox 32"/>
          <p:cNvSpPr txBox="1"/>
          <p:nvPr/>
        </p:nvSpPr>
        <p:spPr>
          <a:xfrm>
            <a:off x="4892040" y="1627632"/>
            <a:ext cx="3840480" cy="228600"/>
          </a:xfrm>
          <a:prstGeom prst="rect">
            <a:avLst/>
          </a:prstGeom>
          <a:noFill/>
        </p:spPr>
        <p:txBody>
          <a:bodyPr wrap="square" lIns="0" rIns="0" tIns="0" bIns="0" anchor="t">
            <a:spAutoFit/>
          </a:bodyPr>
          <a:lstStyle/>
          <a:p>
            <a:pPr algn="l">
              <a:lnSpc>
                <a:spcPct val="115000"/>
              </a:lnSpc>
              <a:spcAft>
                <a:spcPts val="0"/>
              </a:spcAft>
            </a:pPr>
            <a:r>
              <a:rPr sz="1000" b="1" i="0">
                <a:solidFill>
                  <a:srgbClr val="E57000"/>
                </a:solidFill>
                <a:latin typeface="Be Vietnam Pro"/>
              </a:rPr>
              <a:t>META ADS</a:t>
            </a:r>
          </a:p>
        </p:txBody>
      </p:sp>
      <p:sp>
        <p:nvSpPr>
          <p:cNvPr id="34" name="TextBox 33"/>
          <p:cNvSpPr txBox="1"/>
          <p:nvPr/>
        </p:nvSpPr>
        <p:spPr>
          <a:xfrm>
            <a:off x="4892040" y="1938528"/>
            <a:ext cx="1600200" cy="201168"/>
          </a:xfrm>
          <a:prstGeom prst="rect">
            <a:avLst/>
          </a:prstGeom>
          <a:noFill/>
        </p:spPr>
        <p:txBody>
          <a:bodyPr wrap="square" lIns="0" rIns="0" tIns="0" bIns="0" anchor="t">
            <a:spAutoFit/>
          </a:bodyPr>
          <a:lstStyle/>
          <a:p>
            <a:pPr algn="l">
              <a:lnSpc>
                <a:spcPct val="115000"/>
              </a:lnSpc>
              <a:spcAft>
                <a:spcPts val="0"/>
              </a:spcAft>
            </a:pPr>
            <a:r>
              <a:rPr sz="800" b="1" i="0">
                <a:solidFill>
                  <a:srgbClr val="7F7F7F"/>
                </a:solidFill>
                <a:latin typeface="Be Vietnam Pro"/>
              </a:rPr>
              <a:t>Métrica</a:t>
            </a:r>
          </a:p>
        </p:txBody>
      </p:sp>
      <p:sp>
        <p:nvSpPr>
          <p:cNvPr id="35" name="TextBox 34"/>
          <p:cNvSpPr txBox="1"/>
          <p:nvPr/>
        </p:nvSpPr>
        <p:spPr>
          <a:xfrm>
            <a:off x="6492240" y="1938528"/>
            <a:ext cx="1051560" cy="201168"/>
          </a:xfrm>
          <a:prstGeom prst="rect">
            <a:avLst/>
          </a:prstGeom>
          <a:noFill/>
        </p:spPr>
        <p:txBody>
          <a:bodyPr wrap="square" lIns="0" rIns="0" tIns="0" bIns="0" anchor="t">
            <a:spAutoFit/>
          </a:bodyPr>
          <a:lstStyle/>
          <a:p>
            <a:pPr algn="r">
              <a:lnSpc>
                <a:spcPct val="115000"/>
              </a:lnSpc>
              <a:spcAft>
                <a:spcPts val="0"/>
              </a:spcAft>
            </a:pPr>
            <a:r>
              <a:rPr sz="800" b="1" i="0">
                <a:solidFill>
                  <a:srgbClr val="7F7F7F"/>
                </a:solidFill>
                <a:latin typeface="Be Vietnam Pro"/>
              </a:rPr>
              <a:t>Valor</a:t>
            </a:r>
          </a:p>
        </p:txBody>
      </p:sp>
      <p:sp>
        <p:nvSpPr>
          <p:cNvPr id="36" name="TextBox 35"/>
          <p:cNvSpPr txBox="1"/>
          <p:nvPr/>
        </p:nvSpPr>
        <p:spPr>
          <a:xfrm>
            <a:off x="7543800" y="1938528"/>
            <a:ext cx="1051560" cy="201168"/>
          </a:xfrm>
          <a:prstGeom prst="rect">
            <a:avLst/>
          </a:prstGeom>
          <a:noFill/>
        </p:spPr>
        <p:txBody>
          <a:bodyPr wrap="square" lIns="0" rIns="0" tIns="0" bIns="0" anchor="t">
            <a:spAutoFit/>
          </a:bodyPr>
          <a:lstStyle/>
          <a:p>
            <a:pPr algn="r">
              <a:lnSpc>
                <a:spcPct val="115000"/>
              </a:lnSpc>
              <a:spcAft>
                <a:spcPts val="0"/>
              </a:spcAft>
            </a:pPr>
            <a:r>
              <a:rPr sz="800" b="1" i="0">
                <a:solidFill>
                  <a:srgbClr val="7F7F7F"/>
                </a:solidFill>
                <a:latin typeface="Be Vietnam Pro"/>
              </a:rPr>
              <a:t>Campaña</a:t>
            </a:r>
          </a:p>
        </p:txBody>
      </p:sp>
      <p:sp>
        <p:nvSpPr>
          <p:cNvPr id="37" name="Rectangle 36"/>
          <p:cNvSpPr/>
          <p:nvPr/>
        </p:nvSpPr>
        <p:spPr>
          <a:xfrm>
            <a:off x="4892040" y="2176272"/>
            <a:ext cx="3703320" cy="127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92040" y="228600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CPC finanzas</a:t>
            </a:r>
          </a:p>
        </p:txBody>
      </p:sp>
      <p:sp>
        <p:nvSpPr>
          <p:cNvPr id="39" name="TextBox 38"/>
          <p:cNvSpPr txBox="1"/>
          <p:nvPr/>
        </p:nvSpPr>
        <p:spPr>
          <a:xfrm>
            <a:off x="6492240" y="228600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USD 3,77</a:t>
            </a:r>
          </a:p>
        </p:txBody>
      </p:sp>
      <p:sp>
        <p:nvSpPr>
          <p:cNvPr id="40" name="TextBox 39"/>
          <p:cNvSpPr txBox="1"/>
          <p:nvPr/>
        </p:nvSpPr>
        <p:spPr>
          <a:xfrm>
            <a:off x="7543800" y="228600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conversión</a:t>
            </a:r>
          </a:p>
        </p:txBody>
      </p:sp>
      <p:sp>
        <p:nvSpPr>
          <p:cNvPr id="41" name="TextBox 40"/>
          <p:cNvSpPr txBox="1"/>
          <p:nvPr/>
        </p:nvSpPr>
        <p:spPr>
          <a:xfrm>
            <a:off x="4892040" y="256032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CPC finanzas</a:t>
            </a:r>
          </a:p>
        </p:txBody>
      </p:sp>
      <p:sp>
        <p:nvSpPr>
          <p:cNvPr id="42" name="TextBox 41"/>
          <p:cNvSpPr txBox="1"/>
          <p:nvPr/>
        </p:nvSpPr>
        <p:spPr>
          <a:xfrm>
            <a:off x="6492240" y="256032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USD 1,22</a:t>
            </a:r>
          </a:p>
        </p:txBody>
      </p:sp>
      <p:sp>
        <p:nvSpPr>
          <p:cNvPr id="43" name="TextBox 42"/>
          <p:cNvSpPr txBox="1"/>
          <p:nvPr/>
        </p:nvSpPr>
        <p:spPr>
          <a:xfrm>
            <a:off x="7543800" y="256032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tráfico</a:t>
            </a:r>
          </a:p>
        </p:txBody>
      </p:sp>
      <p:sp>
        <p:nvSpPr>
          <p:cNvPr id="44" name="TextBox 43"/>
          <p:cNvSpPr txBox="1"/>
          <p:nvPr/>
        </p:nvSpPr>
        <p:spPr>
          <a:xfrm>
            <a:off x="4892040" y="283464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CTR esperable</a:t>
            </a:r>
          </a:p>
        </p:txBody>
      </p:sp>
      <p:sp>
        <p:nvSpPr>
          <p:cNvPr id="45" name="TextBox 44"/>
          <p:cNvSpPr txBox="1"/>
          <p:nvPr/>
        </p:nvSpPr>
        <p:spPr>
          <a:xfrm>
            <a:off x="6492240" y="283464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0,7 - 1,0%</a:t>
            </a:r>
          </a:p>
        </p:txBody>
      </p:sp>
      <p:sp>
        <p:nvSpPr>
          <p:cNvPr id="46" name="TextBox 45"/>
          <p:cNvSpPr txBox="1"/>
          <p:nvPr/>
        </p:nvSpPr>
        <p:spPr>
          <a:xfrm>
            <a:off x="7543800" y="283464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vertical B2B</a:t>
            </a:r>
          </a:p>
        </p:txBody>
      </p:sp>
      <p:sp>
        <p:nvSpPr>
          <p:cNvPr id="47" name="TextBox 46"/>
          <p:cNvSpPr txBox="1"/>
          <p:nvPr/>
        </p:nvSpPr>
        <p:spPr>
          <a:xfrm>
            <a:off x="4892040" y="3108959"/>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Conversión</a:t>
            </a:r>
          </a:p>
        </p:txBody>
      </p:sp>
      <p:sp>
        <p:nvSpPr>
          <p:cNvPr id="48" name="TextBox 47"/>
          <p:cNvSpPr txBox="1"/>
          <p:nvPr/>
        </p:nvSpPr>
        <p:spPr>
          <a:xfrm>
            <a:off x="6492240" y="3108959"/>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9,09%</a:t>
            </a:r>
          </a:p>
        </p:txBody>
      </p:sp>
      <p:sp>
        <p:nvSpPr>
          <p:cNvPr id="49" name="TextBox 48"/>
          <p:cNvSpPr txBox="1"/>
          <p:nvPr/>
        </p:nvSpPr>
        <p:spPr>
          <a:xfrm>
            <a:off x="7543800" y="3108959"/>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finanzas</a:t>
            </a:r>
          </a:p>
        </p:txBody>
      </p:sp>
      <p:sp>
        <p:nvSpPr>
          <p:cNvPr id="50" name="TextBox 49"/>
          <p:cNvSpPr txBox="1"/>
          <p:nvPr/>
        </p:nvSpPr>
        <p:spPr>
          <a:xfrm>
            <a:off x="4892040" y="3383280"/>
            <a:ext cx="1600200" cy="219456"/>
          </a:xfrm>
          <a:prstGeom prst="rect">
            <a:avLst/>
          </a:prstGeom>
          <a:noFill/>
        </p:spPr>
        <p:txBody>
          <a:bodyPr wrap="square" lIns="0" rIns="0" tIns="0" bIns="0" anchor="t">
            <a:spAutoFit/>
          </a:bodyPr>
          <a:lstStyle/>
          <a:p>
            <a:pPr algn="l">
              <a:lnSpc>
                <a:spcPct val="115000"/>
              </a:lnSpc>
              <a:spcAft>
                <a:spcPts val="0"/>
              </a:spcAft>
            </a:pPr>
            <a:r>
              <a:rPr sz="880" b="0" i="0">
                <a:solidFill>
                  <a:srgbClr val="262626"/>
                </a:solidFill>
                <a:latin typeface="Be Vietnam Pro"/>
              </a:rPr>
              <a:t>CPM alto costo</a:t>
            </a:r>
          </a:p>
        </p:txBody>
      </p:sp>
      <p:sp>
        <p:nvSpPr>
          <p:cNvPr id="51" name="TextBox 50"/>
          <p:cNvSpPr txBox="1"/>
          <p:nvPr/>
        </p:nvSpPr>
        <p:spPr>
          <a:xfrm>
            <a:off x="6492240" y="3383280"/>
            <a:ext cx="1051560" cy="219456"/>
          </a:xfrm>
          <a:prstGeom prst="rect">
            <a:avLst/>
          </a:prstGeom>
          <a:noFill/>
        </p:spPr>
        <p:txBody>
          <a:bodyPr wrap="square" lIns="0" rIns="0" tIns="0" bIns="0" anchor="t">
            <a:spAutoFit/>
          </a:bodyPr>
          <a:lstStyle/>
          <a:p>
            <a:pPr algn="r">
              <a:lnSpc>
                <a:spcPct val="115000"/>
              </a:lnSpc>
              <a:spcAft>
                <a:spcPts val="0"/>
              </a:spcAft>
            </a:pPr>
            <a:r>
              <a:rPr sz="880" b="1" i="0">
                <a:solidFill>
                  <a:srgbClr val="262626"/>
                </a:solidFill>
                <a:latin typeface="Be Vietnam Pro"/>
              </a:rPr>
              <a:t>&gt; USD 20</a:t>
            </a:r>
          </a:p>
        </p:txBody>
      </p:sp>
      <p:sp>
        <p:nvSpPr>
          <p:cNvPr id="52" name="TextBox 51"/>
          <p:cNvSpPr txBox="1"/>
          <p:nvPr/>
        </p:nvSpPr>
        <p:spPr>
          <a:xfrm>
            <a:off x="7543800" y="3383280"/>
            <a:ext cx="1051560" cy="219456"/>
          </a:xfrm>
          <a:prstGeom prst="rect">
            <a:avLst/>
          </a:prstGeom>
          <a:noFill/>
        </p:spPr>
        <p:txBody>
          <a:bodyPr wrap="square" lIns="0" rIns="0" tIns="0" bIns="0" anchor="t">
            <a:spAutoFit/>
          </a:bodyPr>
          <a:lstStyle/>
          <a:p>
            <a:pPr algn="r">
              <a:lnSpc>
                <a:spcPct val="115000"/>
              </a:lnSpc>
              <a:spcAft>
                <a:spcPts val="0"/>
              </a:spcAft>
            </a:pPr>
            <a:r>
              <a:rPr sz="880" b="0" i="0">
                <a:solidFill>
                  <a:srgbClr val="7F7F7F"/>
                </a:solidFill>
                <a:latin typeface="Be Vietnam Pro"/>
              </a:rPr>
              <a:t>señal</a:t>
            </a:r>
          </a:p>
        </p:txBody>
      </p:sp>
      <p:sp>
        <p:nvSpPr>
          <p:cNvPr id="53" name="Rounded Rectangle 52"/>
          <p:cNvSpPr/>
          <p:nvPr/>
        </p:nvSpPr>
        <p:spPr>
          <a:xfrm>
            <a:off x="548640" y="3675887"/>
            <a:ext cx="8046720" cy="713232"/>
          </a:xfrm>
          <a:prstGeom prst="roundRect">
            <a:avLst>
              <a:gd name="adj" fmla="val 12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4672" y="3822191"/>
            <a:ext cx="7589520" cy="457200"/>
          </a:xfrm>
          <a:prstGeom prst="rect">
            <a:avLst/>
          </a:prstGeom>
          <a:noFill/>
        </p:spPr>
        <p:txBody>
          <a:bodyPr wrap="square" lIns="0" rIns="0" tIns="0" bIns="0" anchor="t">
            <a:spAutoFit/>
          </a:bodyPr>
          <a:lstStyle/>
          <a:p>
            <a:pPr algn="l">
              <a:lnSpc>
                <a:spcPct val="130000"/>
              </a:lnSpc>
              <a:spcAft>
                <a:spcPts val="0"/>
              </a:spcAft>
            </a:pPr>
            <a:r>
              <a:rPr sz="900" b="1" i="0">
                <a:solidFill>
                  <a:srgbClr val="E57000"/>
                </a:solidFill>
                <a:latin typeface="Be Vietnam Pro"/>
              </a:rPr>
              <a:t>El patrón: </a:t>
            </a:r>
            <a:r>
              <a:rPr sz="900" b="0" i="0">
                <a:solidFill>
                  <a:srgbClr val="262626"/>
                </a:solidFill>
                <a:latin typeface="Be Vietnam Pro"/>
              </a:rPr>
              <a:t>finanzas tiene CTR alto y conversión baja. La gente hace clic con facilidad, compara proveedores y duda antes de entregar datos personales. Ese es exactamente el problema que la conversación asistida resuelve.</a:t>
            </a:r>
          </a:p>
        </p:txBody>
      </p:sp>
      <p:sp>
        <p:nvSpPr>
          <p:cNvPr id="55" name="TextBox 54"/>
          <p:cNvSpPr txBox="1"/>
          <p:nvPr/>
        </p:nvSpPr>
        <p:spPr>
          <a:xfrm>
            <a:off x="548640" y="4517136"/>
            <a:ext cx="8046720" cy="182880"/>
          </a:xfrm>
          <a:prstGeom prst="rect">
            <a:avLst/>
          </a:prstGeom>
          <a:noFill/>
        </p:spPr>
        <p:txBody>
          <a:bodyPr wrap="square" lIns="0" rIns="0" tIns="0" bIns="0" anchor="t">
            <a:spAutoFit/>
          </a:bodyPr>
          <a:lstStyle/>
          <a:p>
            <a:pPr algn="ctr">
              <a:lnSpc>
                <a:spcPct val="115000"/>
              </a:lnSpc>
              <a:spcAft>
                <a:spcPts val="0"/>
              </a:spcAft>
            </a:pPr>
            <a:r>
              <a:rPr sz="700" b="0" i="1">
                <a:solidFill>
                  <a:srgbClr val="7F7F7F"/>
                </a:solidFill>
                <a:latin typeface="Be Vietnam Pro"/>
              </a:rPr>
              <a:t>Fuente: WordStream 2026, Digital Applied Q1 2026 y benchmarks de Meta Ads por industria 2026.</a:t>
            </a:r>
          </a:p>
        </p:txBody>
      </p:sp>
      <p:sp>
        <p:nvSpPr>
          <p:cNvPr id="56" name="TextBox 55"/>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57" name="Picture 56"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6" name="TextBox 5"/>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7" name="TextBox 6"/>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8" name="TextBox 7"/>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9" name="TextBox 8"/>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Inversión</a:t>
            </a:r>
          </a:p>
        </p:txBody>
      </p:sp>
      <p:sp>
        <p:nvSpPr>
          <p:cNvPr id="10" name="Rectangle 9"/>
          <p:cNvSpPr/>
          <p:nvPr/>
        </p:nvSpPr>
        <p:spPr>
          <a:xfrm>
            <a:off x="5993892" y="498348"/>
            <a:ext cx="72694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777240"/>
            <a:ext cx="4114800" cy="457200"/>
          </a:xfrm>
          <a:prstGeom prst="rect">
            <a:avLst/>
          </a:prstGeom>
          <a:noFill/>
        </p:spPr>
        <p:txBody>
          <a:bodyPr wrap="square" lIns="0" rIns="0" tIns="0" bIns="0" anchor="t">
            <a:spAutoFit/>
          </a:bodyPr>
          <a:lstStyle/>
          <a:p>
            <a:pPr algn="l">
              <a:lnSpc>
                <a:spcPct val="115000"/>
              </a:lnSpc>
              <a:spcAft>
                <a:spcPts val="0"/>
              </a:spcAft>
            </a:pPr>
            <a:r>
              <a:rPr sz="2200" b="1" i="0">
                <a:solidFill>
                  <a:srgbClr val="262626"/>
                </a:solidFill>
                <a:latin typeface="Be Vietnam Pro"/>
              </a:rPr>
              <a:t>Triangulación del CPC</a:t>
            </a:r>
          </a:p>
        </p:txBody>
      </p:sp>
      <p:sp>
        <p:nvSpPr>
          <p:cNvPr id="12" name="TextBox 11"/>
          <p:cNvSpPr txBox="1"/>
          <p:nvPr/>
        </p:nvSpPr>
        <p:spPr>
          <a:xfrm>
            <a:off x="566928" y="1179576"/>
            <a:ext cx="4114800" cy="457200"/>
          </a:xfrm>
          <a:prstGeom prst="rect">
            <a:avLst/>
          </a:prstGeom>
          <a:noFill/>
        </p:spPr>
        <p:txBody>
          <a:bodyPr wrap="square" lIns="0" rIns="0" tIns="0" bIns="0" anchor="t">
            <a:spAutoFit/>
          </a:bodyPr>
          <a:lstStyle/>
          <a:p>
            <a:pPr algn="l">
              <a:lnSpc>
                <a:spcPct val="115000"/>
              </a:lnSpc>
              <a:spcAft>
                <a:spcPts val="0"/>
              </a:spcAft>
            </a:pPr>
            <a:r>
              <a:rPr sz="2200" b="1" i="0">
                <a:solidFill>
                  <a:srgbClr val="E57000"/>
                </a:solidFill>
                <a:latin typeface="Be Vietnam Pro"/>
              </a:rPr>
              <a:t>para el mercado chileno</a:t>
            </a:r>
          </a:p>
        </p:txBody>
      </p:sp>
      <p:sp>
        <p:nvSpPr>
          <p:cNvPr id="13" name="TextBox 12"/>
          <p:cNvSpPr txBox="1"/>
          <p:nvPr/>
        </p:nvSpPr>
        <p:spPr>
          <a:xfrm>
            <a:off x="566928" y="1737360"/>
            <a:ext cx="3840480" cy="2194560"/>
          </a:xfrm>
          <a:prstGeom prst="rect">
            <a:avLst/>
          </a:prstGeom>
          <a:noFill/>
        </p:spPr>
        <p:txBody>
          <a:bodyPr wrap="square" lIns="0" rIns="0" tIns="0" bIns="0" anchor="t">
            <a:spAutoFit/>
          </a:bodyPr>
          <a:lstStyle/>
          <a:p>
            <a:pPr algn="l">
              <a:lnSpc>
                <a:spcPct val="140000"/>
              </a:lnSpc>
              <a:spcAft>
                <a:spcPts val="0"/>
              </a:spcAft>
            </a:pPr>
            <a:r>
              <a:rPr sz="950" b="0" i="0">
                <a:solidFill>
                  <a:srgbClr val="7F7F7F"/>
                </a:solidFill>
                <a:latin typeface="Be Vietnam Pro"/>
              </a:rPr>
              <a:t>No existe una fuente única y autorizada de CPC por industria para Chile. Para llegar a una banda defendible se cruzaron dos vías independientes que no se citan entre sí.</a:t>
            </a:r>
          </a:p>
          <a:p>
            <a:pPr algn="l">
              <a:lnSpc>
                <a:spcPct val="140000"/>
              </a:lnSpc>
              <a:spcAft>
                <a:spcPts val="0"/>
              </a:spcAft>
            </a:pPr>
          </a:p>
          <a:p>
            <a:pPr algn="l">
              <a:lnSpc>
                <a:spcPct val="140000"/>
              </a:lnSpc>
              <a:spcAft>
                <a:spcPts val="0"/>
              </a:spcAft>
            </a:pPr>
            <a:r>
              <a:rPr sz="950" b="0" i="0">
                <a:solidFill>
                  <a:srgbClr val="7F7F7F"/>
                </a:solidFill>
                <a:latin typeface="Be Vietnam Pro"/>
              </a:rPr>
              <a:t>Ambas convergen en la misma zona. Ese solapamiento es lo que da validez al número: Chile se sitúa en torno al 60% a 80% del CPC estadounidense en esta industria, no en la fracción mucho menor que suele asumirse.</a:t>
            </a:r>
          </a:p>
        </p:txBody>
      </p:sp>
      <p:sp>
        <p:nvSpPr>
          <p:cNvPr id="14" name="Rounded Rectangle 13"/>
          <p:cNvSpPr/>
          <p:nvPr/>
        </p:nvSpPr>
        <p:spPr>
          <a:xfrm>
            <a:off x="4846320" y="1417320"/>
            <a:ext cx="3749039" cy="868680"/>
          </a:xfrm>
          <a:prstGeom prst="roundRect">
            <a:avLst>
              <a:gd name="adj" fmla="val 10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7488" y="1563624"/>
            <a:ext cx="365760" cy="228600"/>
          </a:xfrm>
          <a:prstGeom prst="rect">
            <a:avLst/>
          </a:prstGeom>
          <a:noFill/>
        </p:spPr>
        <p:txBody>
          <a:bodyPr wrap="square" lIns="0" rIns="0" tIns="0" bIns="0" anchor="t">
            <a:spAutoFit/>
          </a:bodyPr>
          <a:lstStyle/>
          <a:p>
            <a:pPr algn="l">
              <a:lnSpc>
                <a:spcPct val="115000"/>
              </a:lnSpc>
              <a:spcAft>
                <a:spcPts val="0"/>
              </a:spcAft>
            </a:pPr>
            <a:r>
              <a:rPr sz="1100" b="1" i="0">
                <a:solidFill>
                  <a:srgbClr val="E57000"/>
                </a:solidFill>
                <a:latin typeface="Be Vietnam Pro"/>
              </a:rPr>
              <a:t>A</a:t>
            </a:r>
          </a:p>
        </p:txBody>
      </p:sp>
      <p:sp>
        <p:nvSpPr>
          <p:cNvPr id="16" name="TextBox 15"/>
          <p:cNvSpPr txBox="1"/>
          <p:nvPr/>
        </p:nvSpPr>
        <p:spPr>
          <a:xfrm>
            <a:off x="5440680" y="1563624"/>
            <a:ext cx="2926080" cy="228600"/>
          </a:xfrm>
          <a:prstGeom prst="rect">
            <a:avLst/>
          </a:prstGeom>
          <a:noFill/>
        </p:spPr>
        <p:txBody>
          <a:bodyPr wrap="square" lIns="0" rIns="0" tIns="0" bIns="0" anchor="t">
            <a:spAutoFit/>
          </a:bodyPr>
          <a:lstStyle/>
          <a:p>
            <a:pPr algn="l">
              <a:lnSpc>
                <a:spcPct val="115000"/>
              </a:lnSpc>
              <a:spcAft>
                <a:spcPts val="0"/>
              </a:spcAft>
            </a:pPr>
            <a:r>
              <a:rPr sz="900" b="0" i="0">
                <a:solidFill>
                  <a:srgbClr val="595959"/>
                </a:solidFill>
                <a:latin typeface="Be Vietnam Pro"/>
              </a:rPr>
              <a:t>Benchmark EE.UU. convertido</a:t>
            </a:r>
          </a:p>
        </p:txBody>
      </p:sp>
      <p:sp>
        <p:nvSpPr>
          <p:cNvPr id="17" name="TextBox 16"/>
          <p:cNvSpPr txBox="1"/>
          <p:nvPr/>
        </p:nvSpPr>
        <p:spPr>
          <a:xfrm>
            <a:off x="5440680" y="1819656"/>
            <a:ext cx="2926080" cy="292608"/>
          </a:xfrm>
          <a:prstGeom prst="rect">
            <a:avLst/>
          </a:prstGeom>
          <a:noFill/>
        </p:spPr>
        <p:txBody>
          <a:bodyPr wrap="square" lIns="0" rIns="0" tIns="0" bIns="0" anchor="t">
            <a:spAutoFit/>
          </a:bodyPr>
          <a:lstStyle/>
          <a:p>
            <a:pPr algn="l">
              <a:lnSpc>
                <a:spcPct val="115000"/>
              </a:lnSpc>
              <a:spcAft>
                <a:spcPts val="0"/>
              </a:spcAft>
            </a:pPr>
            <a:r>
              <a:rPr sz="1500" b="1" i="0">
                <a:solidFill>
                  <a:srgbClr val="262626"/>
                </a:solidFill>
                <a:latin typeface="Be Vietnam Pro"/>
              </a:rPr>
              <a:t>$2.807 - $3.154 CLP</a:t>
            </a:r>
          </a:p>
        </p:txBody>
      </p:sp>
      <p:sp>
        <p:nvSpPr>
          <p:cNvPr id="18" name="Rounded Rectangle 17"/>
          <p:cNvSpPr/>
          <p:nvPr/>
        </p:nvSpPr>
        <p:spPr>
          <a:xfrm>
            <a:off x="4846320" y="2423160"/>
            <a:ext cx="3749039" cy="868680"/>
          </a:xfrm>
          <a:prstGeom prst="roundRect">
            <a:avLst>
              <a:gd name="adj" fmla="val 10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2569464"/>
            <a:ext cx="365760" cy="228600"/>
          </a:xfrm>
          <a:prstGeom prst="rect">
            <a:avLst/>
          </a:prstGeom>
          <a:noFill/>
        </p:spPr>
        <p:txBody>
          <a:bodyPr wrap="square" lIns="0" rIns="0" tIns="0" bIns="0" anchor="t">
            <a:spAutoFit/>
          </a:bodyPr>
          <a:lstStyle/>
          <a:p>
            <a:pPr algn="l">
              <a:lnSpc>
                <a:spcPct val="115000"/>
              </a:lnSpc>
              <a:spcAft>
                <a:spcPts val="0"/>
              </a:spcAft>
            </a:pPr>
            <a:r>
              <a:rPr sz="1100" b="1" i="0">
                <a:solidFill>
                  <a:srgbClr val="E57000"/>
                </a:solidFill>
                <a:latin typeface="Be Vietnam Pro"/>
              </a:rPr>
              <a:t>B</a:t>
            </a:r>
          </a:p>
        </p:txBody>
      </p:sp>
      <p:sp>
        <p:nvSpPr>
          <p:cNvPr id="20" name="TextBox 19"/>
          <p:cNvSpPr txBox="1"/>
          <p:nvPr/>
        </p:nvSpPr>
        <p:spPr>
          <a:xfrm>
            <a:off x="5440680" y="2569464"/>
            <a:ext cx="2926080" cy="228600"/>
          </a:xfrm>
          <a:prstGeom prst="rect">
            <a:avLst/>
          </a:prstGeom>
          <a:noFill/>
        </p:spPr>
        <p:txBody>
          <a:bodyPr wrap="square" lIns="0" rIns="0" tIns="0" bIns="0" anchor="t">
            <a:spAutoFit/>
          </a:bodyPr>
          <a:lstStyle/>
          <a:p>
            <a:pPr algn="l">
              <a:lnSpc>
                <a:spcPct val="115000"/>
              </a:lnSpc>
              <a:spcAft>
                <a:spcPts val="0"/>
              </a:spcAft>
            </a:pPr>
            <a:r>
              <a:rPr sz="900" b="0" i="0">
                <a:solidFill>
                  <a:srgbClr val="595959"/>
                </a:solidFill>
                <a:latin typeface="Be Vietnam Pro"/>
              </a:rPr>
              <a:t>Reportes locales Chile</a:t>
            </a:r>
          </a:p>
        </p:txBody>
      </p:sp>
      <p:sp>
        <p:nvSpPr>
          <p:cNvPr id="21" name="TextBox 20"/>
          <p:cNvSpPr txBox="1"/>
          <p:nvPr/>
        </p:nvSpPr>
        <p:spPr>
          <a:xfrm>
            <a:off x="5440680" y="2825496"/>
            <a:ext cx="2926080" cy="292608"/>
          </a:xfrm>
          <a:prstGeom prst="rect">
            <a:avLst/>
          </a:prstGeom>
          <a:noFill/>
        </p:spPr>
        <p:txBody>
          <a:bodyPr wrap="square" lIns="0" rIns="0" tIns="0" bIns="0" anchor="t">
            <a:spAutoFit/>
          </a:bodyPr>
          <a:lstStyle/>
          <a:p>
            <a:pPr algn="l">
              <a:lnSpc>
                <a:spcPct val="115000"/>
              </a:lnSpc>
              <a:spcAft>
                <a:spcPts val="0"/>
              </a:spcAft>
            </a:pPr>
            <a:r>
              <a:rPr sz="1500" b="1" i="0">
                <a:solidFill>
                  <a:srgbClr val="262626"/>
                </a:solidFill>
                <a:latin typeface="Be Vietnam Pro"/>
              </a:rPr>
              <a:t>$2.000 - $3.000 CLP</a:t>
            </a:r>
          </a:p>
        </p:txBody>
      </p:sp>
      <p:sp>
        <p:nvSpPr>
          <p:cNvPr id="22" name="Rounded Rectangle 21"/>
          <p:cNvSpPr/>
          <p:nvPr/>
        </p:nvSpPr>
        <p:spPr>
          <a:xfrm>
            <a:off x="4846320" y="3429000"/>
            <a:ext cx="3749039" cy="868680"/>
          </a:xfrm>
          <a:prstGeom prst="roundRect">
            <a:avLst>
              <a:gd name="adj" fmla="val 10000"/>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47488" y="3575304"/>
            <a:ext cx="365760" cy="228600"/>
          </a:xfrm>
          <a:prstGeom prst="rect">
            <a:avLst/>
          </a:prstGeom>
          <a:noFill/>
        </p:spPr>
        <p:txBody>
          <a:bodyPr wrap="square" lIns="0" rIns="0" tIns="0" bIns="0" anchor="t">
            <a:spAutoFit/>
          </a:bodyPr>
          <a:lstStyle/>
          <a:p>
            <a:pPr algn="l">
              <a:lnSpc>
                <a:spcPct val="115000"/>
              </a:lnSpc>
              <a:spcAft>
                <a:spcPts val="0"/>
              </a:spcAft>
            </a:pPr>
            <a:r>
              <a:rPr sz="1100" b="1" i="0">
                <a:solidFill>
                  <a:srgbClr val="FFFFFF"/>
                </a:solidFill>
                <a:latin typeface="Be Vietnam Pro"/>
              </a:rPr>
              <a:t>=</a:t>
            </a:r>
          </a:p>
        </p:txBody>
      </p:sp>
      <p:sp>
        <p:nvSpPr>
          <p:cNvPr id="24" name="TextBox 23"/>
          <p:cNvSpPr txBox="1"/>
          <p:nvPr/>
        </p:nvSpPr>
        <p:spPr>
          <a:xfrm>
            <a:off x="5440680" y="3575304"/>
            <a:ext cx="2926080" cy="228600"/>
          </a:xfrm>
          <a:prstGeom prst="rect">
            <a:avLst/>
          </a:prstGeom>
          <a:noFill/>
        </p:spPr>
        <p:txBody>
          <a:bodyPr wrap="square" lIns="0" rIns="0" tIns="0" bIns="0" anchor="t">
            <a:spAutoFit/>
          </a:bodyPr>
          <a:lstStyle/>
          <a:p>
            <a:pPr algn="l">
              <a:lnSpc>
                <a:spcPct val="115000"/>
              </a:lnSpc>
              <a:spcAft>
                <a:spcPts val="0"/>
              </a:spcAft>
            </a:pPr>
            <a:r>
              <a:rPr sz="900" b="0" i="0">
                <a:solidFill>
                  <a:srgbClr val="FFFFFF"/>
                </a:solidFill>
                <a:latin typeface="Be Vietnam Pro"/>
              </a:rPr>
              <a:t>Banda triangulada de trabajo</a:t>
            </a:r>
          </a:p>
        </p:txBody>
      </p:sp>
      <p:sp>
        <p:nvSpPr>
          <p:cNvPr id="25" name="TextBox 24"/>
          <p:cNvSpPr txBox="1"/>
          <p:nvPr/>
        </p:nvSpPr>
        <p:spPr>
          <a:xfrm>
            <a:off x="5440680" y="3831336"/>
            <a:ext cx="2926080" cy="292608"/>
          </a:xfrm>
          <a:prstGeom prst="rect">
            <a:avLst/>
          </a:prstGeom>
          <a:noFill/>
        </p:spPr>
        <p:txBody>
          <a:bodyPr wrap="square" lIns="0" rIns="0" tIns="0" bIns="0" anchor="t">
            <a:spAutoFit/>
          </a:bodyPr>
          <a:lstStyle/>
          <a:p>
            <a:pPr algn="l">
              <a:lnSpc>
                <a:spcPct val="115000"/>
              </a:lnSpc>
              <a:spcAft>
                <a:spcPts val="0"/>
              </a:spcAft>
            </a:pPr>
            <a:r>
              <a:rPr sz="1500" b="1" i="0">
                <a:solidFill>
                  <a:srgbClr val="FFFFFF"/>
                </a:solidFill>
                <a:latin typeface="Be Vietnam Pro"/>
              </a:rPr>
              <a:t>$2.400 - $3.200 CLP</a:t>
            </a:r>
          </a:p>
        </p:txBody>
      </p:sp>
      <p:sp>
        <p:nvSpPr>
          <p:cNvPr id="26" name="TextBox 25"/>
          <p:cNvSpPr txBox="1"/>
          <p:nvPr/>
        </p:nvSpPr>
        <p:spPr>
          <a:xfrm>
            <a:off x="4846320" y="4498848"/>
            <a:ext cx="3749039" cy="182880"/>
          </a:xfrm>
          <a:prstGeom prst="rect">
            <a:avLst/>
          </a:prstGeom>
          <a:noFill/>
        </p:spPr>
        <p:txBody>
          <a:bodyPr wrap="square" lIns="0" rIns="0" tIns="0" bIns="0" anchor="t">
            <a:spAutoFit/>
          </a:bodyPr>
          <a:lstStyle/>
          <a:p>
            <a:pPr algn="l">
              <a:lnSpc>
                <a:spcPct val="115000"/>
              </a:lnSpc>
              <a:spcAft>
                <a:spcPts val="0"/>
              </a:spcAft>
            </a:pPr>
            <a:r>
              <a:rPr sz="700" b="0" i="1">
                <a:solidFill>
                  <a:srgbClr val="7F7F7F"/>
                </a:solidFill>
                <a:latin typeface="Be Vietnam Pro"/>
              </a:rPr>
              <a:t>Dólar observado $911,43 al 26-ago-2026.</a:t>
            </a:r>
          </a:p>
        </p:txBody>
      </p:sp>
      <p:sp>
        <p:nvSpPr>
          <p:cNvPr id="27" name="TextBox 26"/>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28" name="Picture 27"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6" name="TextBox 5"/>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7" name="TextBox 6"/>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Email M.</a:t>
            </a:r>
          </a:p>
        </p:txBody>
      </p:sp>
      <p:sp>
        <p:nvSpPr>
          <p:cNvPr id="8" name="Rectangle 7"/>
          <p:cNvSpPr/>
          <p:nvPr/>
        </p:nvSpPr>
        <p:spPr>
          <a:xfrm>
            <a:off x="4558284" y="498348"/>
            <a:ext cx="65836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TextBox 10"/>
          <p:cNvSpPr txBox="1"/>
          <p:nvPr/>
        </p:nvSpPr>
        <p:spPr>
          <a:xfrm>
            <a:off x="566928" y="777240"/>
            <a:ext cx="4114800" cy="45720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En email</a:t>
            </a:r>
          </a:p>
        </p:txBody>
      </p:sp>
      <p:sp>
        <p:nvSpPr>
          <p:cNvPr id="12" name="TextBox 11"/>
          <p:cNvSpPr txBox="1"/>
          <p:nvPr/>
        </p:nvSpPr>
        <p:spPr>
          <a:xfrm>
            <a:off x="566928" y="1179576"/>
            <a:ext cx="4114800" cy="457200"/>
          </a:xfrm>
          <a:prstGeom prst="rect">
            <a:avLst/>
          </a:prstGeom>
          <a:noFill/>
        </p:spPr>
        <p:txBody>
          <a:bodyPr wrap="square" lIns="0" rIns="0" tIns="0" bIns="0" anchor="t">
            <a:spAutoFit/>
          </a:bodyPr>
          <a:lstStyle/>
          <a:p>
            <a:pPr algn="l">
              <a:lnSpc>
                <a:spcPct val="115000"/>
              </a:lnSpc>
              <a:spcAft>
                <a:spcPts val="0"/>
              </a:spcAft>
            </a:pPr>
            <a:r>
              <a:rPr sz="2300" b="1" i="0">
                <a:solidFill>
                  <a:srgbClr val="E57000"/>
                </a:solidFill>
                <a:latin typeface="Be Vietnam Pro"/>
              </a:rPr>
              <a:t>mandan los flujos</a:t>
            </a:r>
          </a:p>
        </p:txBody>
      </p:sp>
      <p:sp>
        <p:nvSpPr>
          <p:cNvPr id="13" name="TextBox 12"/>
          <p:cNvSpPr txBox="1"/>
          <p:nvPr/>
        </p:nvSpPr>
        <p:spPr>
          <a:xfrm>
            <a:off x="566928" y="1755648"/>
            <a:ext cx="3840480" cy="2103120"/>
          </a:xfrm>
          <a:prstGeom prst="rect">
            <a:avLst/>
          </a:prstGeom>
          <a:noFill/>
        </p:spPr>
        <p:txBody>
          <a:bodyPr wrap="square" lIns="0" rIns="0" tIns="0" bIns="0" anchor="t">
            <a:spAutoFit/>
          </a:bodyPr>
          <a:lstStyle/>
          <a:p>
            <a:pPr algn="l">
              <a:lnSpc>
                <a:spcPct val="140000"/>
              </a:lnSpc>
              <a:spcAft>
                <a:spcPts val="0"/>
              </a:spcAft>
            </a:pPr>
            <a:r>
              <a:rPr sz="950" b="0" i="0">
                <a:solidFill>
                  <a:srgbClr val="7F7F7F"/>
                </a:solidFill>
                <a:latin typeface="Be Vietnam Pro"/>
              </a:rPr>
              <a:t>El 5,3% de los envíos produce el 41% de los ingresos. Un programa que solo envía campañas masivas deja fuera la parte del canal que efectivamente convierte.</a:t>
            </a:r>
          </a:p>
          <a:p>
            <a:pPr algn="l">
              <a:lnSpc>
                <a:spcPct val="140000"/>
              </a:lnSpc>
              <a:spcAft>
                <a:spcPts val="0"/>
              </a:spcAft>
            </a:pPr>
          </a:p>
          <a:p>
            <a:pPr algn="l">
              <a:lnSpc>
                <a:spcPct val="140000"/>
              </a:lnSpc>
              <a:spcAft>
                <a:spcPts val="0"/>
              </a:spcAft>
            </a:pPr>
            <a:r>
              <a:rPr sz="950" b="0" i="0">
                <a:solidFill>
                  <a:srgbClr val="7F7F7F"/>
                </a:solidFill>
                <a:latin typeface="Be Vietnam Pro"/>
              </a:rPr>
              <a:t>Banca y finanzas presenta además la tasa de clic más baja de todas las industrias medidas. Conviene declararlo desde el inicio en lugar de que el cliente lo descubra al tercer mes comparándose contra benchmarks de retail.</a:t>
            </a:r>
          </a:p>
        </p:txBody>
      </p:sp>
      <p:sp>
        <p:nvSpPr>
          <p:cNvPr id="14" name="Rounded Rectangle 13"/>
          <p:cNvSpPr/>
          <p:nvPr/>
        </p:nvSpPr>
        <p:spPr>
          <a:xfrm>
            <a:off x="4892040" y="1234440"/>
            <a:ext cx="1874519" cy="1481328"/>
          </a:xfrm>
          <a:prstGeom prst="roundRect">
            <a:avLst>
              <a:gd name="adj" fmla="val 8000"/>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1508760"/>
            <a:ext cx="1874519" cy="457200"/>
          </a:xfrm>
          <a:prstGeom prst="rect">
            <a:avLst/>
          </a:prstGeom>
          <a:noFill/>
        </p:spPr>
        <p:txBody>
          <a:bodyPr wrap="square" lIns="0" rIns="0" tIns="0" bIns="0" anchor="t">
            <a:spAutoFit/>
          </a:bodyPr>
          <a:lstStyle/>
          <a:p>
            <a:pPr algn="ctr">
              <a:lnSpc>
                <a:spcPct val="115000"/>
              </a:lnSpc>
              <a:spcAft>
                <a:spcPts val="0"/>
              </a:spcAft>
            </a:pPr>
            <a:r>
              <a:rPr sz="2400" b="1" i="0">
                <a:solidFill>
                  <a:srgbClr val="FFFFFF"/>
                </a:solidFill>
                <a:latin typeface="Be Vietnam Pro"/>
              </a:rPr>
              <a:t>41%</a:t>
            </a:r>
          </a:p>
        </p:txBody>
      </p:sp>
      <p:sp>
        <p:nvSpPr>
          <p:cNvPr id="16" name="TextBox 15"/>
          <p:cNvSpPr txBox="1"/>
          <p:nvPr/>
        </p:nvSpPr>
        <p:spPr>
          <a:xfrm>
            <a:off x="5001768" y="2039112"/>
            <a:ext cx="1655063" cy="548640"/>
          </a:xfrm>
          <a:prstGeom prst="rect">
            <a:avLst/>
          </a:prstGeom>
          <a:noFill/>
        </p:spPr>
        <p:txBody>
          <a:bodyPr wrap="square" lIns="0" rIns="0" tIns="0" bIns="0" anchor="t">
            <a:spAutoFit/>
          </a:bodyPr>
          <a:lstStyle/>
          <a:p>
            <a:pPr algn="ctr">
              <a:lnSpc>
                <a:spcPct val="120000"/>
              </a:lnSpc>
              <a:spcAft>
                <a:spcPts val="0"/>
              </a:spcAft>
            </a:pPr>
            <a:r>
              <a:rPr sz="819" b="0" i="0">
                <a:solidFill>
                  <a:srgbClr val="FFFFFF"/>
                </a:solidFill>
                <a:latin typeface="Be Vietnam Pro"/>
              </a:rPr>
              <a:t>de los ingresos por email</a:t>
            </a:r>
          </a:p>
          <a:p>
            <a:pPr algn="ctr">
              <a:lnSpc>
                <a:spcPct val="120000"/>
              </a:lnSpc>
              <a:spcAft>
                <a:spcPts val="0"/>
              </a:spcAft>
            </a:pPr>
            <a:r>
              <a:rPr sz="819" b="0" i="0">
                <a:solidFill>
                  <a:srgbClr val="FFFFFF"/>
                </a:solidFill>
                <a:latin typeface="Be Vietnam Pro"/>
              </a:rPr>
              <a:t>los generan los flujos</a:t>
            </a:r>
          </a:p>
        </p:txBody>
      </p:sp>
      <p:sp>
        <p:nvSpPr>
          <p:cNvPr id="17" name="Rounded Rectangle 16"/>
          <p:cNvSpPr/>
          <p:nvPr/>
        </p:nvSpPr>
        <p:spPr>
          <a:xfrm>
            <a:off x="6931151" y="1234440"/>
            <a:ext cx="1874519" cy="1481328"/>
          </a:xfrm>
          <a:prstGeom prst="roundRect">
            <a:avLst>
              <a:gd name="adj" fmla="val 8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31151" y="1508760"/>
            <a:ext cx="1874519" cy="457200"/>
          </a:xfrm>
          <a:prstGeom prst="rect">
            <a:avLst/>
          </a:prstGeom>
          <a:noFill/>
        </p:spPr>
        <p:txBody>
          <a:bodyPr wrap="square" lIns="0" rIns="0" tIns="0" bIns="0" anchor="t">
            <a:spAutoFit/>
          </a:bodyPr>
          <a:lstStyle/>
          <a:p>
            <a:pPr algn="ctr">
              <a:lnSpc>
                <a:spcPct val="115000"/>
              </a:lnSpc>
              <a:spcAft>
                <a:spcPts val="0"/>
              </a:spcAft>
            </a:pPr>
            <a:r>
              <a:rPr sz="2400" b="1" i="0">
                <a:solidFill>
                  <a:srgbClr val="262626"/>
                </a:solidFill>
                <a:latin typeface="Be Vietnam Pro"/>
              </a:rPr>
              <a:t>5,3%</a:t>
            </a:r>
          </a:p>
        </p:txBody>
      </p:sp>
      <p:sp>
        <p:nvSpPr>
          <p:cNvPr id="19" name="TextBox 18"/>
          <p:cNvSpPr txBox="1"/>
          <p:nvPr/>
        </p:nvSpPr>
        <p:spPr>
          <a:xfrm>
            <a:off x="7040879" y="2039112"/>
            <a:ext cx="1655063" cy="548640"/>
          </a:xfrm>
          <a:prstGeom prst="rect">
            <a:avLst/>
          </a:prstGeom>
          <a:noFill/>
        </p:spPr>
        <p:txBody>
          <a:bodyPr wrap="square" lIns="0" rIns="0" tIns="0" bIns="0" anchor="t">
            <a:spAutoFit/>
          </a:bodyPr>
          <a:lstStyle/>
          <a:p>
            <a:pPr algn="ctr">
              <a:lnSpc>
                <a:spcPct val="120000"/>
              </a:lnSpc>
              <a:spcAft>
                <a:spcPts val="0"/>
              </a:spcAft>
            </a:pPr>
            <a:r>
              <a:rPr sz="819" b="0" i="0">
                <a:solidFill>
                  <a:srgbClr val="595959"/>
                </a:solidFill>
                <a:latin typeface="Be Vietnam Pro"/>
              </a:rPr>
              <a:t>de los envíos totales</a:t>
            </a:r>
          </a:p>
          <a:p>
            <a:pPr algn="ctr">
              <a:lnSpc>
                <a:spcPct val="120000"/>
              </a:lnSpc>
              <a:spcAft>
                <a:spcPts val="0"/>
              </a:spcAft>
            </a:pPr>
            <a:r>
              <a:rPr sz="819" b="0" i="0">
                <a:solidFill>
                  <a:srgbClr val="595959"/>
                </a:solidFill>
                <a:latin typeface="Be Vietnam Pro"/>
              </a:rPr>
              <a:t>representan esos flujos</a:t>
            </a:r>
          </a:p>
        </p:txBody>
      </p:sp>
      <p:sp>
        <p:nvSpPr>
          <p:cNvPr id="20" name="Rounded Rectangle 19"/>
          <p:cNvSpPr/>
          <p:nvPr/>
        </p:nvSpPr>
        <p:spPr>
          <a:xfrm>
            <a:off x="4892040" y="2880360"/>
            <a:ext cx="1874519" cy="1481328"/>
          </a:xfrm>
          <a:prstGeom prst="roundRect">
            <a:avLst>
              <a:gd name="adj" fmla="val 8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92040" y="3154680"/>
            <a:ext cx="1874519" cy="457200"/>
          </a:xfrm>
          <a:prstGeom prst="rect">
            <a:avLst/>
          </a:prstGeom>
          <a:noFill/>
        </p:spPr>
        <p:txBody>
          <a:bodyPr wrap="square" lIns="0" rIns="0" tIns="0" bIns="0" anchor="t">
            <a:spAutoFit/>
          </a:bodyPr>
          <a:lstStyle/>
          <a:p>
            <a:pPr algn="ctr">
              <a:lnSpc>
                <a:spcPct val="115000"/>
              </a:lnSpc>
              <a:spcAft>
                <a:spcPts val="0"/>
              </a:spcAft>
            </a:pPr>
            <a:r>
              <a:rPr sz="2400" b="1" i="0">
                <a:solidFill>
                  <a:srgbClr val="262626"/>
                </a:solidFill>
                <a:latin typeface="Be Vietnam Pro"/>
              </a:rPr>
              <a:t>13x</a:t>
            </a:r>
          </a:p>
        </p:txBody>
      </p:sp>
      <p:sp>
        <p:nvSpPr>
          <p:cNvPr id="22" name="TextBox 21"/>
          <p:cNvSpPr txBox="1"/>
          <p:nvPr/>
        </p:nvSpPr>
        <p:spPr>
          <a:xfrm>
            <a:off x="5001768" y="3685032"/>
            <a:ext cx="1655063" cy="548640"/>
          </a:xfrm>
          <a:prstGeom prst="rect">
            <a:avLst/>
          </a:prstGeom>
          <a:noFill/>
        </p:spPr>
        <p:txBody>
          <a:bodyPr wrap="square" lIns="0" rIns="0" tIns="0" bIns="0" anchor="t">
            <a:spAutoFit/>
          </a:bodyPr>
          <a:lstStyle/>
          <a:p>
            <a:pPr algn="ctr">
              <a:lnSpc>
                <a:spcPct val="120000"/>
              </a:lnSpc>
              <a:spcAft>
                <a:spcPts val="0"/>
              </a:spcAft>
            </a:pPr>
            <a:r>
              <a:rPr sz="819" b="0" i="0">
                <a:solidFill>
                  <a:srgbClr val="595959"/>
                </a:solidFill>
                <a:latin typeface="Be Vietnam Pro"/>
              </a:rPr>
              <a:t>tasa de pedido de flujos</a:t>
            </a:r>
          </a:p>
          <a:p>
            <a:pPr algn="ctr">
              <a:lnSpc>
                <a:spcPct val="120000"/>
              </a:lnSpc>
              <a:spcAft>
                <a:spcPts val="0"/>
              </a:spcAft>
            </a:pPr>
            <a:r>
              <a:rPr sz="819" b="0" i="0">
                <a:solidFill>
                  <a:srgbClr val="595959"/>
                </a:solidFill>
                <a:latin typeface="Be Vietnam Pro"/>
              </a:rPr>
              <a:t>sobre campañas</a:t>
            </a:r>
          </a:p>
        </p:txBody>
      </p:sp>
      <p:sp>
        <p:nvSpPr>
          <p:cNvPr id="23" name="Rounded Rectangle 22"/>
          <p:cNvSpPr/>
          <p:nvPr/>
        </p:nvSpPr>
        <p:spPr>
          <a:xfrm>
            <a:off x="6931151" y="2880360"/>
            <a:ext cx="1874519" cy="1481328"/>
          </a:xfrm>
          <a:prstGeom prst="roundRect">
            <a:avLst>
              <a:gd name="adj" fmla="val 8000"/>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1151" y="3154680"/>
            <a:ext cx="1874519" cy="457200"/>
          </a:xfrm>
          <a:prstGeom prst="rect">
            <a:avLst/>
          </a:prstGeom>
          <a:noFill/>
        </p:spPr>
        <p:txBody>
          <a:bodyPr wrap="square" lIns="0" rIns="0" tIns="0" bIns="0" anchor="t">
            <a:spAutoFit/>
          </a:bodyPr>
          <a:lstStyle/>
          <a:p>
            <a:pPr algn="ctr">
              <a:lnSpc>
                <a:spcPct val="115000"/>
              </a:lnSpc>
              <a:spcAft>
                <a:spcPts val="0"/>
              </a:spcAft>
            </a:pPr>
            <a:r>
              <a:rPr sz="2400" b="1" i="0">
                <a:solidFill>
                  <a:srgbClr val="262626"/>
                </a:solidFill>
                <a:latin typeface="Be Vietnam Pro"/>
              </a:rPr>
              <a:t>3,4%</a:t>
            </a:r>
          </a:p>
        </p:txBody>
      </p:sp>
      <p:sp>
        <p:nvSpPr>
          <p:cNvPr id="25" name="TextBox 24"/>
          <p:cNvSpPr txBox="1"/>
          <p:nvPr/>
        </p:nvSpPr>
        <p:spPr>
          <a:xfrm>
            <a:off x="7040879" y="3685032"/>
            <a:ext cx="1655063" cy="548640"/>
          </a:xfrm>
          <a:prstGeom prst="rect">
            <a:avLst/>
          </a:prstGeom>
          <a:noFill/>
        </p:spPr>
        <p:txBody>
          <a:bodyPr wrap="square" lIns="0" rIns="0" tIns="0" bIns="0" anchor="t">
            <a:spAutoFit/>
          </a:bodyPr>
          <a:lstStyle/>
          <a:p>
            <a:pPr algn="ctr">
              <a:lnSpc>
                <a:spcPct val="120000"/>
              </a:lnSpc>
              <a:spcAft>
                <a:spcPts val="0"/>
              </a:spcAft>
            </a:pPr>
            <a:r>
              <a:rPr sz="819" b="0" i="0">
                <a:solidFill>
                  <a:srgbClr val="595959"/>
                </a:solidFill>
                <a:latin typeface="Be Vietnam Pro"/>
              </a:rPr>
              <a:t>click rate promedio</a:t>
            </a:r>
          </a:p>
          <a:p>
            <a:pPr algn="ctr">
              <a:lnSpc>
                <a:spcPct val="120000"/>
              </a:lnSpc>
              <a:spcAft>
                <a:spcPts val="0"/>
              </a:spcAft>
            </a:pPr>
            <a:r>
              <a:rPr sz="819" b="0" i="0">
                <a:solidFill>
                  <a:srgbClr val="595959"/>
                </a:solidFill>
                <a:latin typeface="Be Vietnam Pro"/>
              </a:rPr>
              <a:t>en banca y finanzas</a:t>
            </a:r>
          </a:p>
        </p:txBody>
      </p:sp>
      <p:sp>
        <p:nvSpPr>
          <p:cNvPr id="26" name="TextBox 25"/>
          <p:cNvSpPr txBox="1"/>
          <p:nvPr/>
        </p:nvSpPr>
        <p:spPr>
          <a:xfrm>
            <a:off x="4892040" y="4407408"/>
            <a:ext cx="4023360" cy="228600"/>
          </a:xfrm>
          <a:prstGeom prst="rect">
            <a:avLst/>
          </a:prstGeom>
          <a:noFill/>
        </p:spPr>
        <p:txBody>
          <a:bodyPr wrap="square" lIns="0" rIns="0" tIns="0" bIns="0" anchor="t">
            <a:spAutoFit/>
          </a:bodyPr>
          <a:lstStyle/>
          <a:p>
            <a:pPr algn="l">
              <a:lnSpc>
                <a:spcPct val="115000"/>
              </a:lnSpc>
              <a:spcAft>
                <a:spcPts val="0"/>
              </a:spcAft>
            </a:pPr>
            <a:r>
              <a:rPr sz="700" b="0" i="1">
                <a:solidFill>
                  <a:srgbClr val="7F7F7F"/>
                </a:solidFill>
                <a:latin typeface="Be Vietnam Pro"/>
              </a:rPr>
              <a:t>Fuente: Klaviyo Benchmarks 2026, sobre más de 183.000 cuentas.</a:t>
            </a:r>
          </a:p>
        </p:txBody>
      </p:sp>
      <p:sp>
        <p:nvSpPr>
          <p:cNvPr id="27" name="TextBox 26"/>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28" name="Picture 27"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6" name="TextBox 5"/>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7" name="TextBox 6"/>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8" name="TextBox 7"/>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Social</a:t>
            </a:r>
          </a:p>
        </p:txBody>
      </p:sp>
      <p:sp>
        <p:nvSpPr>
          <p:cNvPr id="9" name="Rectangle 8"/>
          <p:cNvSpPr/>
          <p:nvPr/>
        </p:nvSpPr>
        <p:spPr>
          <a:xfrm>
            <a:off x="5344668" y="498348"/>
            <a:ext cx="52120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TextBox 10"/>
          <p:cNvSpPr txBox="1"/>
          <p:nvPr/>
        </p:nvSpPr>
        <p:spPr>
          <a:xfrm>
            <a:off x="548640" y="804672"/>
            <a:ext cx="8046720" cy="548640"/>
          </a:xfrm>
          <a:prstGeom prst="rect">
            <a:avLst/>
          </a:prstGeom>
          <a:noFill/>
        </p:spPr>
        <p:txBody>
          <a:bodyPr wrap="square" lIns="0" rIns="0" tIns="0" bIns="0" anchor="t">
            <a:spAutoFit/>
          </a:bodyPr>
          <a:lstStyle/>
          <a:p>
            <a:pPr algn="ctr">
              <a:lnSpc>
                <a:spcPct val="115000"/>
              </a:lnSpc>
              <a:spcAft>
                <a:spcPts val="0"/>
              </a:spcAft>
            </a:pPr>
            <a:r>
              <a:rPr sz="2300" b="1" i="0">
                <a:solidFill>
                  <a:srgbClr val="262626"/>
                </a:solidFill>
                <a:latin typeface="Be Vietnam Pro"/>
              </a:rPr>
              <a:t>Engagement en servicios financieros</a:t>
            </a:r>
          </a:p>
        </p:txBody>
      </p:sp>
      <p:sp>
        <p:nvSpPr>
          <p:cNvPr id="12" name="TextBox 11"/>
          <p:cNvSpPr txBox="1"/>
          <p:nvPr/>
        </p:nvSpPr>
        <p:spPr>
          <a:xfrm>
            <a:off x="1097280" y="1298448"/>
            <a:ext cx="6949440" cy="274320"/>
          </a:xfrm>
          <a:prstGeom prst="rect">
            <a:avLst/>
          </a:prstGeom>
          <a:noFill/>
        </p:spPr>
        <p:txBody>
          <a:bodyPr wrap="square" lIns="0" rIns="0" tIns="0" bIns="0" anchor="t">
            <a:spAutoFit/>
          </a:bodyPr>
          <a:lstStyle/>
          <a:p>
            <a:pPr algn="ctr">
              <a:lnSpc>
                <a:spcPct val="115000"/>
              </a:lnSpc>
              <a:spcAft>
                <a:spcPts val="0"/>
              </a:spcAft>
            </a:pPr>
            <a:r>
              <a:rPr sz="950" b="0" i="0">
                <a:solidFill>
                  <a:srgbClr val="7F7F7F"/>
                </a:solidFill>
                <a:latin typeface="Be Vietnam Pro"/>
              </a:rPr>
              <a:t>Fuente: Rival IQ y estudios agregados de benchmarks sociales, 2026</a:t>
            </a:r>
          </a:p>
        </p:txBody>
      </p:sp>
      <p:sp>
        <p:nvSpPr>
          <p:cNvPr id="13" name="Rounded Rectangle 12"/>
          <p:cNvSpPr/>
          <p:nvPr/>
        </p:nvSpPr>
        <p:spPr>
          <a:xfrm>
            <a:off x="91440" y="1700784"/>
            <a:ext cx="8961120" cy="2834640"/>
          </a:xfrm>
          <a:prstGeom prst="roundRect">
            <a:avLst>
              <a:gd name="adj" fmla="val 35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920240"/>
            <a:ext cx="1399032" cy="548640"/>
          </a:xfrm>
          <a:prstGeom prst="rect">
            <a:avLst/>
          </a:prstGeom>
          <a:noFill/>
        </p:spPr>
        <p:txBody>
          <a:bodyPr wrap="square" lIns="0" rIns="0" tIns="0" bIns="0" anchor="t">
            <a:spAutoFit/>
          </a:bodyPr>
          <a:lstStyle/>
          <a:p>
            <a:pPr algn="l">
              <a:lnSpc>
                <a:spcPct val="110000"/>
              </a:lnSpc>
              <a:spcAft>
                <a:spcPts val="0"/>
              </a:spcAft>
            </a:pPr>
            <a:r>
              <a:rPr sz="1150" b="1" i="0">
                <a:solidFill>
                  <a:srgbClr val="FFFFFF"/>
                </a:solidFill>
                <a:latin typeface="Be Vietnam Pro"/>
              </a:rPr>
              <a:t>Instagram · 0,26% - 0,67%</a:t>
            </a:r>
          </a:p>
        </p:txBody>
      </p:sp>
      <p:sp>
        <p:nvSpPr>
          <p:cNvPr id="15" name="TextBox 14"/>
          <p:cNvSpPr txBox="1"/>
          <p:nvPr/>
        </p:nvSpPr>
        <p:spPr>
          <a:xfrm>
            <a:off x="457200" y="2505456"/>
            <a:ext cx="1554480" cy="822960"/>
          </a:xfrm>
          <a:prstGeom prst="rect">
            <a:avLst/>
          </a:prstGeom>
          <a:noFill/>
        </p:spPr>
        <p:txBody>
          <a:bodyPr wrap="square" lIns="0" rIns="0" tIns="0" bIns="0" anchor="t">
            <a:spAutoFit/>
          </a:bodyPr>
          <a:lstStyle/>
          <a:p>
            <a:pPr algn="l">
              <a:lnSpc>
                <a:spcPct val="125000"/>
              </a:lnSpc>
              <a:spcAft>
                <a:spcPts val="0"/>
              </a:spcAft>
            </a:pPr>
            <a:r>
              <a:rPr sz="860" b="0" i="0">
                <a:solidFill>
                  <a:srgbClr val="EEEEEE"/>
                </a:solidFill>
                <a:latin typeface="Be Vietnam Pro"/>
              </a:rPr>
              <a:t>Muy por debajo del promedio general. Educación superior alcanza 2,10% en la misma plataforma.</a:t>
            </a:r>
          </a:p>
        </p:txBody>
      </p:sp>
      <p:sp>
        <p:nvSpPr>
          <p:cNvPr id="16" name="Rectangle 15"/>
          <p:cNvSpPr/>
          <p:nvPr/>
        </p:nvSpPr>
        <p:spPr>
          <a:xfrm>
            <a:off x="1911096" y="1883664"/>
            <a:ext cx="310896" cy="274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00" b="1">
                <a:solidFill>
                  <a:srgbClr val="FFFFFF"/>
                </a:solidFill>
                <a:latin typeface="Be Vietnam Pro"/>
              </a:rPr>
              <a:t>01</a:t>
            </a:r>
          </a:p>
        </p:txBody>
      </p:sp>
      <p:sp>
        <p:nvSpPr>
          <p:cNvPr id="17" name="TextBox 16"/>
          <p:cNvSpPr txBox="1"/>
          <p:nvPr/>
        </p:nvSpPr>
        <p:spPr>
          <a:xfrm>
            <a:off x="2514600" y="1920240"/>
            <a:ext cx="1399032" cy="274320"/>
          </a:xfrm>
          <a:prstGeom prst="rect">
            <a:avLst/>
          </a:prstGeom>
          <a:noFill/>
        </p:spPr>
        <p:txBody>
          <a:bodyPr wrap="square" lIns="0" rIns="0" tIns="0" bIns="0" anchor="t">
            <a:spAutoFit/>
          </a:bodyPr>
          <a:lstStyle/>
          <a:p>
            <a:pPr algn="l">
              <a:lnSpc>
                <a:spcPct val="110000"/>
              </a:lnSpc>
              <a:spcAft>
                <a:spcPts val="0"/>
              </a:spcAft>
            </a:pPr>
            <a:r>
              <a:rPr sz="1150" b="1" i="0">
                <a:solidFill>
                  <a:srgbClr val="FFFFFF"/>
                </a:solidFill>
                <a:latin typeface="Be Vietnam Pro"/>
              </a:rPr>
              <a:t>TikTok · 1,9%</a:t>
            </a:r>
          </a:p>
        </p:txBody>
      </p:sp>
      <p:sp>
        <p:nvSpPr>
          <p:cNvPr id="18" name="TextBox 17"/>
          <p:cNvSpPr txBox="1"/>
          <p:nvPr/>
        </p:nvSpPr>
        <p:spPr>
          <a:xfrm>
            <a:off x="2514600" y="2304288"/>
            <a:ext cx="1554480" cy="822960"/>
          </a:xfrm>
          <a:prstGeom prst="rect">
            <a:avLst/>
          </a:prstGeom>
          <a:noFill/>
        </p:spPr>
        <p:txBody>
          <a:bodyPr wrap="square" lIns="0" rIns="0" tIns="0" bIns="0" anchor="t">
            <a:spAutoFit/>
          </a:bodyPr>
          <a:lstStyle/>
          <a:p>
            <a:pPr algn="l">
              <a:lnSpc>
                <a:spcPct val="125000"/>
              </a:lnSpc>
              <a:spcAft>
                <a:spcPts val="0"/>
              </a:spcAft>
            </a:pPr>
            <a:r>
              <a:rPr sz="860" b="0" i="0">
                <a:solidFill>
                  <a:srgbClr val="EEEEEE"/>
                </a:solidFill>
                <a:latin typeface="Be Vietnam Pro"/>
              </a:rPr>
              <a:t>Entre 3 y 10 veces el rendimiento de Instagram en prácticamente toda industria medida.</a:t>
            </a:r>
          </a:p>
        </p:txBody>
      </p:sp>
      <p:sp>
        <p:nvSpPr>
          <p:cNvPr id="19" name="Rectangle 18"/>
          <p:cNvSpPr/>
          <p:nvPr/>
        </p:nvSpPr>
        <p:spPr>
          <a:xfrm>
            <a:off x="3968496" y="1883664"/>
            <a:ext cx="310896" cy="274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00" b="1">
                <a:solidFill>
                  <a:srgbClr val="FFFFFF"/>
                </a:solidFill>
                <a:latin typeface="Be Vietnam Pro"/>
              </a:rPr>
              <a:t>02</a:t>
            </a:r>
          </a:p>
        </p:txBody>
      </p:sp>
      <p:sp>
        <p:nvSpPr>
          <p:cNvPr id="20" name="TextBox 19"/>
          <p:cNvSpPr txBox="1"/>
          <p:nvPr/>
        </p:nvSpPr>
        <p:spPr>
          <a:xfrm>
            <a:off x="4572000" y="1920240"/>
            <a:ext cx="1399032" cy="548640"/>
          </a:xfrm>
          <a:prstGeom prst="rect">
            <a:avLst/>
          </a:prstGeom>
          <a:noFill/>
        </p:spPr>
        <p:txBody>
          <a:bodyPr wrap="square" lIns="0" rIns="0" tIns="0" bIns="0" anchor="t">
            <a:spAutoFit/>
          </a:bodyPr>
          <a:lstStyle/>
          <a:p>
            <a:pPr algn="l">
              <a:lnSpc>
                <a:spcPct val="110000"/>
              </a:lnSpc>
              <a:spcAft>
                <a:spcPts val="0"/>
              </a:spcAft>
            </a:pPr>
            <a:r>
              <a:rPr sz="1150" b="1" i="0">
                <a:solidFill>
                  <a:srgbClr val="FFFFFF"/>
                </a:solidFill>
                <a:latin typeface="Be Vietnam Pro"/>
              </a:rPr>
              <a:t>Facebook · en retroceso</a:t>
            </a:r>
          </a:p>
        </p:txBody>
      </p:sp>
      <p:sp>
        <p:nvSpPr>
          <p:cNvPr id="21" name="TextBox 20"/>
          <p:cNvSpPr txBox="1"/>
          <p:nvPr/>
        </p:nvSpPr>
        <p:spPr>
          <a:xfrm>
            <a:off x="4572000" y="2505456"/>
            <a:ext cx="1554480" cy="822960"/>
          </a:xfrm>
          <a:prstGeom prst="rect">
            <a:avLst/>
          </a:prstGeom>
          <a:noFill/>
        </p:spPr>
        <p:txBody>
          <a:bodyPr wrap="square" lIns="0" rIns="0" tIns="0" bIns="0" anchor="t">
            <a:spAutoFit/>
          </a:bodyPr>
          <a:lstStyle/>
          <a:p>
            <a:pPr algn="l">
              <a:lnSpc>
                <a:spcPct val="125000"/>
              </a:lnSpc>
              <a:spcAft>
                <a:spcPts val="0"/>
              </a:spcAft>
            </a:pPr>
            <a:r>
              <a:rPr sz="860" b="0" i="0">
                <a:solidFill>
                  <a:srgbClr val="EEEEEE"/>
                </a:solidFill>
                <a:latin typeface="Be Vietnam Pro"/>
              </a:rPr>
              <a:t>El sector registra crecimiento negativo de seguidores, -0,61% semanal.</a:t>
            </a:r>
          </a:p>
        </p:txBody>
      </p:sp>
      <p:sp>
        <p:nvSpPr>
          <p:cNvPr id="22" name="Rectangle 21"/>
          <p:cNvSpPr/>
          <p:nvPr/>
        </p:nvSpPr>
        <p:spPr>
          <a:xfrm>
            <a:off x="6025896" y="1883664"/>
            <a:ext cx="310896" cy="274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00" b="1">
                <a:solidFill>
                  <a:srgbClr val="FFFFFF"/>
                </a:solidFill>
                <a:latin typeface="Be Vietnam Pro"/>
              </a:rPr>
              <a:t>03</a:t>
            </a:r>
          </a:p>
        </p:txBody>
      </p:sp>
      <p:sp>
        <p:nvSpPr>
          <p:cNvPr id="23" name="TextBox 22"/>
          <p:cNvSpPr txBox="1"/>
          <p:nvPr/>
        </p:nvSpPr>
        <p:spPr>
          <a:xfrm>
            <a:off x="6629400" y="1920240"/>
            <a:ext cx="1399032" cy="548640"/>
          </a:xfrm>
          <a:prstGeom prst="rect">
            <a:avLst/>
          </a:prstGeom>
          <a:noFill/>
        </p:spPr>
        <p:txBody>
          <a:bodyPr wrap="square" lIns="0" rIns="0" tIns="0" bIns="0" anchor="t">
            <a:spAutoFit/>
          </a:bodyPr>
          <a:lstStyle/>
          <a:p>
            <a:pPr algn="l">
              <a:lnSpc>
                <a:spcPct val="110000"/>
              </a:lnSpc>
              <a:spcAft>
                <a:spcPts val="0"/>
              </a:spcAft>
            </a:pPr>
            <a:r>
              <a:rPr sz="1150" b="1" i="0">
                <a:solidFill>
                  <a:srgbClr val="FFFFFF"/>
                </a:solidFill>
                <a:latin typeface="Be Vietnam Pro"/>
              </a:rPr>
              <a:t>El objetivo correcto</a:t>
            </a:r>
          </a:p>
        </p:txBody>
      </p:sp>
      <p:sp>
        <p:nvSpPr>
          <p:cNvPr id="24" name="TextBox 23"/>
          <p:cNvSpPr txBox="1"/>
          <p:nvPr/>
        </p:nvSpPr>
        <p:spPr>
          <a:xfrm>
            <a:off x="6629400" y="2505456"/>
            <a:ext cx="1554480" cy="822960"/>
          </a:xfrm>
          <a:prstGeom prst="rect">
            <a:avLst/>
          </a:prstGeom>
          <a:noFill/>
        </p:spPr>
        <p:txBody>
          <a:bodyPr wrap="square" lIns="0" rIns="0" tIns="0" bIns="0" anchor="t">
            <a:spAutoFit/>
          </a:bodyPr>
          <a:lstStyle/>
          <a:p>
            <a:pPr algn="l">
              <a:lnSpc>
                <a:spcPct val="125000"/>
              </a:lnSpc>
              <a:spcAft>
                <a:spcPts val="0"/>
              </a:spcAft>
            </a:pPr>
            <a:r>
              <a:rPr sz="860" b="0" i="0">
                <a:solidFill>
                  <a:srgbClr val="EEEEEE"/>
                </a:solidFill>
                <a:latin typeface="Be Vietnam Pro"/>
              </a:rPr>
              <a:t>Con tasas estructuralmente bajas, prometer crecimiento de comunidad sería vender una métrica que la industria no entrega. El rol del contenido es reducir desconfianza y explicar el proceso.</a:t>
            </a:r>
          </a:p>
        </p:txBody>
      </p:sp>
      <p:sp>
        <p:nvSpPr>
          <p:cNvPr id="25" name="Rectangle 24"/>
          <p:cNvSpPr/>
          <p:nvPr/>
        </p:nvSpPr>
        <p:spPr>
          <a:xfrm>
            <a:off x="8083296" y="1883664"/>
            <a:ext cx="310896" cy="274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00" b="1">
                <a:solidFill>
                  <a:srgbClr val="FFFFFF"/>
                </a:solidFill>
                <a:latin typeface="Be Vietnam Pro"/>
              </a:rPr>
              <a:t>04</a:t>
            </a:r>
          </a:p>
        </p:txBody>
      </p:sp>
      <p:sp>
        <p:nvSpPr>
          <p:cNvPr id="26" name="TextBox 25"/>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27" name="Picture 26"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6" name="TextBox 5"/>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Paid Media</a:t>
            </a:r>
          </a:p>
        </p:txBody>
      </p:sp>
      <p:sp>
        <p:nvSpPr>
          <p:cNvPr id="7" name="Rectangle 6"/>
          <p:cNvSpPr/>
          <p:nvPr/>
        </p:nvSpPr>
        <p:spPr>
          <a:xfrm>
            <a:off x="3634740" y="498348"/>
            <a:ext cx="79552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sp>
        <p:nvSpPr>
          <p:cNvPr id="11" name="Rectangle 10"/>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822960"/>
            <a:ext cx="7863840" cy="54864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Arquitectura de palabras clave</a:t>
            </a:r>
          </a:p>
        </p:txBody>
      </p:sp>
      <p:sp>
        <p:nvSpPr>
          <p:cNvPr id="13" name="TextBox 12"/>
          <p:cNvSpPr txBox="1"/>
          <p:nvPr/>
        </p:nvSpPr>
        <p:spPr>
          <a:xfrm>
            <a:off x="658368" y="1481328"/>
            <a:ext cx="7772400" cy="457200"/>
          </a:xfrm>
          <a:prstGeom prst="rect">
            <a:avLst/>
          </a:prstGeom>
          <a:noFill/>
        </p:spPr>
        <p:txBody>
          <a:bodyPr wrap="square" lIns="0" rIns="0" tIns="0" bIns="0" anchor="t">
            <a:spAutoFit/>
          </a:bodyPr>
          <a:lstStyle/>
          <a:p>
            <a:pPr algn="l">
              <a:lnSpc>
                <a:spcPct val="130000"/>
              </a:lnSpc>
              <a:spcAft>
                <a:spcPts val="0"/>
              </a:spcAft>
            </a:pPr>
            <a:r>
              <a:rPr sz="950" b="0" i="0">
                <a:solidFill>
                  <a:srgbClr val="7F7F7F"/>
                </a:solidFill>
                <a:latin typeface="Be Vietnam Pro"/>
              </a:rPr>
              <a:t>Sin acceso a la cuenta no es posible entregar volúmenes reales. Se propone la estructura, lista para dimensionar con Keyword Planner en la primera semana.</a:t>
            </a:r>
          </a:p>
        </p:txBody>
      </p:sp>
      <p:sp>
        <p:nvSpPr>
          <p:cNvPr id="14" name="TextBox 13"/>
          <p:cNvSpPr txBox="1"/>
          <p:nvPr/>
        </p:nvSpPr>
        <p:spPr>
          <a:xfrm>
            <a:off x="658368" y="1956816"/>
            <a:ext cx="7772400" cy="2926080"/>
          </a:xfrm>
          <a:prstGeom prst="rect">
            <a:avLst/>
          </a:prstGeom>
          <a:noFill/>
        </p:spPr>
        <p:txBody>
          <a:bodyPr wrap="square" lIns="0" rIns="0" tIns="0" bIns="0">
            <a:spAutoFit/>
          </a:bodyPr>
          <a:lstStyle/>
          <a:p>
            <a:pPr>
              <a:lnSpc>
                <a:spcPct val="125000"/>
              </a:lnSpc>
              <a:spcAft>
                <a:spcPts val="600"/>
              </a:spcAft>
            </a:pPr>
            <a:r>
              <a:rPr sz="950" b="1">
                <a:solidFill>
                  <a:srgbClr val="262626"/>
                </a:solidFill>
                <a:latin typeface="Be Vietnam Pro"/>
              </a:rPr>
              <a:t>•  </a:t>
            </a:r>
            <a:r>
              <a:rPr sz="950" b="1">
                <a:solidFill>
                  <a:srgbClr val="262626"/>
                </a:solidFill>
                <a:latin typeface="Be Vietnam Pro"/>
              </a:rPr>
              <a:t>Grupo Marca. </a:t>
            </a:r>
            <a:r>
              <a:rPr sz="950">
                <a:solidFill>
                  <a:srgbClr val="7F7F7F"/>
                </a:solidFill>
                <a:latin typeface="Be Vietnam Pro"/>
              </a:rPr>
              <a:t>dale coopeuch · credito dale coopeuch · credito digital dale. Prioridad alta, costo bajo, rol defensivo.</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Grupo Genérico Crédito. </a:t>
            </a:r>
            <a:r>
              <a:rPr sz="950">
                <a:solidFill>
                  <a:srgbClr val="7F7F7F"/>
                </a:solidFill>
                <a:latin typeface="Be Vietnam Pro"/>
              </a:rPr>
              <a:t>credito de consumo online · solicitar credito online · credito sin ir al banco · simular credito de consumo. Prioridad alta, costo alto.</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Grupo Inclusión Financiera. </a:t>
            </a:r>
            <a:r>
              <a:rPr sz="950">
                <a:solidFill>
                  <a:srgbClr val="7F7F7F"/>
                </a:solidFill>
                <a:latin typeface="Be Vietnam Pro"/>
              </a:rPr>
              <a:t>credito para independientes · credito sin liquidacion de sueldo · credito para trabajadores a honorarios. El grupo diferencial de la cuenta.</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Negativas obligatorias. </a:t>
            </a:r>
            <a:r>
              <a:rPr sz="950">
                <a:solidFill>
                  <a:srgbClr val="7F7F7F"/>
                </a:solidFill>
                <a:latin typeface="Be Vietnam Pro"/>
              </a:rPr>
              <a:t>hipotecario y automotriz · informacionales puras · búsqueda de empleo · gestión de cuenta existente · términos de riesgo reputacional.</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Criterio de estructura. </a:t>
            </a:r>
            <a:r>
              <a:rPr sz="950">
                <a:solidFill>
                  <a:srgbClr val="7F7F7F"/>
                </a:solidFill>
                <a:latin typeface="Be Vietnam Pro"/>
              </a:rPr>
              <a:t>Un grupo por intención, no por producto. Cada uno requiere mensaje y landing distintos.</a:t>
            </a:r>
          </a:p>
        </p:txBody>
      </p:sp>
      <p:sp>
        <p:nvSpPr>
          <p:cNvPr id="15" name="TextBox 14"/>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6" name="Picture 15"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9144000" cy="2747772"/>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5" name="TextBox 4"/>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6" name="TextBox 5"/>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Inversión</a:t>
            </a:r>
          </a:p>
        </p:txBody>
      </p:sp>
      <p:sp>
        <p:nvSpPr>
          <p:cNvPr id="11" name="Rectangle 10"/>
          <p:cNvSpPr/>
          <p:nvPr/>
        </p:nvSpPr>
        <p:spPr>
          <a:xfrm>
            <a:off x="5993892" y="498348"/>
            <a:ext cx="72694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749808"/>
            <a:ext cx="8046720" cy="548640"/>
          </a:xfrm>
          <a:prstGeom prst="rect">
            <a:avLst/>
          </a:prstGeom>
          <a:noFill/>
        </p:spPr>
        <p:txBody>
          <a:bodyPr wrap="square" lIns="0" rIns="0" tIns="0" bIns="0" anchor="t">
            <a:spAutoFit/>
          </a:bodyPr>
          <a:lstStyle/>
          <a:p>
            <a:pPr algn="ctr">
              <a:lnSpc>
                <a:spcPct val="115000"/>
              </a:lnSpc>
              <a:spcAft>
                <a:spcPts val="0"/>
              </a:spcAft>
            </a:pPr>
            <a:r>
              <a:rPr sz="2400" b="1" i="0">
                <a:solidFill>
                  <a:srgbClr val="262626"/>
                </a:solidFill>
                <a:latin typeface="Be Vietnam Pro"/>
              </a:rPr>
              <a:t>Modelo de inversión</a:t>
            </a:r>
          </a:p>
        </p:txBody>
      </p:sp>
      <p:sp>
        <p:nvSpPr>
          <p:cNvPr id="13" name="TextBox 12"/>
          <p:cNvSpPr txBox="1"/>
          <p:nvPr/>
        </p:nvSpPr>
        <p:spPr>
          <a:xfrm>
            <a:off x="914400" y="1207008"/>
            <a:ext cx="7315200" cy="274320"/>
          </a:xfrm>
          <a:prstGeom prst="rect">
            <a:avLst/>
          </a:prstGeom>
          <a:noFill/>
        </p:spPr>
        <p:txBody>
          <a:bodyPr wrap="square" lIns="0" rIns="0" tIns="0" bIns="0" anchor="t">
            <a:spAutoFit/>
          </a:bodyPr>
          <a:lstStyle/>
          <a:p>
            <a:pPr algn="ctr">
              <a:lnSpc>
                <a:spcPct val="115000"/>
              </a:lnSpc>
              <a:spcAft>
                <a:spcPts val="0"/>
              </a:spcAft>
            </a:pPr>
            <a:r>
              <a:rPr sz="950" b="0" i="0">
                <a:solidFill>
                  <a:srgbClr val="7F7F7F"/>
                </a:solidFill>
                <a:latin typeface="Be Vietnam Pro"/>
              </a:rPr>
              <a:t>Construido de abajo hacia arriba desde el costo por clic triangulado. Escenario de $3.500.000 CLP mensuales.</a:t>
            </a:r>
          </a:p>
        </p:txBody>
      </p:sp>
      <p:sp>
        <p:nvSpPr>
          <p:cNvPr id="14" name="Rounded Rectangle 13"/>
          <p:cNvSpPr/>
          <p:nvPr/>
        </p:nvSpPr>
        <p:spPr>
          <a:xfrm>
            <a:off x="502920" y="1664208"/>
            <a:ext cx="1938528"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874519"/>
            <a:ext cx="1938528" cy="411480"/>
          </a:xfrm>
          <a:prstGeom prst="rect">
            <a:avLst/>
          </a:prstGeom>
          <a:noFill/>
        </p:spPr>
        <p:txBody>
          <a:bodyPr wrap="square" lIns="0" rIns="0" tIns="0" bIns="0" anchor="t">
            <a:spAutoFit/>
          </a:bodyPr>
          <a:lstStyle/>
          <a:p>
            <a:pPr algn="ctr">
              <a:lnSpc>
                <a:spcPct val="115000"/>
              </a:lnSpc>
              <a:spcAft>
                <a:spcPts val="0"/>
              </a:spcAft>
            </a:pPr>
            <a:r>
              <a:rPr sz="2100" b="1" i="0">
                <a:solidFill>
                  <a:srgbClr val="262626"/>
                </a:solidFill>
                <a:latin typeface="Be Vietnam Pro"/>
              </a:rPr>
              <a:t>~2.970</a:t>
            </a:r>
          </a:p>
        </p:txBody>
      </p:sp>
      <p:sp>
        <p:nvSpPr>
          <p:cNvPr id="16" name="TextBox 15"/>
          <p:cNvSpPr txBox="1"/>
          <p:nvPr/>
        </p:nvSpPr>
        <p:spPr>
          <a:xfrm>
            <a:off x="594360" y="2377440"/>
            <a:ext cx="1755648" cy="457200"/>
          </a:xfrm>
          <a:prstGeom prst="rect">
            <a:avLst/>
          </a:prstGeom>
          <a:noFill/>
        </p:spPr>
        <p:txBody>
          <a:bodyPr wrap="square" lIns="0" rIns="0" tIns="0" bIns="0" anchor="t">
            <a:spAutoFit/>
          </a:bodyPr>
          <a:lstStyle/>
          <a:p>
            <a:pPr algn="ctr">
              <a:lnSpc>
                <a:spcPct val="120000"/>
              </a:lnSpc>
              <a:spcAft>
                <a:spcPts val="0"/>
              </a:spcAft>
            </a:pPr>
            <a:r>
              <a:rPr sz="850" b="0" i="0">
                <a:solidFill>
                  <a:srgbClr val="595959"/>
                </a:solidFill>
                <a:latin typeface="Be Vietnam Pro"/>
              </a:rPr>
              <a:t>clics</a:t>
            </a:r>
          </a:p>
          <a:p>
            <a:pPr algn="ctr">
              <a:lnSpc>
                <a:spcPct val="120000"/>
              </a:lnSpc>
              <a:spcAft>
                <a:spcPts val="0"/>
              </a:spcAft>
            </a:pPr>
            <a:r>
              <a:rPr sz="850" b="0" i="0">
                <a:solidFill>
                  <a:srgbClr val="595959"/>
                </a:solidFill>
                <a:latin typeface="Be Vietnam Pro"/>
              </a:rPr>
              <a:t>estimados</a:t>
            </a:r>
          </a:p>
        </p:txBody>
      </p:sp>
      <p:sp>
        <p:nvSpPr>
          <p:cNvPr id="17" name="Rounded Rectangle 16"/>
          <p:cNvSpPr/>
          <p:nvPr/>
        </p:nvSpPr>
        <p:spPr>
          <a:xfrm>
            <a:off x="2587751" y="1664208"/>
            <a:ext cx="1938528"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7751" y="1874519"/>
            <a:ext cx="1938528" cy="411480"/>
          </a:xfrm>
          <a:prstGeom prst="rect">
            <a:avLst/>
          </a:prstGeom>
          <a:noFill/>
        </p:spPr>
        <p:txBody>
          <a:bodyPr wrap="square" lIns="0" rIns="0" tIns="0" bIns="0" anchor="t">
            <a:spAutoFit/>
          </a:bodyPr>
          <a:lstStyle/>
          <a:p>
            <a:pPr algn="ctr">
              <a:lnSpc>
                <a:spcPct val="115000"/>
              </a:lnSpc>
              <a:spcAft>
                <a:spcPts val="0"/>
              </a:spcAft>
            </a:pPr>
            <a:r>
              <a:rPr sz="2100" b="1" i="0">
                <a:solidFill>
                  <a:srgbClr val="262626"/>
                </a:solidFill>
                <a:latin typeface="Be Vietnam Pro"/>
              </a:rPr>
              <a:t>~678</a:t>
            </a:r>
          </a:p>
        </p:txBody>
      </p:sp>
      <p:sp>
        <p:nvSpPr>
          <p:cNvPr id="19" name="TextBox 18"/>
          <p:cNvSpPr txBox="1"/>
          <p:nvPr/>
        </p:nvSpPr>
        <p:spPr>
          <a:xfrm>
            <a:off x="2679191" y="2377440"/>
            <a:ext cx="1755648" cy="457200"/>
          </a:xfrm>
          <a:prstGeom prst="rect">
            <a:avLst/>
          </a:prstGeom>
          <a:noFill/>
        </p:spPr>
        <p:txBody>
          <a:bodyPr wrap="square" lIns="0" rIns="0" tIns="0" bIns="0" anchor="t">
            <a:spAutoFit/>
          </a:bodyPr>
          <a:lstStyle/>
          <a:p>
            <a:pPr algn="ctr">
              <a:lnSpc>
                <a:spcPct val="120000"/>
              </a:lnSpc>
              <a:spcAft>
                <a:spcPts val="0"/>
              </a:spcAft>
            </a:pPr>
            <a:r>
              <a:rPr sz="850" b="0" i="0">
                <a:solidFill>
                  <a:srgbClr val="595959"/>
                </a:solidFill>
                <a:latin typeface="Be Vietnam Pro"/>
              </a:rPr>
              <a:t>conversaciones</a:t>
            </a:r>
          </a:p>
          <a:p>
            <a:pPr algn="ctr">
              <a:lnSpc>
                <a:spcPct val="120000"/>
              </a:lnSpc>
              <a:spcAft>
                <a:spcPts val="0"/>
              </a:spcAft>
            </a:pPr>
            <a:r>
              <a:rPr sz="850" b="0" i="0">
                <a:solidFill>
                  <a:srgbClr val="595959"/>
                </a:solidFill>
                <a:latin typeface="Be Vietnam Pro"/>
              </a:rPr>
              <a:t>iniciadas</a:t>
            </a:r>
          </a:p>
        </p:txBody>
      </p:sp>
      <p:sp>
        <p:nvSpPr>
          <p:cNvPr id="20" name="Rounded Rectangle 19"/>
          <p:cNvSpPr/>
          <p:nvPr/>
        </p:nvSpPr>
        <p:spPr>
          <a:xfrm>
            <a:off x="4672582" y="1664208"/>
            <a:ext cx="1938528"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72582" y="1874519"/>
            <a:ext cx="1938528" cy="411480"/>
          </a:xfrm>
          <a:prstGeom prst="rect">
            <a:avLst/>
          </a:prstGeom>
          <a:noFill/>
        </p:spPr>
        <p:txBody>
          <a:bodyPr wrap="square" lIns="0" rIns="0" tIns="0" bIns="0" anchor="t">
            <a:spAutoFit/>
          </a:bodyPr>
          <a:lstStyle/>
          <a:p>
            <a:pPr algn="ctr">
              <a:lnSpc>
                <a:spcPct val="115000"/>
              </a:lnSpc>
              <a:spcAft>
                <a:spcPts val="0"/>
              </a:spcAft>
            </a:pPr>
            <a:r>
              <a:rPr sz="2100" b="1" i="0">
                <a:solidFill>
                  <a:srgbClr val="262626"/>
                </a:solidFill>
                <a:latin typeface="Be Vietnam Pro"/>
              </a:rPr>
              <a:t>~237</a:t>
            </a:r>
          </a:p>
        </p:txBody>
      </p:sp>
      <p:sp>
        <p:nvSpPr>
          <p:cNvPr id="22" name="TextBox 21"/>
          <p:cNvSpPr txBox="1"/>
          <p:nvPr/>
        </p:nvSpPr>
        <p:spPr>
          <a:xfrm>
            <a:off x="4764022" y="2377440"/>
            <a:ext cx="1755648" cy="457200"/>
          </a:xfrm>
          <a:prstGeom prst="rect">
            <a:avLst/>
          </a:prstGeom>
          <a:noFill/>
        </p:spPr>
        <p:txBody>
          <a:bodyPr wrap="square" lIns="0" rIns="0" tIns="0" bIns="0" anchor="t">
            <a:spAutoFit/>
          </a:bodyPr>
          <a:lstStyle/>
          <a:p>
            <a:pPr algn="ctr">
              <a:lnSpc>
                <a:spcPct val="120000"/>
              </a:lnSpc>
              <a:spcAft>
                <a:spcPts val="0"/>
              </a:spcAft>
            </a:pPr>
            <a:r>
              <a:rPr sz="850" b="0" i="0">
                <a:solidFill>
                  <a:srgbClr val="595959"/>
                </a:solidFill>
                <a:latin typeface="Be Vietnam Pro"/>
              </a:rPr>
              <a:t>prospectos</a:t>
            </a:r>
          </a:p>
          <a:p>
            <a:pPr algn="ctr">
              <a:lnSpc>
                <a:spcPct val="120000"/>
              </a:lnSpc>
              <a:spcAft>
                <a:spcPts val="0"/>
              </a:spcAft>
            </a:pPr>
            <a:r>
              <a:rPr sz="850" b="0" i="0">
                <a:solidFill>
                  <a:srgbClr val="595959"/>
                </a:solidFill>
                <a:latin typeface="Be Vietnam Pro"/>
              </a:rPr>
              <a:t>calificados</a:t>
            </a:r>
          </a:p>
        </p:txBody>
      </p:sp>
      <p:sp>
        <p:nvSpPr>
          <p:cNvPr id="23" name="Rounded Rectangle 22"/>
          <p:cNvSpPr/>
          <p:nvPr/>
        </p:nvSpPr>
        <p:spPr>
          <a:xfrm>
            <a:off x="6757413" y="1664208"/>
            <a:ext cx="1938528" cy="1298448"/>
          </a:xfrm>
          <a:prstGeom prst="roundRect">
            <a:avLst>
              <a:gd name="adj" fmla="val 9000"/>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7413" y="1874519"/>
            <a:ext cx="1938528" cy="411480"/>
          </a:xfrm>
          <a:prstGeom prst="rect">
            <a:avLst/>
          </a:prstGeom>
          <a:noFill/>
        </p:spPr>
        <p:txBody>
          <a:bodyPr wrap="square" lIns="0" rIns="0" tIns="0" bIns="0" anchor="t">
            <a:spAutoFit/>
          </a:bodyPr>
          <a:lstStyle/>
          <a:p>
            <a:pPr algn="ctr">
              <a:lnSpc>
                <a:spcPct val="115000"/>
              </a:lnSpc>
              <a:spcAft>
                <a:spcPts val="0"/>
              </a:spcAft>
            </a:pPr>
            <a:r>
              <a:rPr sz="2100" b="1" i="0">
                <a:solidFill>
                  <a:srgbClr val="FFFFFF"/>
                </a:solidFill>
                <a:latin typeface="Be Vietnam Pro"/>
              </a:rPr>
              <a:t>~47</a:t>
            </a:r>
          </a:p>
        </p:txBody>
      </p:sp>
      <p:sp>
        <p:nvSpPr>
          <p:cNvPr id="25" name="TextBox 24"/>
          <p:cNvSpPr txBox="1"/>
          <p:nvPr/>
        </p:nvSpPr>
        <p:spPr>
          <a:xfrm>
            <a:off x="6848853" y="2377440"/>
            <a:ext cx="1755648" cy="457200"/>
          </a:xfrm>
          <a:prstGeom prst="rect">
            <a:avLst/>
          </a:prstGeom>
          <a:noFill/>
        </p:spPr>
        <p:txBody>
          <a:bodyPr wrap="square" lIns="0" rIns="0" tIns="0" bIns="0" anchor="t">
            <a:spAutoFit/>
          </a:bodyPr>
          <a:lstStyle/>
          <a:p>
            <a:pPr algn="ctr">
              <a:lnSpc>
                <a:spcPct val="120000"/>
              </a:lnSpc>
              <a:spcAft>
                <a:spcPts val="0"/>
              </a:spcAft>
            </a:pPr>
            <a:r>
              <a:rPr sz="850" b="0" i="0">
                <a:solidFill>
                  <a:srgbClr val="FFFFFF"/>
                </a:solidFill>
                <a:latin typeface="Be Vietnam Pro"/>
              </a:rPr>
              <a:t>cursos</a:t>
            </a:r>
          </a:p>
          <a:p>
            <a:pPr algn="ctr">
              <a:lnSpc>
                <a:spcPct val="120000"/>
              </a:lnSpc>
              <a:spcAft>
                <a:spcPts val="0"/>
              </a:spcAft>
            </a:pPr>
            <a:r>
              <a:rPr sz="850" b="0" i="0">
                <a:solidFill>
                  <a:srgbClr val="FFFFFF"/>
                </a:solidFill>
                <a:latin typeface="Be Vietnam Pro"/>
              </a:rPr>
              <a:t>estimados</a:t>
            </a:r>
          </a:p>
        </p:txBody>
      </p:sp>
      <p:sp>
        <p:nvSpPr>
          <p:cNvPr id="26" name="TextBox 25"/>
          <p:cNvSpPr txBox="1"/>
          <p:nvPr/>
        </p:nvSpPr>
        <p:spPr>
          <a:xfrm>
            <a:off x="1417320" y="3310128"/>
            <a:ext cx="3108960" cy="457200"/>
          </a:xfrm>
          <a:prstGeom prst="rect">
            <a:avLst/>
          </a:prstGeom>
          <a:noFill/>
        </p:spPr>
        <p:txBody>
          <a:bodyPr wrap="square" lIns="0" rIns="0" tIns="0" bIns="0" anchor="t">
            <a:spAutoFit/>
          </a:bodyPr>
          <a:lstStyle/>
          <a:p>
            <a:pPr algn="ctr">
              <a:lnSpc>
                <a:spcPct val="115000"/>
              </a:lnSpc>
              <a:spcAft>
                <a:spcPts val="0"/>
              </a:spcAft>
            </a:pPr>
            <a:r>
              <a:rPr sz="2200" b="1" i="0">
                <a:solidFill>
                  <a:srgbClr val="E57000"/>
                </a:solidFill>
                <a:latin typeface="Be Vietnam Pro"/>
              </a:rPr>
              <a:t>~$14.800 CLP</a:t>
            </a:r>
          </a:p>
        </p:txBody>
      </p:sp>
      <p:sp>
        <p:nvSpPr>
          <p:cNvPr id="27" name="TextBox 26"/>
          <p:cNvSpPr txBox="1"/>
          <p:nvPr/>
        </p:nvSpPr>
        <p:spPr>
          <a:xfrm>
            <a:off x="1417320" y="3785615"/>
            <a:ext cx="3108960" cy="274320"/>
          </a:xfrm>
          <a:prstGeom prst="rect">
            <a:avLst/>
          </a:prstGeom>
          <a:noFill/>
        </p:spPr>
        <p:txBody>
          <a:bodyPr wrap="square" lIns="0" rIns="0" tIns="0" bIns="0" anchor="t">
            <a:spAutoFit/>
          </a:bodyPr>
          <a:lstStyle/>
          <a:p>
            <a:pPr algn="ctr">
              <a:lnSpc>
                <a:spcPct val="115000"/>
              </a:lnSpc>
              <a:spcAft>
                <a:spcPts val="0"/>
              </a:spcAft>
            </a:pPr>
            <a:r>
              <a:rPr sz="950" b="0" i="0">
                <a:solidFill>
                  <a:srgbClr val="FFFFFF"/>
                </a:solidFill>
                <a:latin typeface="Be Vietnam Pro"/>
              </a:rPr>
              <a:t>Costo por prospecto calificado</a:t>
            </a:r>
          </a:p>
        </p:txBody>
      </p:sp>
      <p:sp>
        <p:nvSpPr>
          <p:cNvPr id="28" name="TextBox 27"/>
          <p:cNvSpPr txBox="1"/>
          <p:nvPr/>
        </p:nvSpPr>
        <p:spPr>
          <a:xfrm>
            <a:off x="4617720" y="3310128"/>
            <a:ext cx="3108960" cy="457200"/>
          </a:xfrm>
          <a:prstGeom prst="rect">
            <a:avLst/>
          </a:prstGeom>
          <a:noFill/>
        </p:spPr>
        <p:txBody>
          <a:bodyPr wrap="square" lIns="0" rIns="0" tIns="0" bIns="0" anchor="t">
            <a:spAutoFit/>
          </a:bodyPr>
          <a:lstStyle/>
          <a:p>
            <a:pPr algn="ctr">
              <a:lnSpc>
                <a:spcPct val="115000"/>
              </a:lnSpc>
              <a:spcAft>
                <a:spcPts val="0"/>
              </a:spcAft>
            </a:pPr>
            <a:r>
              <a:rPr sz="2200" b="1" i="0">
                <a:solidFill>
                  <a:srgbClr val="E57000"/>
                </a:solidFill>
                <a:latin typeface="Be Vietnam Pro"/>
              </a:rPr>
              <a:t>~$74.500 CLP</a:t>
            </a:r>
          </a:p>
        </p:txBody>
      </p:sp>
      <p:sp>
        <p:nvSpPr>
          <p:cNvPr id="29" name="TextBox 28"/>
          <p:cNvSpPr txBox="1"/>
          <p:nvPr/>
        </p:nvSpPr>
        <p:spPr>
          <a:xfrm>
            <a:off x="4617720" y="3785615"/>
            <a:ext cx="3108960" cy="274320"/>
          </a:xfrm>
          <a:prstGeom prst="rect">
            <a:avLst/>
          </a:prstGeom>
          <a:noFill/>
        </p:spPr>
        <p:txBody>
          <a:bodyPr wrap="square" lIns="0" rIns="0" tIns="0" bIns="0" anchor="t">
            <a:spAutoFit/>
          </a:bodyPr>
          <a:lstStyle/>
          <a:p>
            <a:pPr algn="ctr">
              <a:lnSpc>
                <a:spcPct val="115000"/>
              </a:lnSpc>
              <a:spcAft>
                <a:spcPts val="0"/>
              </a:spcAft>
            </a:pPr>
            <a:r>
              <a:rPr sz="950" b="0" i="0">
                <a:solidFill>
                  <a:srgbClr val="FFFFFF"/>
                </a:solidFill>
                <a:latin typeface="Be Vietnam Pro"/>
              </a:rPr>
              <a:t>Costo por curse</a:t>
            </a:r>
          </a:p>
        </p:txBody>
      </p:sp>
      <p:sp>
        <p:nvSpPr>
          <p:cNvPr id="30" name="TextBox 29"/>
          <p:cNvSpPr txBox="1"/>
          <p:nvPr/>
        </p:nvSpPr>
        <p:spPr>
          <a:xfrm>
            <a:off x="548640" y="4224528"/>
            <a:ext cx="8046720" cy="365760"/>
          </a:xfrm>
          <a:prstGeom prst="rect">
            <a:avLst/>
          </a:prstGeom>
          <a:noFill/>
        </p:spPr>
        <p:txBody>
          <a:bodyPr wrap="square" lIns="0" rIns="0" tIns="0" bIns="0" anchor="t">
            <a:spAutoFit/>
          </a:bodyPr>
          <a:lstStyle/>
          <a:p>
            <a:pPr algn="ctr">
              <a:lnSpc>
                <a:spcPct val="130000"/>
              </a:lnSpc>
              <a:spcAft>
                <a:spcPts val="0"/>
              </a:spcAft>
            </a:pPr>
            <a:r>
              <a:rPr sz="850" b="0" i="0">
                <a:solidFill>
                  <a:srgbClr val="EEEEEE"/>
                </a:solidFill>
                <a:latin typeface="Be Vietnam Pro"/>
              </a:rPr>
              <a:t>No es una promesa de resultado: es la explicitación del razonamiento detrás de la inversión recomendada de $3.000.000 a $5.000.000 CLP mensuales. La tasa de aprobación a curse es el único supuesto que debe aportar el cliente.</a:t>
            </a:r>
          </a:p>
        </p:txBody>
      </p:sp>
      <p:sp>
        <p:nvSpPr>
          <p:cNvPr id="31" name="TextBox 30"/>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FFFFFF"/>
                </a:solidFill>
                <a:latin typeface="Be Vietnam Pro"/>
              </a:rPr>
              <a:t>Intothecom </a:t>
            </a:r>
            <a:r>
              <a:rPr sz="900" b="0" i="0">
                <a:solidFill>
                  <a:srgbClr val="E57000"/>
                </a:solidFill>
                <a:latin typeface="Be Vietnam Pro"/>
              </a:rPr>
              <a:t>|Agencia Marketing Digital</a:t>
            </a:r>
          </a:p>
        </p:txBody>
      </p:sp>
      <p:pic>
        <p:nvPicPr>
          <p:cNvPr id="32" name="Picture 31" descr="logo_intothecom_blanco.png"/>
          <p:cNvPicPr>
            <a:picLocks noChangeAspect="1"/>
          </p:cNvPicPr>
          <p:nvPr/>
        </p:nvPicPr>
        <p:blipFill>
          <a:blip r:embed="rId2"/>
          <a:stretch>
            <a:fillRect/>
          </a:stretch>
        </p:blipFill>
        <p:spPr>
          <a:xfrm>
            <a:off x="8339327" y="4553712"/>
            <a:ext cx="599607" cy="38404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4" name="TextBox 3"/>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5" name="TextBox 4"/>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6" name="TextBox 5"/>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7" name="TextBox 6"/>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8" name="TextBox 7"/>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9" name="TextBox 8"/>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E57000"/>
                </a:solidFill>
                <a:latin typeface="Be Vietnam Pro"/>
              </a:rPr>
              <a:t>Inversión</a:t>
            </a:r>
          </a:p>
        </p:txBody>
      </p:sp>
      <p:sp>
        <p:nvSpPr>
          <p:cNvPr id="10" name="Rectangle 9"/>
          <p:cNvSpPr/>
          <p:nvPr/>
        </p:nvSpPr>
        <p:spPr>
          <a:xfrm>
            <a:off x="5993892" y="498348"/>
            <a:ext cx="726948" cy="20320"/>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 y="868680"/>
            <a:ext cx="17780" cy="713232"/>
          </a:xfrm>
          <a:prstGeom prst="rect">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822960"/>
            <a:ext cx="7863840" cy="548640"/>
          </a:xfrm>
          <a:prstGeom prst="rect">
            <a:avLst/>
          </a:prstGeom>
          <a:noFill/>
        </p:spPr>
        <p:txBody>
          <a:bodyPr wrap="square" lIns="0" rIns="0" tIns="0" bIns="0" anchor="t">
            <a:spAutoFit/>
          </a:bodyPr>
          <a:lstStyle/>
          <a:p>
            <a:pPr algn="l">
              <a:lnSpc>
                <a:spcPct val="115000"/>
              </a:lnSpc>
              <a:spcAft>
                <a:spcPts val="0"/>
              </a:spcAft>
            </a:pPr>
            <a:r>
              <a:rPr sz="2300" b="1" i="0">
                <a:solidFill>
                  <a:srgbClr val="262626"/>
                </a:solidFill>
                <a:latin typeface="Be Vietnam Pro"/>
              </a:rPr>
              <a:t>Qué hacer antes de invertir el primer peso</a:t>
            </a:r>
          </a:p>
        </p:txBody>
      </p:sp>
      <p:sp>
        <p:nvSpPr>
          <p:cNvPr id="13" name="TextBox 12"/>
          <p:cNvSpPr txBox="1"/>
          <p:nvPr/>
        </p:nvSpPr>
        <p:spPr>
          <a:xfrm>
            <a:off x="658368" y="1481328"/>
            <a:ext cx="7772400" cy="457200"/>
          </a:xfrm>
          <a:prstGeom prst="rect">
            <a:avLst/>
          </a:prstGeom>
          <a:noFill/>
        </p:spPr>
        <p:txBody>
          <a:bodyPr wrap="square" lIns="0" rIns="0" tIns="0" bIns="0" anchor="t">
            <a:spAutoFit/>
          </a:bodyPr>
          <a:lstStyle/>
          <a:p>
            <a:pPr algn="l">
              <a:lnSpc>
                <a:spcPct val="130000"/>
              </a:lnSpc>
              <a:spcAft>
                <a:spcPts val="0"/>
              </a:spcAft>
            </a:pPr>
            <a:r>
              <a:rPr sz="950" b="0" i="0">
                <a:solidFill>
                  <a:srgbClr val="7F7F7F"/>
                </a:solidFill>
                <a:latin typeface="Be Vietnam Pro"/>
              </a:rPr>
              <a:t>Cuatro definiciones previas que condicionan el lanzamiento.</a:t>
            </a:r>
          </a:p>
        </p:txBody>
      </p:sp>
      <p:sp>
        <p:nvSpPr>
          <p:cNvPr id="14" name="TextBox 13"/>
          <p:cNvSpPr txBox="1"/>
          <p:nvPr/>
        </p:nvSpPr>
        <p:spPr>
          <a:xfrm>
            <a:off x="658368" y="1956816"/>
            <a:ext cx="7772400" cy="2926080"/>
          </a:xfrm>
          <a:prstGeom prst="rect">
            <a:avLst/>
          </a:prstGeom>
          <a:noFill/>
        </p:spPr>
        <p:txBody>
          <a:bodyPr wrap="square" lIns="0" rIns="0" tIns="0" bIns="0">
            <a:spAutoFit/>
          </a:bodyPr>
          <a:lstStyle/>
          <a:p>
            <a:pPr>
              <a:lnSpc>
                <a:spcPct val="125000"/>
              </a:lnSpc>
              <a:spcAft>
                <a:spcPts val="600"/>
              </a:spcAft>
            </a:pPr>
            <a:r>
              <a:rPr sz="950" b="1">
                <a:solidFill>
                  <a:srgbClr val="262626"/>
                </a:solidFill>
                <a:latin typeface="Be Vietnam Pro"/>
              </a:rPr>
              <a:t>•  </a:t>
            </a:r>
            <a:r>
              <a:rPr sz="950" b="1">
                <a:solidFill>
                  <a:srgbClr val="262626"/>
                </a:solidFill>
                <a:latin typeface="Be Vietnam Pro"/>
              </a:rPr>
              <a:t>Resolver la divulgación de condiciones del crédito. </a:t>
            </a:r>
            <a:r>
              <a:rPr sz="950">
                <a:solidFill>
                  <a:srgbClr val="7F7F7F"/>
                </a:solidFill>
                <a:latin typeface="Be Vietnam Pro"/>
              </a:rPr>
              <a:t>Publicar CAE, plazos, montos y ejemplo representativo del costo total en la landing pública. Es requisito de Google Ads.</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Definir el mapa de eventos y su medición. </a:t>
            </a:r>
            <a:r>
              <a:rPr sz="950">
                <a:solidFill>
                  <a:srgbClr val="7F7F7F"/>
                </a:solidFill>
                <a:latin typeface="Be Vietnam Pro"/>
              </a:rPr>
              <a:t>Sin trazabilidad hasta el curse, la optimización trabajará sobre la métrica equivocada.</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Confirmar la tasa de aprobación crediticia. </a:t>
            </a:r>
            <a:r>
              <a:rPr sz="950">
                <a:solidFill>
                  <a:srgbClr val="7F7F7F"/>
                </a:solidFill>
                <a:latin typeface="Be Vietnam Pro"/>
              </a:rPr>
              <a:t>Es el único parámetro del modelo que no puede estimarse desde fuentes externas.</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Verificar los requisitos de verificación del anunciante. </a:t>
            </a:r>
            <a:r>
              <a:rPr sz="950">
                <a:solidFill>
                  <a:srgbClr val="7F7F7F"/>
                </a:solidFill>
                <a:latin typeface="Be Vietnam Pro"/>
              </a:rPr>
              <a:t>Tanto en Google como en Meta, antes de programar el lanzamiento.</a:t>
            </a:r>
          </a:p>
          <a:p>
            <a:pPr>
              <a:lnSpc>
                <a:spcPct val="125000"/>
              </a:lnSpc>
              <a:spcAft>
                <a:spcPts val="600"/>
              </a:spcAft>
            </a:pPr>
            <a:r>
              <a:rPr sz="950" b="1">
                <a:solidFill>
                  <a:srgbClr val="262626"/>
                </a:solidFill>
                <a:latin typeface="Be Vietnam Pro"/>
              </a:rPr>
              <a:t>•  </a:t>
            </a:r>
            <a:r>
              <a:rPr sz="950" b="1">
                <a:solidFill>
                  <a:srgbClr val="262626"/>
                </a:solidFill>
                <a:latin typeface="Be Vietnam Pro"/>
              </a:rPr>
              <a:t>Y las tres métricas que definen el éxito: </a:t>
            </a:r>
            <a:r>
              <a:rPr sz="950">
                <a:solidFill>
                  <a:srgbClr val="7F7F7F"/>
                </a:solidFill>
                <a:latin typeface="Be Vietnam Pro"/>
              </a:rPr>
              <a:t>costo por prospecto calificado, tasa de aprobación de los derivados y costo por curse.</a:t>
            </a:r>
          </a:p>
        </p:txBody>
      </p:sp>
      <p:sp>
        <p:nvSpPr>
          <p:cNvPr id="15" name="TextBox 14"/>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262626"/>
                </a:solidFill>
                <a:latin typeface="Be Vietnam Pro"/>
              </a:rPr>
              <a:t>Intothecom </a:t>
            </a:r>
            <a:r>
              <a:rPr sz="900" b="0" i="0">
                <a:solidFill>
                  <a:srgbClr val="E57000"/>
                </a:solidFill>
                <a:latin typeface="Be Vietnam Pro"/>
              </a:rPr>
              <a:t>|Agencia Marketing Digital</a:t>
            </a:r>
          </a:p>
        </p:txBody>
      </p:sp>
      <p:pic>
        <p:nvPicPr>
          <p:cNvPr id="16" name="Picture 15" descr="logo_intothecom_negro.png"/>
          <p:cNvPicPr>
            <a:picLocks noChangeAspect="1"/>
          </p:cNvPicPr>
          <p:nvPr/>
        </p:nvPicPr>
        <p:blipFill>
          <a:blip r:embed="rId2"/>
          <a:stretch>
            <a:fillRect/>
          </a:stretch>
        </p:blipFill>
        <p:spPr>
          <a:xfrm>
            <a:off x="8339327" y="4553712"/>
            <a:ext cx="599846" cy="38404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11880"/>
            <a:ext cx="9144000" cy="1531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Contexto</a:t>
            </a:r>
          </a:p>
        </p:txBody>
      </p:sp>
      <p:sp>
        <p:nvSpPr>
          <p:cNvPr id="5" name="TextBox 4"/>
          <p:cNvSpPr txBox="1"/>
          <p:nvPr/>
        </p:nvSpPr>
        <p:spPr>
          <a:xfrm>
            <a:off x="1975104" y="274320"/>
            <a:ext cx="62636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Cliente</a:t>
            </a:r>
          </a:p>
        </p:txBody>
      </p:sp>
      <p:sp>
        <p:nvSpPr>
          <p:cNvPr id="6" name="TextBox 5"/>
          <p:cNvSpPr txBox="1"/>
          <p:nvPr/>
        </p:nvSpPr>
        <p:spPr>
          <a:xfrm>
            <a:off x="2692908"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Regulación</a:t>
            </a:r>
          </a:p>
        </p:txBody>
      </p:sp>
      <p:sp>
        <p:nvSpPr>
          <p:cNvPr id="7" name="TextBox 6"/>
          <p:cNvSpPr txBox="1"/>
          <p:nvPr/>
        </p:nvSpPr>
        <p:spPr>
          <a:xfrm>
            <a:off x="3616452" y="274320"/>
            <a:ext cx="83210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Paid Media</a:t>
            </a:r>
          </a:p>
        </p:txBody>
      </p:sp>
      <p:sp>
        <p:nvSpPr>
          <p:cNvPr id="8" name="TextBox 7"/>
          <p:cNvSpPr txBox="1"/>
          <p:nvPr/>
        </p:nvSpPr>
        <p:spPr>
          <a:xfrm>
            <a:off x="4539996" y="274320"/>
            <a:ext cx="69494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Email M.</a:t>
            </a:r>
          </a:p>
        </p:txBody>
      </p:sp>
      <p:sp>
        <p:nvSpPr>
          <p:cNvPr id="9" name="TextBox 8"/>
          <p:cNvSpPr txBox="1"/>
          <p:nvPr/>
        </p:nvSpPr>
        <p:spPr>
          <a:xfrm>
            <a:off x="5326380" y="274320"/>
            <a:ext cx="55778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Social</a:t>
            </a:r>
          </a:p>
        </p:txBody>
      </p:sp>
      <p:sp>
        <p:nvSpPr>
          <p:cNvPr id="10" name="TextBox 9"/>
          <p:cNvSpPr txBox="1"/>
          <p:nvPr/>
        </p:nvSpPr>
        <p:spPr>
          <a:xfrm>
            <a:off x="5975604" y="274320"/>
            <a:ext cx="763524" cy="219456"/>
          </a:xfrm>
          <a:prstGeom prst="rect">
            <a:avLst/>
          </a:prstGeom>
          <a:noFill/>
        </p:spPr>
        <p:txBody>
          <a:bodyPr wrap="square" lIns="0" rIns="0" tIns="0" bIns="0" anchor="t">
            <a:spAutoFit/>
          </a:bodyPr>
          <a:lstStyle/>
          <a:p>
            <a:pPr algn="ctr">
              <a:lnSpc>
                <a:spcPct val="115000"/>
              </a:lnSpc>
              <a:spcAft>
                <a:spcPts val="0"/>
              </a:spcAft>
            </a:pPr>
            <a:r>
              <a:rPr sz="850" b="0" i="0">
                <a:solidFill>
                  <a:srgbClr val="262626"/>
                </a:solidFill>
                <a:latin typeface="Be Vietnam Pro"/>
              </a:rPr>
              <a:t>Inversión</a:t>
            </a:r>
          </a:p>
        </p:txBody>
      </p:sp>
      <p:pic>
        <p:nvPicPr>
          <p:cNvPr id="11" name="Picture 10" descr="office_wide.jpeg"/>
          <p:cNvPicPr>
            <a:picLocks noChangeAspect="1"/>
          </p:cNvPicPr>
          <p:nvPr/>
        </p:nvPicPr>
        <p:blipFill>
          <a:blip r:embed="rId2"/>
          <a:srcRect l="13257" r="13257"/>
          <a:stretch>
            <a:fillRect/>
          </a:stretch>
        </p:blipFill>
        <p:spPr>
          <a:xfrm>
            <a:off x="4754880" y="777240"/>
            <a:ext cx="3931920" cy="3566160"/>
          </a:xfrm>
          <a:prstGeom prst="rect">
            <a:avLst/>
          </a:prstGeom>
        </p:spPr>
      </p:pic>
      <p:pic>
        <p:nvPicPr>
          <p:cNvPr id="12" name="Picture 11" descr="logo_intothecom_blanco.png"/>
          <p:cNvPicPr>
            <a:picLocks noChangeAspect="1"/>
          </p:cNvPicPr>
          <p:nvPr/>
        </p:nvPicPr>
        <p:blipFill>
          <a:blip r:embed="rId3"/>
          <a:stretch>
            <a:fillRect/>
          </a:stretch>
        </p:blipFill>
        <p:spPr>
          <a:xfrm>
            <a:off x="5806440" y="1691640"/>
            <a:ext cx="1927308" cy="1234440"/>
          </a:xfrm>
          <a:prstGeom prst="rect">
            <a:avLst/>
          </a:prstGeom>
        </p:spPr>
      </p:pic>
      <p:sp>
        <p:nvSpPr>
          <p:cNvPr id="13" name="TextBox 12"/>
          <p:cNvSpPr txBox="1"/>
          <p:nvPr/>
        </p:nvSpPr>
        <p:spPr>
          <a:xfrm>
            <a:off x="594360" y="1417320"/>
            <a:ext cx="3840480" cy="640080"/>
          </a:xfrm>
          <a:prstGeom prst="rect">
            <a:avLst/>
          </a:prstGeom>
          <a:noFill/>
        </p:spPr>
        <p:txBody>
          <a:bodyPr wrap="square" lIns="0" rIns="0" tIns="0" bIns="0" anchor="t">
            <a:spAutoFit/>
          </a:bodyPr>
          <a:lstStyle/>
          <a:p>
            <a:pPr algn="l">
              <a:lnSpc>
                <a:spcPct val="115000"/>
              </a:lnSpc>
              <a:spcAft>
                <a:spcPts val="0"/>
              </a:spcAft>
            </a:pPr>
            <a:r>
              <a:rPr sz="3400" b="1" i="0">
                <a:solidFill>
                  <a:srgbClr val="E57000"/>
                </a:solidFill>
                <a:latin typeface="Be Vietnam Pro"/>
              </a:rPr>
              <a:t>Contacto</a:t>
            </a:r>
          </a:p>
        </p:txBody>
      </p:sp>
      <p:sp>
        <p:nvSpPr>
          <p:cNvPr id="14" name="TextBox 13"/>
          <p:cNvSpPr txBox="1"/>
          <p:nvPr/>
        </p:nvSpPr>
        <p:spPr>
          <a:xfrm>
            <a:off x="594360" y="2057400"/>
            <a:ext cx="3566160" cy="1005840"/>
          </a:xfrm>
          <a:prstGeom prst="rect">
            <a:avLst/>
          </a:prstGeom>
          <a:noFill/>
        </p:spPr>
        <p:txBody>
          <a:bodyPr wrap="square" lIns="0" rIns="0" tIns="0" bIns="0" anchor="t">
            <a:spAutoFit/>
          </a:bodyPr>
          <a:lstStyle/>
          <a:p>
            <a:pPr algn="l">
              <a:lnSpc>
                <a:spcPct val="135000"/>
              </a:lnSpc>
              <a:spcAft>
                <a:spcPts val="0"/>
              </a:spcAft>
            </a:pPr>
            <a:r>
              <a:rPr sz="950" b="0" i="0">
                <a:solidFill>
                  <a:srgbClr val="7F7F7F"/>
                </a:solidFill>
                <a:latin typeface="Be Vietnam Pro"/>
              </a:rPr>
              <a:t>Estamos aquí para ayudarte. Si tienes dudas, consultas o necesitas más información sobre nuestros servicios, contáctanos. Nuestro equipo está listo para </a:t>
            </a:r>
            <a:r>
              <a:rPr sz="950" b="1" i="0">
                <a:solidFill>
                  <a:srgbClr val="262626"/>
                </a:solidFill>
                <a:latin typeface="Be Vietnam Pro"/>
              </a:rPr>
              <a:t>asesorarte y potenciar tu marca con una estrategia digital a medida.</a:t>
            </a:r>
          </a:p>
        </p:txBody>
      </p:sp>
      <p:sp>
        <p:nvSpPr>
          <p:cNvPr id="15" name="Rounded Rectangle 14"/>
          <p:cNvSpPr/>
          <p:nvPr/>
        </p:nvSpPr>
        <p:spPr>
          <a:xfrm>
            <a:off x="274320" y="3154680"/>
            <a:ext cx="4754880" cy="960120"/>
          </a:xfrm>
          <a:prstGeom prst="roundRect">
            <a:avLst>
              <a:gd name="adj" fmla="val 8000"/>
            </a:avLst>
          </a:prstGeom>
          <a:solidFill>
            <a:srgbClr val="E5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319272"/>
            <a:ext cx="2194560" cy="228600"/>
          </a:xfrm>
          <a:prstGeom prst="rect">
            <a:avLst/>
          </a:prstGeom>
          <a:noFill/>
        </p:spPr>
        <p:txBody>
          <a:bodyPr wrap="square" lIns="0" rIns="0" tIns="0" bIns="0" anchor="t">
            <a:spAutoFit/>
          </a:bodyPr>
          <a:lstStyle/>
          <a:p>
            <a:pPr algn="l">
              <a:lnSpc>
                <a:spcPct val="115000"/>
              </a:lnSpc>
              <a:spcAft>
                <a:spcPts val="0"/>
              </a:spcAft>
            </a:pPr>
            <a:r>
              <a:rPr sz="1150" b="1" i="0">
                <a:solidFill>
                  <a:srgbClr val="FFFFFF"/>
                </a:solidFill>
                <a:latin typeface="Be Vietnam Pro"/>
              </a:rPr>
              <a:t>Email &amp; Web</a:t>
            </a:r>
          </a:p>
        </p:txBody>
      </p:sp>
      <p:sp>
        <p:nvSpPr>
          <p:cNvPr id="17" name="TextBox 16"/>
          <p:cNvSpPr txBox="1"/>
          <p:nvPr/>
        </p:nvSpPr>
        <p:spPr>
          <a:xfrm>
            <a:off x="566928" y="3566160"/>
            <a:ext cx="2377440" cy="457200"/>
          </a:xfrm>
          <a:prstGeom prst="rect">
            <a:avLst/>
          </a:prstGeom>
          <a:noFill/>
        </p:spPr>
        <p:txBody>
          <a:bodyPr wrap="square" lIns="0" rIns="0" tIns="0" bIns="0" anchor="t">
            <a:spAutoFit/>
          </a:bodyPr>
          <a:lstStyle/>
          <a:p>
            <a:pPr algn="l">
              <a:lnSpc>
                <a:spcPct val="125000"/>
              </a:lnSpc>
              <a:spcAft>
                <a:spcPts val="0"/>
              </a:spcAft>
            </a:pPr>
            <a:r>
              <a:rPr sz="850" b="0" i="0">
                <a:solidFill>
                  <a:srgbClr val="FFFFFF"/>
                </a:solidFill>
                <a:latin typeface="Be Vietnam Pro"/>
              </a:rPr>
              <a:t>ignacio@intothecom.com</a:t>
            </a:r>
          </a:p>
          <a:p>
            <a:pPr algn="l">
              <a:lnSpc>
                <a:spcPct val="125000"/>
              </a:lnSpc>
              <a:spcAft>
                <a:spcPts val="0"/>
              </a:spcAft>
            </a:pPr>
            <a:r>
              <a:rPr sz="850" b="0" i="0">
                <a:solidFill>
                  <a:srgbClr val="FFFFFF"/>
                </a:solidFill>
                <a:latin typeface="Be Vietnam Pro"/>
              </a:rPr>
              <a:t>www.intothecom.com</a:t>
            </a:r>
          </a:p>
        </p:txBody>
      </p:sp>
      <p:sp>
        <p:nvSpPr>
          <p:cNvPr id="18" name="TextBox 17"/>
          <p:cNvSpPr txBox="1"/>
          <p:nvPr/>
        </p:nvSpPr>
        <p:spPr>
          <a:xfrm>
            <a:off x="3063240" y="3319272"/>
            <a:ext cx="1828800" cy="228600"/>
          </a:xfrm>
          <a:prstGeom prst="rect">
            <a:avLst/>
          </a:prstGeom>
          <a:noFill/>
        </p:spPr>
        <p:txBody>
          <a:bodyPr wrap="square" lIns="0" rIns="0" tIns="0" bIns="0" anchor="t">
            <a:spAutoFit/>
          </a:bodyPr>
          <a:lstStyle/>
          <a:p>
            <a:pPr algn="l">
              <a:lnSpc>
                <a:spcPct val="115000"/>
              </a:lnSpc>
              <a:spcAft>
                <a:spcPts val="0"/>
              </a:spcAft>
            </a:pPr>
            <a:r>
              <a:rPr sz="1150" b="1" i="0">
                <a:solidFill>
                  <a:srgbClr val="FFFFFF"/>
                </a:solidFill>
                <a:latin typeface="Be Vietnam Pro"/>
              </a:rPr>
              <a:t>Teléfono</a:t>
            </a:r>
          </a:p>
        </p:txBody>
      </p:sp>
      <p:sp>
        <p:nvSpPr>
          <p:cNvPr id="19" name="TextBox 18"/>
          <p:cNvSpPr txBox="1"/>
          <p:nvPr/>
        </p:nvSpPr>
        <p:spPr>
          <a:xfrm>
            <a:off x="3063240" y="3566160"/>
            <a:ext cx="1828800" cy="228600"/>
          </a:xfrm>
          <a:prstGeom prst="rect">
            <a:avLst/>
          </a:prstGeom>
          <a:noFill/>
        </p:spPr>
        <p:txBody>
          <a:bodyPr wrap="square" lIns="0" rIns="0" tIns="0" bIns="0" anchor="t">
            <a:spAutoFit/>
          </a:bodyPr>
          <a:lstStyle/>
          <a:p>
            <a:pPr algn="l">
              <a:lnSpc>
                <a:spcPct val="115000"/>
              </a:lnSpc>
              <a:spcAft>
                <a:spcPts val="0"/>
              </a:spcAft>
            </a:pPr>
            <a:r>
              <a:rPr sz="850" b="0" i="0">
                <a:solidFill>
                  <a:srgbClr val="FFFFFF"/>
                </a:solidFill>
                <a:latin typeface="Be Vietnam Pro"/>
              </a:rPr>
              <a:t>+56 9 5016 0966</a:t>
            </a:r>
          </a:p>
        </p:txBody>
      </p:sp>
      <p:sp>
        <p:nvSpPr>
          <p:cNvPr id="20" name="TextBox 19"/>
          <p:cNvSpPr txBox="1"/>
          <p:nvPr/>
        </p:nvSpPr>
        <p:spPr>
          <a:xfrm>
            <a:off x="384048" y="4718304"/>
            <a:ext cx="3657600" cy="228600"/>
          </a:xfrm>
          <a:prstGeom prst="rect">
            <a:avLst/>
          </a:prstGeom>
          <a:noFill/>
        </p:spPr>
        <p:txBody>
          <a:bodyPr wrap="square" lIns="0" rIns="0" tIns="0" bIns="0" anchor="t">
            <a:spAutoFit/>
          </a:bodyPr>
          <a:lstStyle/>
          <a:p>
            <a:pPr algn="l">
              <a:lnSpc>
                <a:spcPct val="115000"/>
              </a:lnSpc>
              <a:spcAft>
                <a:spcPts val="0"/>
              </a:spcAft>
            </a:pPr>
            <a:r>
              <a:rPr sz="900" b="1" i="0">
                <a:solidFill>
                  <a:srgbClr val="FFFFFF"/>
                </a:solidFill>
                <a:latin typeface="Be Vietnam Pro"/>
              </a:rPr>
              <a:t>Intothecom </a:t>
            </a:r>
            <a:r>
              <a:rPr sz="900" b="0" i="0">
                <a:solidFill>
                  <a:srgbClr val="E57000"/>
                </a:solidFill>
                <a:latin typeface="Be Vietnam Pro"/>
              </a:rPr>
              <a:t>|Agencia Marketing Digital</a:t>
            </a:r>
          </a:p>
        </p:txBody>
      </p:sp>
      <p:pic>
        <p:nvPicPr>
          <p:cNvPr id="21" name="Picture 20" descr="logo_intothecom_blanco.png"/>
          <p:cNvPicPr>
            <a:picLocks noChangeAspect="1"/>
          </p:cNvPicPr>
          <p:nvPr/>
        </p:nvPicPr>
        <p:blipFill>
          <a:blip r:embed="rId3"/>
          <a:stretch>
            <a:fillRect/>
          </a:stretch>
        </p:blipFill>
        <p:spPr>
          <a:xfrm>
            <a:off x="8339327" y="4553712"/>
            <a:ext cx="599607" cy="3840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