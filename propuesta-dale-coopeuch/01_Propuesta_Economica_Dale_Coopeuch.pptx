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laptop.jpeg"/>
          <p:cNvPicPr>
            <a:picLocks noChangeAspect="1"/>
          </p:cNvPicPr>
          <p:nvPr/>
        </p:nvPicPr>
        <p:blipFill>
          <a:blip r:embed="rId2"/>
          <a:srcRect l="17283" r="17283"/>
          <a:stretch>
            <a:fillRect/>
          </a:stretch>
        </p:blipFill>
        <p:spPr>
          <a:xfrm>
            <a:off x="-320040" y="320040"/>
            <a:ext cx="521208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17720" y="713232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500" b="1" i="0">
                <a:solidFill>
                  <a:srgbClr val="E57000"/>
                </a:solidFill>
                <a:latin typeface="Be Vietnam Pro"/>
              </a:rPr>
              <a:t>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481328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Be Vietnam Pro"/>
              </a:rPr>
              <a:t>DE SERVICIOS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221284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0" i="0">
                <a:solidFill>
                  <a:srgbClr val="FFFFFF"/>
                </a:solidFill>
                <a:latin typeface="Be Vietnam Pro"/>
              </a:rPr>
              <a:t>Dale Coopeuch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30175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EEEEEE"/>
                </a:solidFill>
                <a:latin typeface="Be Vietnam Pro"/>
              </a:rPr>
              <a:t>Paid Media · Community Management · Email Marketing · Datapify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61188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Be Vietnam Pro"/>
              </a:rPr>
              <a:t>Comenzar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0" name="Picture 9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ptop_neon.jpeg"/>
          <p:cNvPicPr>
            <a:picLocks noChangeAspect="1"/>
          </p:cNvPicPr>
          <p:nvPr/>
        </p:nvPicPr>
        <p:blipFill>
          <a:blip r:embed="rId2"/>
          <a:srcRect t="11353" b="11353"/>
          <a:stretch>
            <a:fillRect/>
          </a:stretch>
        </p:blipFill>
        <p:spPr>
          <a:xfrm>
            <a:off x="4498848" y="0"/>
            <a:ext cx="4645152" cy="25420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98848" y="2542032"/>
            <a:ext cx="4645152" cy="2601468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0624" y="1005840"/>
            <a:ext cx="17780" cy="658368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262626"/>
                </a:solidFill>
                <a:latin typeface="Be Vietnam Pro"/>
              </a:rPr>
              <a:t>¿Quiénes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62456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E57000"/>
                </a:solidFill>
                <a:latin typeface="Be Vietnam Pro"/>
              </a:rPr>
              <a:t>Somos?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836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62626"/>
                </a:solidFill>
                <a:latin typeface="Be Vietnam Pro"/>
              </a:rPr>
              <a:t>Un equipo de alto rendimiento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3375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0" b="0" i="0">
                <a:solidFill>
                  <a:srgbClr val="7F7F7F"/>
                </a:solidFill>
                <a:latin typeface="Be Vietnam Pro"/>
              </a:rPr>
              <a:t>Somos una agencia de marketing digital especializada en impulsar el crecimiento y la visibilidad de tu negocio a través de estrategias innovadoras y personalizadas.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0" b="0" i="0">
                <a:solidFill>
                  <a:srgbClr val="7F7F7F"/>
                </a:solidFill>
                <a:latin typeface="Be Vietnam Pro"/>
              </a:rPr>
              <a:t>Nos enfocamos en comprender a fondo las necesidades de cada negocio para ofrecer soluciones digitales efectivas que optimicen su presencia en el mercado.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0" b="0" i="0">
                <a:solidFill>
                  <a:srgbClr val="7F7F7F"/>
                </a:solidFill>
                <a:latin typeface="Be Vietnam Pro"/>
              </a:rPr>
              <a:t>Con un firme compromiso con la excelencia y la calidad, trabajamos para generar resultados medibles y sostenibles.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292608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Be Vietnam Pro"/>
              </a:rPr>
              <a:t>Complicidad con el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3584448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Be Vietnam Pro"/>
              </a:rPr>
              <a:t>Nos involucramos en tu negocio como si fuera el nuestro. Te entregamos la confianza y dedicación que necesitas para potenciar tu marca hacia nuevos niveles.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3" name="Picture 12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262626"/>
                </a:solidFill>
                <a:latin typeface="Be Vietnam Pro"/>
              </a:rPr>
              <a:t>Nuestra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E57000"/>
                </a:solidFill>
                <a:latin typeface="Be Vietnam Pro"/>
              </a:rPr>
              <a:t>Filosofía de Trabajo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874519"/>
            <a:ext cx="2724912" cy="2395728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57000"/>
                </a:solidFill>
                <a:latin typeface="Be Vietnam Pro"/>
              </a:rPr>
              <a:t>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42032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40" b="0" i="0">
                <a:solidFill>
                  <a:srgbClr val="7F7F7F"/>
                </a:solidFill>
                <a:latin typeface="Be Vietnam Pro"/>
              </a:rPr>
              <a:t>Nos enfocamos en ofrecer un servicio de alta calidad, diseñado para aportar un impacto real y positivo en tu organización. Nuestro compromiso es brindar soluciones efectivas y estratégicas que impulsen el crecimiento.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6976" y="1874519"/>
            <a:ext cx="2724912" cy="2395728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2139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57000"/>
                </a:solidFill>
                <a:latin typeface="Be Vietnam Pro"/>
              </a:rPr>
              <a:t>COMUNIDAD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542032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40" b="0" i="0">
                <a:solidFill>
                  <a:srgbClr val="EEEEEE"/>
                </a:solidFill>
                <a:latin typeface="Be Vietnam Pro"/>
              </a:rPr>
              <a:t>Creemos en la importancia del trabajo colaborativo y en la construcción de relaciones duraderas con nuestros clientes. Nos involucramos en cada proyecto como un aliado estratégico.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4" y="1874519"/>
            <a:ext cx="2724912" cy="2395728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139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57000"/>
                </a:solidFill>
                <a:latin typeface="Be Vietnam Pro"/>
              </a:rPr>
              <a:t>RESULTADOS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542032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40" b="0" i="0">
                <a:solidFill>
                  <a:srgbClr val="7F7F7F"/>
                </a:solidFill>
                <a:latin typeface="Be Vietnam Pro"/>
              </a:rPr>
              <a:t>Cada estrategia que implementamos está orientada a resultados concretos y medibles, utilizando métricas y análisis de datos para optimizar el rendimiento y maximizar el retorno.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5" name="Picture 14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sk_wide.jpeg"/>
          <p:cNvPicPr>
            <a:picLocks noChangeAspect="1"/>
          </p:cNvPicPr>
          <p:nvPr/>
        </p:nvPicPr>
        <p:blipFill>
          <a:blip r:embed="rId2"/>
          <a:srcRect l="8198" r="8198"/>
          <a:stretch>
            <a:fillRect/>
          </a:stretch>
        </p:blipFill>
        <p:spPr>
          <a:xfrm>
            <a:off x="0" y="658368"/>
            <a:ext cx="4160520" cy="33192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977639"/>
            <a:ext cx="4160520" cy="612648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84124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Ecosistema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24358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Digital Integral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4023360" cy="2496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En Intothecom potenciamos un ecosistema digital integral que conecta estratégicamente cada canal para maximizar el rendimiento.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Desde Paid Media, Redes Sociales, Email Marketing y plataformas conversacionales, integramos datos clave provenientes de las diferentes fuentes, permitiendo trabajar, analizar y optimizar las estrategias de manera eficiente.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Nuestro enfoque permite visualizar el impacto de cada canal en el crecimiento del negocio, ofreciendo insights accionables y mediciones precisas para una toma de decisiones basada en datos.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6" name="Picture 15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59352" y="0"/>
            <a:ext cx="5184648" cy="5143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so_laptop.jpeg"/>
          <p:cNvPicPr>
            <a:picLocks noChangeAspect="1"/>
          </p:cNvPicPr>
          <p:nvPr/>
        </p:nvPicPr>
        <p:blipFill>
          <a:blip r:embed="rId2"/>
          <a:srcRect t="4891" b="4891"/>
          <a:stretch>
            <a:fillRect/>
          </a:stretch>
        </p:blipFill>
        <p:spPr>
          <a:xfrm>
            <a:off x="-320040" y="932688"/>
            <a:ext cx="4892040" cy="331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Datapify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72768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EL DESAFÍO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42032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EEEEEE"/>
                </a:solidFill>
                <a:latin typeface="Be Vietnam Pro"/>
              </a:rPr>
              <a:t>Entendemos que el objetivo no es notoriedad ni descargas: es la conversión y el curse de créditos de consumo. Todo lo que proponemos está construido sobre esa premisa.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6393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Be Vietnam Pro"/>
              </a:rPr>
              <a:t>Continuar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7" name="Picture 16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sk_vertical.jpeg"/>
          <p:cNvPicPr>
            <a:picLocks noChangeAspect="1"/>
          </p:cNvPicPr>
          <p:nvPr/>
        </p:nvPicPr>
        <p:blipFill>
          <a:blip r:embed="rId2"/>
          <a:srcRect t="24850" b="24850"/>
          <a:stretch>
            <a:fillRect/>
          </a:stretch>
        </p:blipFill>
        <p:spPr>
          <a:xfrm>
            <a:off x="4745736" y="658368"/>
            <a:ext cx="4398264" cy="33192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45736" y="3977639"/>
            <a:ext cx="4398264" cy="116586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8412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El objetivo: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435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curse, no 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384048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El requerimiento es claro: llegar a prospectos de mercado abierto y convertirlos en créditos de consumo cursados. El awareness y el uso de la app son consecuencia, no meta.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10612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Tráfico no es el problema. </a:t>
            </a:r>
            <a:r>
              <a:rPr sz="1050">
                <a:solidFill>
                  <a:srgbClr val="7F7F7F"/>
                </a:solidFill>
                <a:latin typeface="Be Vietnam Pro"/>
              </a:rPr>
              <a:t>El desafío está en la conversión: mover al prospecto desde el interés hasta la contratación efectiva.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El curse es el KPI. </a:t>
            </a:r>
            <a:r>
              <a:rPr sz="1050">
                <a:solidFill>
                  <a:srgbClr val="7F7F7F"/>
                </a:solidFill>
                <a:latin typeface="Be Vietnam Pro"/>
              </a:rPr>
              <a:t>Optimizar a "lead" genera volumen que el área comercial no necesariamente cierra. Medimos hasta el final del embudo.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Mercado abierto exige calificación. </a:t>
            </a:r>
            <a:r>
              <a:rPr sz="1050">
                <a:solidFill>
                  <a:srgbClr val="7F7F7F"/>
                </a:solidFill>
                <a:latin typeface="Be Vietnam Pro"/>
              </a:rPr>
              <a:t>Un prospecto frío requiere ser levantado, calificado y derivado antes de llegar al área comercial.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9" name="Picture 18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412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El embudo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435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que vamos a atacar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Cada etapa es un punto de fuga medible. La estrategia consiste en reducir la fricción en cada una y recuperar al usuario que no avanza.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868680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88696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Captación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143000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Campañas en Google y Meta que capturan demanda existente de crédito de consumo y generan demanda en el nicho desatendido de trabajadores independientes.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11226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1305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Conversación y calificación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86584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El anuncio deriva a WhatsApp, donde el agente de IA levanta información, resuelve dudas y califica al prospecto según los criterios que defina la marca.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355848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37413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Derivación y curse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630168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Solo el prospecto calificado se deriva al proceso de contratación. Email y remarketing recuperan a quienes no completaron el proceso.</a:t>
            </a:r>
          </a:p>
        </p:txBody>
      </p:sp>
      <p:pic>
        <p:nvPicPr>
          <p:cNvPr id="23" name="Picture 22" descr="office_vertical.jpeg"/>
          <p:cNvPicPr>
            <a:picLocks noChangeAspect="1"/>
          </p:cNvPicPr>
          <p:nvPr/>
        </p:nvPicPr>
        <p:blipFill>
          <a:blip r:embed="rId2"/>
          <a:srcRect t="16656" b="16656"/>
          <a:stretch>
            <a:fillRect/>
          </a:stretch>
        </p:blipFill>
        <p:spPr>
          <a:xfrm>
            <a:off x="658368" y="2834640"/>
            <a:ext cx="1481328" cy="1536192"/>
          </a:xfrm>
          <a:prstGeom prst="rect">
            <a:avLst/>
          </a:prstGeom>
        </p:spPr>
      </p:pic>
      <p:pic>
        <p:nvPicPr>
          <p:cNvPr id="24" name="Picture 23" descr="desk_wide.jpeg"/>
          <p:cNvPicPr>
            <a:picLocks noChangeAspect="1"/>
          </p:cNvPicPr>
          <p:nvPr/>
        </p:nvPicPr>
        <p:blipFill>
          <a:blip r:embed="rId3"/>
          <a:srcRect l="22826" r="22826"/>
          <a:stretch>
            <a:fillRect/>
          </a:stretch>
        </p:blipFill>
        <p:spPr>
          <a:xfrm>
            <a:off x="2249424" y="2395728"/>
            <a:ext cx="1609344" cy="1975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26" name="Picture 25" descr="logo_intothecom_neg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so_laptop.jpeg"/>
          <p:cNvPicPr>
            <a:picLocks noChangeAspect="1"/>
          </p:cNvPicPr>
          <p:nvPr/>
        </p:nvPicPr>
        <p:blipFill>
          <a:blip r:embed="rId2"/>
          <a:srcRect l="310" r="310"/>
          <a:stretch>
            <a:fillRect/>
          </a:stretch>
        </p:blipFill>
        <p:spPr>
          <a:xfrm>
            <a:off x="4745736" y="658368"/>
            <a:ext cx="4398264" cy="33192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45736" y="3977639"/>
            <a:ext cx="4398264" cy="116586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8412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La estrategia: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435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conversación calificada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384048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En vez de enviar tráfico frío a un formulario, lo llevamos a una conversación asistida por IA en WhatsApp. Esto cambia la economía del embudo.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10612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Menor fricción de entrada. </a:t>
            </a:r>
            <a:r>
              <a:rPr sz="1050">
                <a:solidFill>
                  <a:srgbClr val="7F7F7F"/>
                </a:solidFill>
                <a:latin typeface="Be Vietnam Pro"/>
              </a:rPr>
              <a:t>Iniciar una conversación exige menos compromiso que completar una solicitud.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Calificación antes de derivar. </a:t>
            </a:r>
            <a:r>
              <a:rPr sz="1050">
                <a:solidFill>
                  <a:srgbClr val="7F7F7F"/>
                </a:solidFill>
                <a:latin typeface="Be Vietnam Pro"/>
              </a:rPr>
              <a:t>El área comercial recibe prospectos filtrados, no volumen bruto.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Resolución de objeciones en tiempo real. </a:t>
            </a:r>
            <a:r>
              <a:rPr sz="1050">
                <a:solidFill>
                  <a:srgbClr val="7F7F7F"/>
                </a:solidFill>
                <a:latin typeface="Be Vietnam Pro"/>
              </a:rPr>
              <a:t>En crédito digital la principal barrera es la desconfianza y las dudas sobre el proceso.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Disponibilidad permanente. </a:t>
            </a:r>
            <a:r>
              <a:rPr sz="1050">
                <a:solidFill>
                  <a:srgbClr val="7F7F7F"/>
                </a:solidFill>
                <a:latin typeface="Be Vietnam Pro"/>
              </a:rPr>
              <a:t>La intención de solicitar un crédito no respeta el horario de oficina.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9" name="Picture 18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59352" y="0"/>
            <a:ext cx="5184648" cy="5143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v_casos.jpeg"/>
          <p:cNvPicPr>
            <a:picLocks noChangeAspect="1"/>
          </p:cNvPicPr>
          <p:nvPr/>
        </p:nvPicPr>
        <p:blipFill>
          <a:blip r:embed="rId2"/>
          <a:srcRect l="749" r="749"/>
          <a:stretch>
            <a:fillRect/>
          </a:stretch>
        </p:blipFill>
        <p:spPr>
          <a:xfrm>
            <a:off x="-320040" y="932688"/>
            <a:ext cx="4892040" cy="331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Datapify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72768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PAID MEDIA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(ADS)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42032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EEEEEE"/>
                </a:solidFill>
                <a:latin typeface="Be Vietnam Pro"/>
              </a:rPr>
              <a:t>Resultados medibles, inversión optimizada y conversiones al máximo. Descubre cómo nuestras estrategias de Paid Media generan impacto y rentabilidad en cada campaña.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6393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Be Vietnam Pro"/>
              </a:rPr>
              <a:t>Continuar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7" name="Picture 16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ffice_wide.jpeg"/>
          <p:cNvPicPr>
            <a:picLocks noChangeAspect="1"/>
          </p:cNvPicPr>
          <p:nvPr/>
        </p:nvPicPr>
        <p:blipFill>
          <a:blip r:embed="rId2"/>
          <a:srcRect l="5842" r="5842"/>
          <a:stretch>
            <a:fillRect/>
          </a:stretch>
        </p:blipFill>
        <p:spPr>
          <a:xfrm>
            <a:off x="4745736" y="658368"/>
            <a:ext cx="4398264" cy="33192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45736" y="3977639"/>
            <a:ext cx="4398264" cy="116586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8412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¿En qué consiste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435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Paid Media?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384048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Paid Media se basa en anuncios pagados para aparecer en las primeras posiciones de los resultados de búsqueda y en las distintas plataformas.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10612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Centrado en aumentar el tráfico calificado: </a:t>
            </a:r>
            <a:r>
              <a:rPr sz="1050">
                <a:solidFill>
                  <a:srgbClr val="7F7F7F"/>
                </a:solidFill>
                <a:latin typeface="Be Vietnam Pro"/>
              </a:rPr>
              <a:t>el tráfico pagado vía Google y Meta se centra en llevar leads calificados al canal de conversión.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Aumenta la cantidad y la calidad: </a:t>
            </a:r>
            <a:r>
              <a:rPr sz="1050">
                <a:solidFill>
                  <a:srgbClr val="7F7F7F"/>
                </a:solidFill>
                <a:latin typeface="Be Vietnam Pro"/>
              </a:rPr>
              <a:t>pagando por anuncios logramos llevar al público que necesitamos hacia el punto de contratación.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Corto y largo plazo: </a:t>
            </a:r>
            <a:r>
              <a:rPr sz="1050">
                <a:solidFill>
                  <a:srgbClr val="7F7F7F"/>
                </a:solidFill>
                <a:latin typeface="Be Vietnam Pro"/>
              </a:rPr>
              <a:t>si bien tiene resultados esperables en el corto plazo, en el largo plazo es muy beneficioso porque las estrategias se van optimizando constantemente.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9" name="Picture 18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0467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Importancia de la Publicidad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29844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Paid Media 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" y="1700784"/>
            <a:ext cx="8961120" cy="2834640"/>
          </a:xfrm>
          <a:prstGeom prst="roundRect">
            <a:avLst>
              <a:gd name="adj" fmla="val 35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20240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Alcance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04288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EEEEEE"/>
                </a:solidFill>
                <a:latin typeface="Be Vietnam Pro"/>
              </a:rPr>
              <a:t>Llegar a una audiencia amplia y diversa, con control preciso sobre la cobertura geográfica.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11096" y="1883664"/>
            <a:ext cx="310896" cy="274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1920240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Segmentación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304288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EEEEEE"/>
                </a:solidFill>
                <a:latin typeface="Be Vietnam Pro"/>
              </a:rPr>
              <a:t>Capacidad para dirigir la inversión hacia perfiles específicos y audiencias de alto valor.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8496" y="1883664"/>
            <a:ext cx="310896" cy="274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920240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Rentabilidad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304288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EEEEEE"/>
                </a:solidFill>
                <a:latin typeface="Be Vietnam Pro"/>
              </a:rPr>
              <a:t>La publicidad digital suele ser más rentable, ofreciendo un mejor retorno sobre la inversión.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25896" y="1883664"/>
            <a:ext cx="310896" cy="274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920240"/>
            <a:ext cx="1399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Análisis y medición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05456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EEEEEE"/>
                </a:solidFill>
                <a:latin typeface="Be Vietnam Pro"/>
              </a:rPr>
              <a:t>Capacidad de medir y analizar los resultados de las campañas en tiempo real y corregir sobre la marcha.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3296" y="1883664"/>
            <a:ext cx="310896" cy="274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27" name="Picture 26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412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¿Cómo 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435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trabajamos?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Metodología utilizada para la creación, medición y optimización de campañas.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868680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88696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Meta Objetivo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143000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Definimos objetivos claros y medibles. Según estos objetivos se elige la combinación ideal de medios y tipos de campañas para maximizar resultados.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11226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1305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Investigación de KeyWords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86584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Definidos los KPI, se investigan palabras clave relevantes priorizando alto valor e intención de contratación, además de keywords negativas.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355848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37413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Segmentación de Audiencias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630168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La segmentación optimiza campañas y reduce gasto innecesario, alineada a las recomendaciones vigentes de cada plataforma.</a:t>
            </a:r>
          </a:p>
        </p:txBody>
      </p:sp>
      <p:pic>
        <p:nvPicPr>
          <p:cNvPr id="23" name="Picture 22" descr="desk_vertical.jpeg"/>
          <p:cNvPicPr>
            <a:picLocks noChangeAspect="1"/>
          </p:cNvPicPr>
          <p:nvPr/>
        </p:nvPicPr>
        <p:blipFill>
          <a:blip r:embed="rId2"/>
          <a:srcRect t="15441" b="15441"/>
          <a:stretch>
            <a:fillRect/>
          </a:stretch>
        </p:blipFill>
        <p:spPr>
          <a:xfrm>
            <a:off x="658368" y="2834640"/>
            <a:ext cx="1481328" cy="1536192"/>
          </a:xfrm>
          <a:prstGeom prst="rect">
            <a:avLst/>
          </a:prstGeom>
        </p:spPr>
      </p:pic>
      <p:pic>
        <p:nvPicPr>
          <p:cNvPr id="24" name="Picture 23" descr="laptop_neon.jpeg"/>
          <p:cNvPicPr>
            <a:picLocks noChangeAspect="1"/>
          </p:cNvPicPr>
          <p:nvPr/>
        </p:nvPicPr>
        <p:blipFill>
          <a:blip r:embed="rId3"/>
          <a:srcRect l="21155" r="21155"/>
          <a:stretch>
            <a:fillRect/>
          </a:stretch>
        </p:blipFill>
        <p:spPr>
          <a:xfrm>
            <a:off x="2249424" y="2395728"/>
            <a:ext cx="1609344" cy="1975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26" name="Picture 25" descr="logo_intothecom_neg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412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¿Cómo 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435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trabajamos?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La ejecución y el control son tan importantes como la planificación inicial.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868680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88696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Creación de 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143000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Se desarrollan y analizan títulos, descripciones, piezas gráficas, enlaces, CTA y keywords, con foco en la claridad del mensaje.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11226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1305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Presupuesto y Programación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86584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Presupuesto diario y estrategia de puja acordes a los objetivos, programando los anuncios en los momentos clave para el público.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355848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37413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Seguimiento de Campañas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630168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Medición continua del rendimiento con seguimiento de conversiones mediante Google Ads, GA4 y Looker Studio.</a:t>
            </a:r>
          </a:p>
        </p:txBody>
      </p:sp>
      <p:pic>
        <p:nvPicPr>
          <p:cNvPr id="23" name="Picture 22" descr="office_vertical.jpeg"/>
          <p:cNvPicPr>
            <a:picLocks noChangeAspect="1"/>
          </p:cNvPicPr>
          <p:nvPr/>
        </p:nvPicPr>
        <p:blipFill>
          <a:blip r:embed="rId2"/>
          <a:srcRect t="16656" b="16656"/>
          <a:stretch>
            <a:fillRect/>
          </a:stretch>
        </p:blipFill>
        <p:spPr>
          <a:xfrm>
            <a:off x="658368" y="2834640"/>
            <a:ext cx="1481328" cy="1536192"/>
          </a:xfrm>
          <a:prstGeom prst="rect">
            <a:avLst/>
          </a:prstGeom>
        </p:spPr>
      </p:pic>
      <p:pic>
        <p:nvPicPr>
          <p:cNvPr id="24" name="Picture 23" descr="caso_laptop.jpeg"/>
          <p:cNvPicPr>
            <a:picLocks noChangeAspect="1"/>
          </p:cNvPicPr>
          <p:nvPr/>
        </p:nvPicPr>
        <p:blipFill>
          <a:blip r:embed="rId3"/>
          <a:srcRect l="19444" r="19444"/>
          <a:stretch>
            <a:fillRect/>
          </a:stretch>
        </p:blipFill>
        <p:spPr>
          <a:xfrm>
            <a:off x="2249424" y="2395728"/>
            <a:ext cx="1609344" cy="1975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26" name="Picture 25" descr="logo_intothecom_neg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sk_wide.jpeg"/>
          <p:cNvPicPr>
            <a:picLocks noChangeAspect="1"/>
          </p:cNvPicPr>
          <p:nvPr/>
        </p:nvPicPr>
        <p:blipFill>
          <a:blip r:embed="rId2"/>
          <a:srcRect l="5809" r="5809"/>
          <a:stretch>
            <a:fillRect/>
          </a:stretch>
        </p:blipFill>
        <p:spPr>
          <a:xfrm>
            <a:off x="4745736" y="658368"/>
            <a:ext cx="4398264" cy="33192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45736" y="3977639"/>
            <a:ext cx="4398264" cy="116586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8412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Ajuste y análisis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435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continuo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384048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El mercado publicitario es dinámico: lo que funciona un mes puede dejar de hacerlo al siguiente. Por eso el trabajo no termina con el lanzamiento.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10612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07. Ajustes de campañas. </a:t>
            </a:r>
            <a:r>
              <a:rPr sz="1050">
                <a:solidFill>
                  <a:srgbClr val="7F7F7F"/>
                </a:solidFill>
                <a:latin typeface="Be Vietnam Pro"/>
              </a:rPr>
              <a:t>Pruebas A/B, optimización de estrategias de puja y presupuesto, y refinamiento de keywords y audiencias según los datos.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08. Análisis de anuncios y competencia. </a:t>
            </a:r>
            <a:r>
              <a:rPr sz="1050">
                <a:solidFill>
                  <a:srgbClr val="7F7F7F"/>
                </a:solidFill>
                <a:latin typeface="Be Vietnam Pro"/>
              </a:rPr>
              <a:t>Monitoreo de keywords, mensajes y posiciones de la competencia para identificar oportunidades y amenazas.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9" name="Picture 18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62626"/>
                </a:solidFill>
                <a:latin typeface="Be Vietnam Pro"/>
              </a:rPr>
              <a:t>Estructura de Campañas Propuesta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Seis campañas base. La inversión detallada se presenta en el Plan de Medios adjunto.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691640"/>
            <a:ext cx="2798064" cy="1389888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84708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Be Vietnam Pro"/>
              </a:rPr>
              <a:t>Google 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Search | Marca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47802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40" b="0" i="0">
                <a:solidFill>
                  <a:srgbClr val="7F7F7F"/>
                </a:solidFill>
                <a:latin typeface="Be Vietnam Pro"/>
              </a:rPr>
              <a:t>Protege el término propio y captura la demanda ya generada.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82696" y="1691640"/>
            <a:ext cx="2798064" cy="1389888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47288" y="184708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Be Vietnam Pro"/>
              </a:rPr>
              <a:t>Google 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1945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Search | Genérica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247802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40" b="0" i="0">
                <a:solidFill>
                  <a:srgbClr val="7F7F7F"/>
                </a:solidFill>
                <a:latin typeface="Be Vietnam Pro"/>
              </a:rPr>
              <a:t>Demanda de alta intención sobre crédito de consumo digital.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798064" cy="1389888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184708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Be Vietnam Pro"/>
              </a:rPr>
              <a:t>Google 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1945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Search | Inclusión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47802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40" b="0" i="0">
                <a:solidFill>
                  <a:srgbClr val="7F7F7F"/>
                </a:solidFill>
                <a:latin typeface="Be Vietnam Pro"/>
              </a:rPr>
              <a:t>Nicho de independientes y personas sin liquidación de sueldo.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3227832"/>
            <a:ext cx="2798064" cy="1389888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38328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Be Vietnam Pro"/>
              </a:rPr>
              <a:t>Meta 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73075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CTWA | Prospección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1421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40" b="0" i="0">
                <a:solidFill>
                  <a:srgbClr val="7F7F7F"/>
                </a:solidFill>
                <a:latin typeface="Be Vietnam Pro"/>
              </a:rPr>
              <a:t>Click to WhatsApp con segmentación amplia para mercado abierto.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82696" y="3227832"/>
            <a:ext cx="2798064" cy="1389888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47288" y="338328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Be Vietnam Pro"/>
              </a:rPr>
              <a:t>Meta 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7288" y="373075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CTWA | Inclusión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7288" y="401421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40" b="0" i="0">
                <a:solidFill>
                  <a:srgbClr val="7F7F7F"/>
                </a:solidFill>
                <a:latin typeface="Be Vietnam Pro"/>
              </a:rPr>
              <a:t>Testea el diferenciador de evaluación con múltiples fuentes de ingreso.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3227832"/>
            <a:ext cx="2798064" cy="1389888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45936" y="338328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Be Vietnam Pro"/>
              </a:rPr>
              <a:t>Meta 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373075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Retargeting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401421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40" b="0" i="0">
                <a:solidFill>
                  <a:srgbClr val="7F7F7F"/>
                </a:solidFill>
                <a:latin typeface="Be Vietnam Pro"/>
              </a:rPr>
              <a:t>Recupera a quien interactuó o inició conversación sin completar.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38" name="Picture 37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7008" y="498348"/>
            <a:ext cx="7955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82296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Consideraciones regulatorias del canal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813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La publicidad de crédito de consumo opera bajo reglas específicas de cada plataforma. Levantamos estos puntos antes de invertir, no después.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956816"/>
            <a:ext cx="7772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1">
                <a:solidFill>
                  <a:srgbClr val="262626"/>
                </a:solidFill>
                <a:latin typeface="Be Vietnam Pro"/>
              </a:rPr>
              <a:t>Divulgación obligatoria en la landing. </a:t>
            </a:r>
            <a:r>
              <a:rPr sz="930">
                <a:solidFill>
                  <a:srgbClr val="7F7F7F"/>
                </a:solidFill>
                <a:latin typeface="Be Vietnam Pro"/>
              </a:rPr>
              <a:t>Google exige mostrar de forma destacada el plazo mínimo y máximo de pago, la CAE máxima y un ejemplo representativo del costo total incluidas comisiones. Es requisito previo al lanzamiento.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1">
                <a:solidFill>
                  <a:srgbClr val="262626"/>
                </a:solidFill>
                <a:latin typeface="Be Vietnam Pro"/>
              </a:rPr>
              <a:t>Regla de los 61 días. </a:t>
            </a:r>
            <a:r>
              <a:rPr sz="930">
                <a:solidFill>
                  <a:srgbClr val="7F7F7F"/>
                </a:solidFill>
                <a:latin typeface="Be Vietnam Pro"/>
              </a:rPr>
              <a:t>Solo se permiten préstamos personales que requieren el pago íntegro en 61 días o más.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1">
                <a:solidFill>
                  <a:srgbClr val="262626"/>
                </a:solidFill>
                <a:latin typeface="Be Vietnam Pro"/>
              </a:rPr>
              <a:t>Segmentación 18+. </a:t>
            </a:r>
            <a:r>
              <a:rPr sz="930">
                <a:solidFill>
                  <a:srgbClr val="7F7F7F"/>
                </a:solidFill>
                <a:latin typeface="Be Vietnam Pro"/>
              </a:rPr>
              <a:t>Los anuncios de crédito deben dirigirse exclusivamente a mayores de 18 años.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1">
                <a:solidFill>
                  <a:srgbClr val="262626"/>
                </a:solidFill>
                <a:latin typeface="Be Vietnam Pro"/>
              </a:rPr>
              <a:t>Verificación del anunciante. </a:t>
            </a:r>
            <a:r>
              <a:rPr sz="930">
                <a:solidFill>
                  <a:srgbClr val="7F7F7F"/>
                </a:solidFill>
                <a:latin typeface="Be Vietnam Pro"/>
              </a:rPr>
              <a:t>Meta puede requerir verificación de identidad y acreditación ante el organismo regulador correspondiente.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1">
                <a:solidFill>
                  <a:srgbClr val="262626"/>
                </a:solidFill>
                <a:latin typeface="Be Vietnam Pro"/>
              </a:rPr>
              <a:t>Buena noticia sobre segmentación. </a:t>
            </a:r>
            <a:r>
              <a:rPr sz="930">
                <a:solidFill>
                  <a:srgbClr val="7F7F7F"/>
                </a:solidFill>
                <a:latin typeface="Be Vietnam Pro"/>
              </a:rPr>
              <a:t>Las restricciones de categoría especial de Meta aplican a Estados Unidos, Canadá y parte de Europa. En Chile conservamos audiencias personalizadas, lookalikes y segmentación detallada.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6" name="Picture 15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59352" y="0"/>
            <a:ext cx="5184648" cy="5143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v_cm.jpeg"/>
          <p:cNvPicPr>
            <a:picLocks noChangeAspect="1"/>
          </p:cNvPicPr>
          <p:nvPr/>
        </p:nvPicPr>
        <p:blipFill>
          <a:blip r:embed="rId2"/>
          <a:srcRect l="749" r="749"/>
          <a:stretch>
            <a:fillRect/>
          </a:stretch>
        </p:blipFill>
        <p:spPr>
          <a:xfrm>
            <a:off x="-320040" y="932688"/>
            <a:ext cx="4892040" cy="331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Rectangle 6"/>
          <p:cNvSpPr/>
          <p:nvPr/>
        </p:nvSpPr>
        <p:spPr>
          <a:xfrm>
            <a:off x="2130552" y="498348"/>
            <a:ext cx="932687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Datapify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72768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COMMUNITY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42032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EEEEEE"/>
                </a:solidFill>
                <a:latin typeface="Be Vietnam Pro"/>
              </a:rPr>
              <a:t>Construimos comunidades, fortalecemos marcas y generamos conversaciones auténticas. Descubre cómo nuestra estrategia crea conexiones que impactan.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6393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Be Vietnam Pro"/>
              </a:rPr>
              <a:t>Continuar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7" name="Picture 16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ffice_vertical.jpeg"/>
          <p:cNvPicPr>
            <a:picLocks noChangeAspect="1"/>
          </p:cNvPicPr>
          <p:nvPr/>
        </p:nvPicPr>
        <p:blipFill>
          <a:blip r:embed="rId2"/>
          <a:srcRect t="25735" b="25735"/>
          <a:stretch>
            <a:fillRect/>
          </a:stretch>
        </p:blipFill>
        <p:spPr>
          <a:xfrm>
            <a:off x="4745736" y="658368"/>
            <a:ext cx="4398264" cy="33192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45736" y="3977639"/>
            <a:ext cx="4398264" cy="116586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Rectangle 6"/>
          <p:cNvSpPr/>
          <p:nvPr/>
        </p:nvSpPr>
        <p:spPr>
          <a:xfrm>
            <a:off x="2130552" y="498348"/>
            <a:ext cx="932687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8412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¿Qué es 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435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Community Management?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231136"/>
            <a:ext cx="3840480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Es la gestión, construcción y moderación de comunidades en línea en torno a una marca, principalmente en redes sociales y otros canales digitales.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Lo realiza un Community Manager, cuyo rol es actuar como la voz de la marca en el espacio digital, estableciendo una relación directa y personal con la audiencia y los clientes.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1762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En un servicio financiero el rol es distinto: </a:t>
            </a:r>
            <a:r>
              <a:rPr sz="1050">
                <a:solidFill>
                  <a:srgbClr val="7F7F7F"/>
                </a:solidFill>
                <a:latin typeface="Be Vietnam Pro"/>
              </a:rPr>
              <a:t>la comunidad no se construye sobre entretenimiento sino sobre confianza, claridad del proceso y resolución de dudas.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9" name="Picture 18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30552" y="498348"/>
            <a:ext cx="932687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0467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Funciones Claves del Community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" y="1627632"/>
            <a:ext cx="8961120" cy="2907792"/>
          </a:xfrm>
          <a:prstGeom prst="roundRect">
            <a:avLst>
              <a:gd name="adj" fmla="val 35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47088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Gestión de RRSS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31136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EEEEEE"/>
                </a:solidFill>
                <a:latin typeface="Be Vietnam Pro"/>
              </a:rPr>
              <a:t>Creación, programación y publicación de contenido relevante.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1810512"/>
            <a:ext cx="310896" cy="274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847088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Estrategia contenido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231136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EEEEEE"/>
                </a:solidFill>
                <a:latin typeface="Be Vietnam Pro"/>
              </a:rPr>
              <a:t>Alinear publicaciones con los valores, estilo y objetivos de la marca.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0096" y="1810512"/>
            <a:ext cx="310896" cy="274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847088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Interacción comunidad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231136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EEEEEE"/>
                </a:solidFill>
                <a:latin typeface="Be Vietnam Pro"/>
              </a:rPr>
              <a:t>Responder comentarios y mensajes, y gestionar situaciones de reputación.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810512"/>
            <a:ext cx="310896" cy="274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11810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Análisis y reporte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02152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EEEEEE"/>
                </a:solidFill>
                <a:latin typeface="Be Vietnam Pro"/>
              </a:rPr>
              <a:t>Medir el rendimiento, optimizar estrategias y ajustar tácticas.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96896" y="3081528"/>
            <a:ext cx="310896" cy="274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11810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Gestión de crisis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502152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EEEEEE"/>
                </a:solidFill>
                <a:latin typeface="Be Vietnam Pro"/>
              </a:rPr>
              <a:t>Estrategias y acciones para manejar situaciones que puedan afectar la reputación.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0096" y="3081528"/>
            <a:ext cx="310896" cy="274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11810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Monitoreo competencia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02152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EEEEEE"/>
                </a:solidFill>
                <a:latin typeface="Be Vietnam Pro"/>
              </a:rPr>
              <a:t>Identificar tendencias y oportunidades utilizadas en el mercado.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3081528"/>
            <a:ext cx="310896" cy="274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32" name="Picture 31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30552" y="498348"/>
            <a:ext cx="932687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Rol por Plataforma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481328"/>
            <a:ext cx="3840480" cy="278892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783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57000"/>
                </a:solidFill>
                <a:latin typeface="Be Vietnam Pro"/>
              </a:rPr>
              <a:t>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19456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Be Vietnam Pro"/>
              </a:rPr>
              <a:t>Rol interactivo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56032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EEEEEE"/>
                </a:solidFill>
                <a:latin typeface="Be Vietnam Pro"/>
              </a:rPr>
              <a:t>El aspecto visual es clave para captar la atención, combinado con contenido que fomente la participación y construcción de comunidad. Se aprovechan historias interactivas, enlaces, videos cortos y transmisiones en vivo para mejorar la conexión con la audiencia.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27448" y="1481328"/>
            <a:ext cx="3840480" cy="278892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1783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57000"/>
                </a:solidFill>
                <a:latin typeface="Be Vietnam Pro"/>
              </a:rPr>
              <a:t>TIKTOK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19456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Rol de visibilidad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56032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Ideal para contenido en tendencia, auténtico y creativo, potenciando el reconocimiento de marca. Su algoritmo muestra videos según las preferencias del usuario, facilitando la exploración de nuevos segmentos de mercado.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21" name="Picture 20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59352" y="0"/>
            <a:ext cx="5184648" cy="5143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v_email.jpeg"/>
          <p:cNvPicPr>
            <a:picLocks noChangeAspect="1"/>
          </p:cNvPicPr>
          <p:nvPr/>
        </p:nvPicPr>
        <p:blipFill>
          <a:blip r:embed="rId2"/>
          <a:srcRect l="713" r="713"/>
          <a:stretch>
            <a:fillRect/>
          </a:stretch>
        </p:blipFill>
        <p:spPr>
          <a:xfrm>
            <a:off x="-320040" y="932688"/>
            <a:ext cx="4892040" cy="331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Email 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91255" y="498348"/>
            <a:ext cx="65836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Datapify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72768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EMAIL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42032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EEEEEE"/>
                </a:solidFill>
                <a:latin typeface="Be Vietnam Pro"/>
              </a:rPr>
              <a:t>Conexiones personalizadas, automatización inteligente y conversiones efectivas. Descubre cómo el Email Marketing potencia la relación con tus clientes y maximiza tu retorno.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6393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Be Vietnam Pro"/>
              </a:rPr>
              <a:t>Continuar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7" name="Picture 16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ptop_neon.jpeg"/>
          <p:cNvPicPr>
            <a:picLocks noChangeAspect="1"/>
          </p:cNvPicPr>
          <p:nvPr/>
        </p:nvPicPr>
        <p:blipFill>
          <a:blip r:embed="rId2"/>
          <a:srcRect l="3092" r="3092"/>
          <a:stretch>
            <a:fillRect/>
          </a:stretch>
        </p:blipFill>
        <p:spPr>
          <a:xfrm>
            <a:off x="4745736" y="658368"/>
            <a:ext cx="4398264" cy="33192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45736" y="3977639"/>
            <a:ext cx="4398264" cy="116586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Email 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91255" y="498348"/>
            <a:ext cx="65836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8412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¿En qué consiste 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435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Email Marketing?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384048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Es una estrategia de comunicación digital que utiliza el correo electrónico como canal para promocionar ofertas, informar y mantener contacto directo con los clientes.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10612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Menos invasivo: </a:t>
            </a:r>
            <a:r>
              <a:rPr sz="1050">
                <a:solidFill>
                  <a:srgbClr val="7F7F7F"/>
                </a:solidFill>
                <a:latin typeface="Be Vietnam Pro"/>
              </a:rPr>
              <a:t>permite interactuar con el contenido según la conveniencia del usuario, mejorando la experiencia con la marca.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Ofrece métricas de seguimiento: </a:t>
            </a:r>
            <a:r>
              <a:rPr sz="1050">
                <a:solidFill>
                  <a:srgbClr val="7F7F7F"/>
                </a:solidFill>
                <a:latin typeface="Be Vietnam Pro"/>
              </a:rPr>
              <a:t>visibilidad y trazabilidad de la efectividad de las campañas, con KPI de apertura, clics y rebote.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Fidelización: </a:t>
            </a:r>
            <a:r>
              <a:rPr sz="1050">
                <a:solidFill>
                  <a:srgbClr val="7F7F7F"/>
                </a:solidFill>
                <a:latin typeface="Be Vietnam Pro"/>
              </a:rPr>
              <a:t>permite trabajar las bases existentes y potenciar la contratación recurrente de productos.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9" name="Picture 18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Email 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1255" y="498348"/>
            <a:ext cx="65836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7772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El canal donde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7957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los flujos mandan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55648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Los datos de la industria son claros: el valor del email no está en el volumen de campañas enviadas, sino en los flujos automatizados que reaccionan al comportamiento de cada usuario.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Por eso nuestra propuesta prioriza la arquitectura de flujos por sobre la cantidad de envíos masivos, sin dejar de cumplir la cadencia comprometida.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234440"/>
            <a:ext cx="1874519" cy="1481328"/>
          </a:xfrm>
          <a:prstGeom prst="roundRect">
            <a:avLst>
              <a:gd name="adj" fmla="val 8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50876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Be Vietnam Pro"/>
              </a:rPr>
              <a:t>41%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039112"/>
            <a:ext cx="16550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Be Vietnam Pro"/>
              </a:rPr>
              <a:t>de los ingresos por email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Be Vietnam Pro"/>
              </a:rPr>
              <a:t>los generan los flujos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31151" y="1234440"/>
            <a:ext cx="1874519" cy="148132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1" y="150876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262626"/>
                </a:solidFill>
                <a:latin typeface="Be Vietnam Pro"/>
              </a:rPr>
              <a:t>5,3%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2039112"/>
            <a:ext cx="16550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595959"/>
                </a:solidFill>
                <a:latin typeface="Be Vietnam Pro"/>
              </a:rPr>
              <a:t>de los envíos totales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595959"/>
                </a:solidFill>
                <a:latin typeface="Be Vietnam Pro"/>
              </a:rPr>
              <a:t>representan esos flujos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880360"/>
            <a:ext cx="1874519" cy="148132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15468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262626"/>
                </a:solidFill>
                <a:latin typeface="Be Vietnam Pro"/>
              </a:rPr>
              <a:t>5,58%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3685032"/>
            <a:ext cx="16550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595959"/>
                </a:solidFill>
                <a:latin typeface="Be Vietnam Pro"/>
              </a:rPr>
              <a:t>click rate de flujos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595959"/>
                </a:solidFill>
                <a:latin typeface="Be Vietnam Pro"/>
              </a:rPr>
              <a:t>vs 1,69% de campañas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1" y="2880360"/>
            <a:ext cx="1874519" cy="148132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1" y="315468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262626"/>
                </a:solidFill>
                <a:latin typeface="Be Vietnam Pro"/>
              </a:rPr>
              <a:t>3,4%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3685032"/>
            <a:ext cx="16550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595959"/>
                </a:solidFill>
                <a:latin typeface="Be Vietnam Pro"/>
              </a:rPr>
              <a:t>click rate promedio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 i="0">
                <a:solidFill>
                  <a:srgbClr val="595959"/>
                </a:solidFill>
                <a:latin typeface="Be Vietnam Pro"/>
              </a:rPr>
              <a:t>en banca y finanzas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40740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00" b="0" i="1">
                <a:solidFill>
                  <a:srgbClr val="7F7F7F"/>
                </a:solidFill>
                <a:latin typeface="Be Vietnam Pro"/>
              </a:rPr>
              <a:t>Fuente: Klaviyo Benchmarks 2026 (183.000 cuentas) y benchmarks de email por industria.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28" name="Picture 27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Email 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1255" y="498348"/>
            <a:ext cx="65836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412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Estrategia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435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y objetivos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Metodología de trabajo para construir el programa de email desde cero o sobre una base existente.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868680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88696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Definir objetivos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143000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Objetivos con metodología SMART en base a los resultados deseados para las campañas y flujos.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11226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1305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Captación y 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86584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Definir cómo se alimentan las bases: publicidad, formularios en el sitio y datos propios de la marca.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355848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37413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Herramienta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630168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Selección de la plataforma según tamaño de lista, funciones de automatización, integraciones y requisitos de tratamiento de datos.</a:t>
            </a:r>
          </a:p>
        </p:txBody>
      </p:sp>
      <p:pic>
        <p:nvPicPr>
          <p:cNvPr id="23" name="Picture 22" descr="div_email.jpeg"/>
          <p:cNvPicPr>
            <a:picLocks noChangeAspect="1"/>
          </p:cNvPicPr>
          <p:nvPr/>
        </p:nvPicPr>
        <p:blipFill>
          <a:blip r:embed="rId2"/>
          <a:srcRect t="6093" b="6093"/>
          <a:stretch>
            <a:fillRect/>
          </a:stretch>
        </p:blipFill>
        <p:spPr>
          <a:xfrm>
            <a:off x="658368" y="2487168"/>
            <a:ext cx="3200400" cy="187451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25" name="Picture 24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Email 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1255" y="498348"/>
            <a:ext cx="65836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412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Estrategia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435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y objetivos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Una vez definida la base, el trabajo se concentra en automatizar y medir.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868680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88696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Contenido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143000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Definición entre automatización y creación manual de newsletters, con línea editorial acorde a la marca.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11226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1305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Automatización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86584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Implementación de las secuencias que reaccionan al comportamiento del usuario en cada etapa del proceso.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355848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E57000"/>
                </a:solidFill>
                <a:latin typeface="Be Vietnam Pro"/>
              </a:rPr>
              <a:t>06.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37413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57000"/>
                </a:solidFill>
                <a:latin typeface="Be Vietnam Pro"/>
              </a:rPr>
              <a:t>Control y optimización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630168"/>
            <a:ext cx="3977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0">
                <a:solidFill>
                  <a:srgbClr val="7F7F7F"/>
                </a:solidFill>
                <a:latin typeface="Be Vietnam Pro"/>
              </a:rPr>
              <a:t>Medición cíclica de resultados y optimización continua para mejorar la eficiencia de la estrategia.</a:t>
            </a:r>
          </a:p>
        </p:txBody>
      </p:sp>
      <p:pic>
        <p:nvPicPr>
          <p:cNvPr id="23" name="Picture 22" descr="office_wide.jpeg"/>
          <p:cNvPicPr>
            <a:picLocks noChangeAspect="1"/>
          </p:cNvPicPr>
          <p:nvPr/>
        </p:nvPicPr>
        <p:blipFill>
          <a:blip r:embed="rId2"/>
          <a:srcRect t="6061" b="6061"/>
          <a:stretch>
            <a:fillRect/>
          </a:stretch>
        </p:blipFill>
        <p:spPr>
          <a:xfrm>
            <a:off x="658368" y="2487168"/>
            <a:ext cx="3200400" cy="187451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25" name="Picture 24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Email 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1255" y="498348"/>
            <a:ext cx="65836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Flujos Propuestos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1704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Arquitectura de automatizaciones ordenada por valor esperado. Se implementa por fases.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645920"/>
            <a:ext cx="2084831" cy="1298448"/>
          </a:xfrm>
          <a:prstGeom prst="roundRect">
            <a:avLst>
              <a:gd name="adj" fmla="val 7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105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E57000"/>
                </a:solidFill>
                <a:latin typeface="Be Vietnam Pro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066544"/>
            <a:ext cx="177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Be Vietnam Pro"/>
              </a:rPr>
              <a:t>Preaprobado sin usar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450592"/>
            <a:ext cx="17739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EEEEEE"/>
                </a:solidFill>
                <a:latin typeface="Be Vietnam Pro"/>
              </a:rPr>
              <a:t>Tiene oferta vigente y no la activa. El de mayor retorno.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9463" y="1645920"/>
            <a:ext cx="2084831" cy="1298448"/>
          </a:xfrm>
          <a:prstGeom prst="roundRect">
            <a:avLst>
              <a:gd name="adj" fmla="val 7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4055" y="18105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E57000"/>
                </a:solidFill>
                <a:latin typeface="Be Vietnam Pr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5" y="2066544"/>
            <a:ext cx="177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Be Vietnam Pro"/>
              </a:rPr>
              <a:t>Solicitud abandonada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5" y="2450592"/>
            <a:ext cx="17739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EEEEEE"/>
                </a:solidFill>
                <a:latin typeface="Be Vietnam Pro"/>
              </a:rPr>
              <a:t>Inició el proceso y no lo completó.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78" y="1645920"/>
            <a:ext cx="2084831" cy="1298448"/>
          </a:xfrm>
          <a:prstGeom prst="roundRect">
            <a:avLst>
              <a:gd name="adj" fmla="val 7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0" y="18105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E57000"/>
                </a:solidFill>
                <a:latin typeface="Be Vietnam Pr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0" y="2066544"/>
            <a:ext cx="177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Be Vietnam Pro"/>
              </a:rPr>
              <a:t>Contrato no firmado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0" y="2450592"/>
            <a:ext cx="17739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EEEEEE"/>
                </a:solidFill>
                <a:latin typeface="Be Vietnam Pro"/>
              </a:rPr>
              <a:t>Llegó al final y no firmó. Máxima urgencia.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3" y="1645920"/>
            <a:ext cx="2084831" cy="1298448"/>
          </a:xfrm>
          <a:prstGeom prst="roundRect">
            <a:avLst>
              <a:gd name="adj" fmla="val 7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5" y="18105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E57000"/>
                </a:solidFill>
                <a:latin typeface="Be Vietnam Pr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5" y="2066544"/>
            <a:ext cx="177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 i="0">
                <a:solidFill>
                  <a:srgbClr val="262626"/>
                </a:solidFill>
                <a:latin typeface="Be Vietnam Pro"/>
              </a:rPr>
              <a:t>Onboarding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5" y="2450592"/>
            <a:ext cx="17739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7F7F7F"/>
                </a:solidFill>
                <a:latin typeface="Be Vietnam Pro"/>
              </a:rPr>
              <a:t>Acompaña al usuario nuevo en los pasos previos a solicitar.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3099816"/>
            <a:ext cx="2084831" cy="1298448"/>
          </a:xfrm>
          <a:prstGeom prst="roundRect">
            <a:avLst>
              <a:gd name="adj" fmla="val 7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6440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E57000"/>
                </a:solidFill>
                <a:latin typeface="Be Vietnam Pro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520440"/>
            <a:ext cx="177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 i="0">
                <a:solidFill>
                  <a:srgbClr val="262626"/>
                </a:solidFill>
                <a:latin typeface="Be Vietnam Pro"/>
              </a:rPr>
              <a:t>Nurture educativo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04488"/>
            <a:ext cx="17739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7F7F7F"/>
                </a:solidFill>
                <a:latin typeface="Be Vietnam Pro"/>
              </a:rPr>
              <a:t>Historial crediticio y salud financiera para quien no está listo.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9463" y="3099816"/>
            <a:ext cx="2084831" cy="1298448"/>
          </a:xfrm>
          <a:prstGeom prst="roundRect">
            <a:avLst>
              <a:gd name="adj" fmla="val 7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34055" y="326440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E57000"/>
                </a:solidFill>
                <a:latin typeface="Be Vietnam Pro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34055" y="3520440"/>
            <a:ext cx="177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 i="0">
                <a:solidFill>
                  <a:srgbClr val="262626"/>
                </a:solidFill>
                <a:latin typeface="Be Vietnam Pro"/>
              </a:rPr>
              <a:t>Winback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5" y="3904488"/>
            <a:ext cx="17739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7F7F7F"/>
                </a:solidFill>
                <a:latin typeface="Be Vietnam Pro"/>
              </a:rPr>
              <a:t>Reactivación de bases frías previamente segmentadas.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78" y="3099816"/>
            <a:ext cx="2084831" cy="1298448"/>
          </a:xfrm>
          <a:prstGeom prst="roundRect">
            <a:avLst>
              <a:gd name="adj" fmla="val 7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19470" y="326440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E57000"/>
                </a:solidFill>
                <a:latin typeface="Be Vietnam Pro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9470" y="3520440"/>
            <a:ext cx="177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 i="0">
                <a:solidFill>
                  <a:srgbClr val="262626"/>
                </a:solidFill>
                <a:latin typeface="Be Vietnam Pro"/>
              </a:rPr>
              <a:t>Post-contratación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9470" y="3904488"/>
            <a:ext cx="17739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7F7F7F"/>
                </a:solidFill>
                <a:latin typeface="Be Vietnam Pro"/>
              </a:rPr>
              <a:t>Cross-sell de otros productos del ecosistema.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40293" y="3099816"/>
            <a:ext cx="2084831" cy="1298448"/>
          </a:xfrm>
          <a:prstGeom prst="roundRect">
            <a:avLst>
              <a:gd name="adj" fmla="val 7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04885" y="326440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E57000"/>
                </a:solidFill>
                <a:latin typeface="Be Vietnam Pro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5" y="3520440"/>
            <a:ext cx="177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 i="0">
                <a:solidFill>
                  <a:srgbClr val="262626"/>
                </a:solidFill>
                <a:latin typeface="Be Vietnam Pro"/>
              </a:rPr>
              <a:t>Sunset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85" y="3904488"/>
            <a:ext cx="17739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80" b="0" i="0">
                <a:solidFill>
                  <a:srgbClr val="7F7F7F"/>
                </a:solidFill>
                <a:latin typeface="Be Vietnam Pro"/>
              </a:rPr>
              <a:t>Higiene de lista. Crítico para la entregabilidad con bases antiguas.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46" name="Picture 45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59352" y="0"/>
            <a:ext cx="5184648" cy="5143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ffice_vertical.jpeg"/>
          <p:cNvPicPr>
            <a:picLocks noChangeAspect="1"/>
          </p:cNvPicPr>
          <p:nvPr/>
        </p:nvPicPr>
        <p:blipFill>
          <a:blip r:embed="rId2"/>
          <a:srcRect t="28244" b="28244"/>
          <a:stretch>
            <a:fillRect/>
          </a:stretch>
        </p:blipFill>
        <p:spPr>
          <a:xfrm>
            <a:off x="-320040" y="932688"/>
            <a:ext cx="4892040" cy="331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Datapify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498348"/>
            <a:ext cx="65836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72768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DATAPIFY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42032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EEEEEE"/>
                </a:solidFill>
                <a:latin typeface="Be Vietnam Pro"/>
              </a:rPr>
              <a:t>La capa conversacional que opera sobre las campañas: un agente de IA en WhatsApp que atiende, califica y deriva, disponible las 24 horas.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6393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Be Vietnam Pro"/>
              </a:rPr>
              <a:t>Continuar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7" name="Picture 16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v_cm.jpeg"/>
          <p:cNvPicPr>
            <a:picLocks noChangeAspect="1"/>
          </p:cNvPicPr>
          <p:nvPr/>
        </p:nvPicPr>
        <p:blipFill>
          <a:blip r:embed="rId2"/>
          <a:srcRect l="5842" r="5842"/>
          <a:stretch>
            <a:fillRect/>
          </a:stretch>
        </p:blipFill>
        <p:spPr>
          <a:xfrm>
            <a:off x="4745736" y="658368"/>
            <a:ext cx="4398264" cy="33192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45736" y="3977639"/>
            <a:ext cx="4398264" cy="116586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Datapify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498348"/>
            <a:ext cx="65836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8412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Qué incluye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435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Datapify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Plataforma de automatización conversacional que integramos directamente con las campañas de Paid Media.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23159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80" b="0">
                <a:solidFill>
                  <a:srgbClr val="7F7F7F"/>
                </a:solidFill>
                <a:latin typeface="Be Vietnam Pro"/>
              </a:rPr>
              <a:t>Chat IA en WhatsApp disponible 24/7, en español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80" b="0">
                <a:solidFill>
                  <a:srgbClr val="7F7F7F"/>
                </a:solidFill>
                <a:latin typeface="Be Vietnam Pro"/>
              </a:rPr>
              <a:t>Búsqueda semántica y comprensión del contexto de la conversación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80" b="0">
                <a:solidFill>
                  <a:srgbClr val="7F7F7F"/>
                </a:solidFill>
                <a:latin typeface="Be Vietnam Pro"/>
              </a:rPr>
              <a:t>Segmentos inteligentes que agrupan contactos según su comportamiento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80" b="0">
                <a:solidFill>
                  <a:srgbClr val="7F7F7F"/>
                </a:solidFill>
                <a:latin typeface="Be Vietnam Pro"/>
              </a:rPr>
              <a:t>Recuperación automática de procesos abandonados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80" b="0">
                <a:solidFill>
                  <a:srgbClr val="7F7F7F"/>
                </a:solidFill>
                <a:latin typeface="Be Vietnam Pro"/>
              </a:rPr>
              <a:t>Agenda de reuniones integrada al calendario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80" b="0">
                <a:solidFill>
                  <a:srgbClr val="7F7F7F"/>
                </a:solidFill>
                <a:latin typeface="Be Vietnam Pro"/>
              </a:rPr>
              <a:t>Dashboard con métricas de todas las conversaciones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80" b="0">
                <a:solidFill>
                  <a:srgbClr val="7F7F7F"/>
                </a:solidFill>
                <a:latin typeface="Be Vietnam Pro"/>
              </a:rPr>
              <a:t>Campañas con plantillas aprobadas por Meta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9" name="Picture 18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Datapify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498348"/>
            <a:ext cx="65836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82296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Cómo se integra con las campañas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813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Datapify no reemplaza el trabajo de campañas: es el destino al que llegan y el mecanismo que convierte el clic en un prospecto calificado.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956816"/>
            <a:ext cx="7772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1">
                <a:solidFill>
                  <a:srgbClr val="262626"/>
                </a:solidFill>
                <a:latin typeface="Be Vietnam Pro"/>
              </a:rPr>
              <a:t>El anuncio abre la conversación. </a:t>
            </a:r>
            <a:r>
              <a:rPr sz="950">
                <a:solidFill>
                  <a:srgbClr val="7F7F7F"/>
                </a:solidFill>
                <a:latin typeface="Be Vietnam Pro"/>
              </a:rPr>
              <a:t>Las campañas Click to WhatsApp de Meta llevan al usuario directamente al chat, sin formularios intermedios.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1">
                <a:solidFill>
                  <a:srgbClr val="262626"/>
                </a:solidFill>
                <a:latin typeface="Be Vietnam Pro"/>
              </a:rPr>
              <a:t>El agente levanta y califica. </a:t>
            </a:r>
            <a:r>
              <a:rPr sz="950">
                <a:solidFill>
                  <a:srgbClr val="7F7F7F"/>
                </a:solidFill>
                <a:latin typeface="Be Vietnam Pro"/>
              </a:rPr>
              <a:t>Recoge la información que la marca defina como criterio de calificación y resuelve dudas del proceso en tiempo real.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1">
                <a:solidFill>
                  <a:srgbClr val="262626"/>
                </a:solidFill>
                <a:latin typeface="Be Vietnam Pro"/>
              </a:rPr>
              <a:t>Deriva solo lo calificado. </a:t>
            </a:r>
            <a:r>
              <a:rPr sz="950">
                <a:solidFill>
                  <a:srgbClr val="7F7F7F"/>
                </a:solidFill>
                <a:latin typeface="Be Vietnam Pro"/>
              </a:rPr>
              <a:t>El área comercial recibe prospectos filtrados en lugar de volumen sin depurar.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1">
                <a:solidFill>
                  <a:srgbClr val="262626"/>
                </a:solidFill>
                <a:latin typeface="Be Vietnam Pro"/>
              </a:rPr>
              <a:t>Recupera lo que se cae. </a:t>
            </a:r>
            <a:r>
              <a:rPr sz="950">
                <a:solidFill>
                  <a:srgbClr val="7F7F7F"/>
                </a:solidFill>
                <a:latin typeface="Be Vietnam Pro"/>
              </a:rPr>
              <a:t>Detecta procesos incompletos y reactiva la conversación, complementando los flujos de email.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1">
                <a:solidFill>
                  <a:srgbClr val="262626"/>
                </a:solidFill>
                <a:latin typeface="Be Vietnam Pro"/>
              </a:rPr>
              <a:t>Opera fuera de horario. </a:t>
            </a:r>
            <a:r>
              <a:rPr sz="950">
                <a:solidFill>
                  <a:srgbClr val="7F7F7F"/>
                </a:solidFill>
                <a:latin typeface="Be Vietnam Pro"/>
              </a:rPr>
              <a:t>La intención de solicitar un crédito no se limita al horario hábil.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6" name="Picture 15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Datapify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498348"/>
            <a:ext cx="65836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Medición: eventos a marcar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17043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Sin estos eventos, optimizar a "lead" genera volumen que el área comercial no cierra. Medimos hasta el final del embudo.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961388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262626"/>
                </a:solidFill>
                <a:latin typeface="Be Vietnam Pro"/>
              </a:rPr>
              <a:t>Clic en anuncio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59" y="1737360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3" y="1961388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262626"/>
                </a:solidFill>
                <a:latin typeface="Be Vietnam Pro"/>
              </a:rPr>
              <a:t>Conversación iniciada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18" y="1737360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2" y="1961388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262626"/>
                </a:solidFill>
                <a:latin typeface="Be Vietnam Pro"/>
              </a:rPr>
              <a:t>Datos de contacto entregados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77" y="1737360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7181" y="1961388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Be Vietnam Pro"/>
              </a:rPr>
              <a:t>Prospecto calificado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23744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2747772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262626"/>
                </a:solidFill>
                <a:latin typeface="Be Vietnam Pro"/>
              </a:rPr>
              <a:t>Derivación a contratación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59" y="2523744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8063" y="2747772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262626"/>
                </a:solidFill>
                <a:latin typeface="Be Vietnam Pro"/>
              </a:rPr>
              <a:t>Solicitud iniciada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18" y="2523744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92622" y="2747772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262626"/>
                </a:solidFill>
                <a:latin typeface="Be Vietnam Pro"/>
              </a:rPr>
              <a:t>Solicitud completada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77" y="2523744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87181" y="2747772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262626"/>
                </a:solidFill>
                <a:latin typeface="Be Vietnam Pro"/>
              </a:rPr>
              <a:t>Contrato firmado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310128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534156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Be Vietnam Pro"/>
              </a:rPr>
              <a:t>Crédito cursado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59" y="3310128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98063" y="3534156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Be Vietnam Pro"/>
              </a:rPr>
              <a:t>Monto cursado (valor)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18" y="3310128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92622" y="3534156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262626"/>
                </a:solidFill>
                <a:latin typeface="Be Vietnam Pro"/>
              </a:rPr>
              <a:t>Rechazo y motivo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77" y="3310128"/>
            <a:ext cx="2084831" cy="658368"/>
          </a:xfrm>
          <a:prstGeom prst="roundRect">
            <a:avLst>
              <a:gd name="adj" fmla="val 13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87181" y="3534156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262626"/>
                </a:solidFill>
                <a:latin typeface="Be Vietnam Pro"/>
              </a:rPr>
              <a:t>Recuperación por flujo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315968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0" i="1">
                <a:solidFill>
                  <a:srgbClr val="7F7F7F"/>
                </a:solidFill>
                <a:latin typeface="Be Vietnam Pro"/>
              </a:rPr>
              <a:t>En naranjo, los tres eventos que consideramos irrenunciables para evaluar el desempeño real.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39" name="Picture 38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Datapify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498348"/>
            <a:ext cx="65836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82296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Casos adicionales a evaluar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813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Dejamos planteadas estas preguntas para que el equipo evalúe si corresponde incorporarlas al alcance de medición. No asumimos respuestas.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956816"/>
            <a:ext cx="7772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0">
                <a:solidFill>
                  <a:srgbClr val="7F7F7F"/>
                </a:solidFill>
                <a:latin typeface="Be Vietnam Pro"/>
              </a:rPr>
              <a:t>¿El curse ocurre solo en la app o existen otros canales de contratación que deban atribuirse a las campañas?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0">
                <a:solidFill>
                  <a:srgbClr val="7F7F7F"/>
                </a:solidFill>
                <a:latin typeface="Be Vietnam Pro"/>
              </a:rPr>
              <a:t>¿Se puede devolver el resultado de la evaluación crediticia a las plataformas para optimizar hacia prospectos aprobables y no solo hacia volumen?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0">
                <a:solidFill>
                  <a:srgbClr val="7F7F7F"/>
                </a:solidFill>
                <a:latin typeface="Be Vietnam Pro"/>
              </a:rPr>
              <a:t>¿Existe un identificador que permita seguir al prospecto desde el anuncio hasta el curse sin romper la trazabilidad?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0">
                <a:solidFill>
                  <a:srgbClr val="7F7F7F"/>
                </a:solidFill>
                <a:latin typeface="Be Vietnam Pro"/>
              </a:rPr>
              <a:t>¿Se requiere medir el monto cursado como valor de conversión, o basta el conteo de operaciones?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0">
                <a:solidFill>
                  <a:srgbClr val="7F7F7F"/>
                </a:solidFill>
                <a:latin typeface="Be Vietnam Pro"/>
              </a:rPr>
              <a:t>¿Hay otros productos del ecosistema — seguros, hipotecario, inversión — que deban entrar al modelo de atribución?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0">
                <a:solidFill>
                  <a:srgbClr val="7F7F7F"/>
                </a:solidFill>
                <a:latin typeface="Be Vietnam Pro"/>
              </a:rPr>
              <a:t>¿Qué ventana de atribución refleja mejor el ciclo real de decisión de un crédito de consumo?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3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30" b="0">
                <a:solidFill>
                  <a:srgbClr val="7F7F7F"/>
                </a:solidFill>
                <a:latin typeface="Be Vietnam Pro"/>
              </a:rPr>
              <a:t>¿Se dispone de datos de rechazo y sus motivos para retroalimentar la segmentación de campañas?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6" name="Picture 15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59352" y="0"/>
            <a:ext cx="5184648" cy="5143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ffice_wide.jpeg"/>
          <p:cNvPicPr>
            <a:picLocks noChangeAspect="1"/>
          </p:cNvPicPr>
          <p:nvPr/>
        </p:nvPicPr>
        <p:blipFill>
          <a:blip r:embed="rId2"/>
          <a:srcRect l="749" r="749"/>
          <a:stretch>
            <a:fillRect/>
          </a:stretch>
        </p:blipFill>
        <p:spPr>
          <a:xfrm>
            <a:off x="-320040" y="932688"/>
            <a:ext cx="4892040" cy="331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4023" y="498348"/>
            <a:ext cx="86410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72768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CASOS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DE ÉXITO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42032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EEEEEE"/>
                </a:solidFill>
                <a:latin typeface="Be Vietnam Pro"/>
              </a:rPr>
              <a:t>Resultados que marcan la diferencia. Optimizamos marcas con estrategias en Paid Media, Community Management y Email Marketing, logrando mayor tráfico, engagement y conversiones.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6393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Be Vietnam Pro"/>
              </a:rPr>
              <a:t>Continuar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7" name="Picture 16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so_laptop.jpeg"/>
          <p:cNvPicPr>
            <a:picLocks noChangeAspect="1"/>
          </p:cNvPicPr>
          <p:nvPr/>
        </p:nvPicPr>
        <p:blipFill>
          <a:blip r:embed="rId2"/>
          <a:srcRect l="310" r="310"/>
          <a:stretch>
            <a:fillRect/>
          </a:stretch>
        </p:blipFill>
        <p:spPr>
          <a:xfrm>
            <a:off x="4745736" y="658368"/>
            <a:ext cx="4398264" cy="33192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45736" y="3977639"/>
            <a:ext cx="4398264" cy="116586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4023" y="498348"/>
            <a:ext cx="86410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8412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Caso Paid Media: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435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Granja Magdalena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3840480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Briefing: la marca vendía de manera orgánica un promedio de 100 millones de pesos mensuales antes de la pandemia. Durante la pandemia las ventas subieron a un promedio de 200 millones mensuales a través del sitio web.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Desafío: posterior a la pandemia las ventas bajaron a una media de 100 millones mensuales, por lo que se necesitaba tomar acción para repuntar.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602736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Enfoque: </a:t>
            </a:r>
            <a:r>
              <a:rPr sz="1050">
                <a:solidFill>
                  <a:srgbClr val="7F7F7F"/>
                </a:solidFill>
                <a:latin typeface="Be Vietnam Pro"/>
              </a:rPr>
              <a:t>campañas orientadas a conversión, testeando distintos formatos de anuncios y segmentos hasta encontrar la combinación rentable.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9" name="Picture 18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Casos Éxito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4023" y="498348"/>
            <a:ext cx="86410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0467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Resultados Globales </a:t>
            </a:r>
            <a:r>
              <a:rPr sz="2300" b="1" i="0">
                <a:solidFill>
                  <a:srgbClr val="E57000"/>
                </a:solidFill>
                <a:latin typeface="Be Vietnam Pro"/>
              </a:rPr>
              <a:t>de Campañas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89888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Durante los meses en que se trabajaron las campañas se implementaron y probaron diferentes gráficas diseñadas para alinearse con la intención de la marca y las necesidades específicas de los usuarios. Estos esfuerzos resultaron en las siguientes métricas.</a:t>
            </a:r>
          </a:p>
        </p:txBody>
      </p:sp>
      <p:pic>
        <p:nvPicPr>
          <p:cNvPr id="13" name="Picture 12" descr="office_wide.jpeg"/>
          <p:cNvPicPr>
            <a:picLocks noChangeAspect="1"/>
          </p:cNvPicPr>
          <p:nvPr/>
        </p:nvPicPr>
        <p:blipFill>
          <a:blip r:embed="rId2"/>
          <a:srcRect t="9473" b="9473"/>
          <a:stretch>
            <a:fillRect/>
          </a:stretch>
        </p:blipFill>
        <p:spPr>
          <a:xfrm>
            <a:off x="548640" y="2331720"/>
            <a:ext cx="3977639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 rot="16200000">
            <a:off x="-566928" y="3063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Be Vietnam Pro"/>
              </a:rPr>
              <a:t>Granja Magdalena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32588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636776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Be Vietnam Pro"/>
              </a:rPr>
              <a:t>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167128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Be Vietnam Pro"/>
              </a:rPr>
              <a:t>ROAS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Be Vietnam Pro"/>
              </a:rPr>
              <a:t>Promedio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31151" y="132588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31151" y="132588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1" y="1636776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262626"/>
                </a:solidFill>
                <a:latin typeface="Be Vietnam Pro"/>
              </a:rPr>
              <a:t>155.7M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1" y="2167128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+49% mensual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92040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218688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262626"/>
                </a:solidFill>
                <a:latin typeface="Be Vietnam Pro"/>
              </a:rPr>
              <a:t>+31%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7490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Pedidos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totales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1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31151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1" y="3218688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262626"/>
                </a:solidFill>
                <a:latin typeface="Be Vietnam Pro"/>
              </a:rPr>
              <a:t>+35%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1" y="37490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Sesiones en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tienda online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31" name="Picture 30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v_cm.jpeg"/>
          <p:cNvPicPr>
            <a:picLocks noChangeAspect="1"/>
          </p:cNvPicPr>
          <p:nvPr/>
        </p:nvPicPr>
        <p:blipFill>
          <a:blip r:embed="rId2"/>
          <a:srcRect l="5842" r="5842"/>
          <a:stretch>
            <a:fillRect/>
          </a:stretch>
        </p:blipFill>
        <p:spPr>
          <a:xfrm>
            <a:off x="4745736" y="658368"/>
            <a:ext cx="4398264" cy="33192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45736" y="3977639"/>
            <a:ext cx="4398264" cy="116586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4023" y="498348"/>
            <a:ext cx="86410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8412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Caso Community M.: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435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Inmobiliaria HCG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3840480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Inmobiliaria HCG inició en febrero de 2024 un servicio de Community Management con el objetivo de optimizar su presencia digital.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La situación inicial presentaba contenido básico y estándar que no generaba interacción ni captación de leads. Se estableció como meta mejorar la calidad del contenido gráfico y audiovisual para atraer leads y aumentar las ventas.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602736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Enfoque: </a:t>
            </a:r>
            <a:r>
              <a:rPr sz="1050">
                <a:solidFill>
                  <a:srgbClr val="7F7F7F"/>
                </a:solidFill>
                <a:latin typeface="Be Vietnam Pro"/>
              </a:rPr>
              <a:t>se testearon distintos formatos identificando que los videos y reels generaban mayor engagement, y se incorporó TikTok reutilizando el material creado para Instagram.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9" name="Picture 18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Casos Éxito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4023" y="498348"/>
            <a:ext cx="86410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0467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Resultados </a:t>
            </a:r>
            <a:r>
              <a:rPr sz="2300" b="1" i="0">
                <a:solidFill>
                  <a:srgbClr val="E57000"/>
                </a:solidFill>
                <a:latin typeface="Be Vietnam Pro"/>
              </a:rPr>
              <a:t>Obtenidos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89888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Desde inicio de año a finales de 2024 la marca logró un crecimiento notable en su presencia digital. En Instagram los seguidores aumentaron 1.806 de forma orgánica y el tráfico al perfil creció de 601 a 5.100 visitas mensuales. En TikTok, con solo 18 publicaciones, se obtuvieron 2.361 nuevos seguidores.</a:t>
            </a:r>
          </a:p>
        </p:txBody>
      </p:sp>
      <p:pic>
        <p:nvPicPr>
          <p:cNvPr id="13" name="Picture 12" descr="office_vertical.jpeg"/>
          <p:cNvPicPr>
            <a:picLocks noChangeAspect="1"/>
          </p:cNvPicPr>
          <p:nvPr/>
        </p:nvPicPr>
        <p:blipFill>
          <a:blip r:embed="rId2"/>
          <a:srcRect t="32630" b="32630"/>
          <a:stretch>
            <a:fillRect/>
          </a:stretch>
        </p:blipFill>
        <p:spPr>
          <a:xfrm>
            <a:off x="548640" y="2331720"/>
            <a:ext cx="3977639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 rot="16200000">
            <a:off x="-566928" y="3063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Be Vietnam Pro"/>
              </a:rPr>
              <a:t>Inmobiliaria HCG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32588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636776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Be Vietnam Pro"/>
              </a:rPr>
              <a:t>+2.362%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167128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Be Vietnam Pro"/>
              </a:rPr>
              <a:t>Interacción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Be Vietnam Pro"/>
              </a:rPr>
              <a:t>del perfil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31151" y="132588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31151" y="132588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1" y="1636776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262626"/>
                </a:solidFill>
                <a:latin typeface="Be Vietnam Pro"/>
              </a:rPr>
              <a:t>+848%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1" y="2167128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Actividad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del perfil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92040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218688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262626"/>
                </a:solidFill>
                <a:latin typeface="Be Vietnam Pro"/>
              </a:rPr>
              <a:t>+237%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7490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Crecimiento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de seguidores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1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31151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1" y="3218688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262626"/>
                </a:solidFill>
                <a:latin typeface="Be Vietnam Pro"/>
              </a:rPr>
              <a:t>433K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1" y="37490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Views orgánicas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de un solo video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31" name="Picture 30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v_email.jpeg"/>
          <p:cNvPicPr>
            <a:picLocks noChangeAspect="1"/>
          </p:cNvPicPr>
          <p:nvPr/>
        </p:nvPicPr>
        <p:blipFill>
          <a:blip r:embed="rId2"/>
          <a:srcRect l="5809" r="5809"/>
          <a:stretch>
            <a:fillRect/>
          </a:stretch>
        </p:blipFill>
        <p:spPr>
          <a:xfrm>
            <a:off x="4745736" y="658368"/>
            <a:ext cx="4398264" cy="33192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45736" y="3977639"/>
            <a:ext cx="4398264" cy="116586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4023" y="498348"/>
            <a:ext cx="86410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8412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Caso Email Marketing: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435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E57000"/>
                </a:solidFill>
                <a:latin typeface="Be Vietnam Pro"/>
              </a:rPr>
              <a:t>Rebels Golf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3840480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Briefing: la marca enviaba correos enfocados solo en entregar información o incentivar visitas a la tienda, dado que no contaba con ecommerce.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Desafío: trabajar una estrategia comunicacional que mejorara el contenido de los correos y a la vez lograra ventas a través del nuevo canal digital.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15284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0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1050" b="1">
                <a:solidFill>
                  <a:srgbClr val="262626"/>
                </a:solidFill>
                <a:latin typeface="Be Vietnam Pro"/>
              </a:rPr>
              <a:t>Enfoque: </a:t>
            </a:r>
            <a:r>
              <a:rPr sz="1050">
                <a:solidFill>
                  <a:srgbClr val="7F7F7F"/>
                </a:solidFill>
                <a:latin typeface="Be Vietnam Pro"/>
              </a:rPr>
              <a:t>se articuló toda la comunicación bajo un concepto central único y se desarrollaron contenidos para captar ventas desde el primer envío.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9" name="Picture 18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Casos Éxito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4023" y="498348"/>
            <a:ext cx="86410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0467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Resultados Globales </a:t>
            </a:r>
            <a:r>
              <a:rPr sz="2300" b="1" i="0">
                <a:solidFill>
                  <a:srgbClr val="E57000"/>
                </a:solidFill>
                <a:latin typeface="Be Vietnam Pro"/>
              </a:rPr>
              <a:t>de la Iniciativa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89888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En septiembre de 2024 se inició el envío de correos para anunciar el nuevo canal y la estrategia de precios, combinando promociones con servicios en tienda. Se evaluó el interés mediante tasas de apertura, clics y ventas, y los resultados del trimestre superaron ampliamente al período anterior.</a:t>
            </a:r>
          </a:p>
        </p:txBody>
      </p:sp>
      <p:pic>
        <p:nvPicPr>
          <p:cNvPr id="13" name="Picture 12" descr="laptop_neon.jpeg"/>
          <p:cNvPicPr>
            <a:picLocks noChangeAspect="1"/>
          </p:cNvPicPr>
          <p:nvPr/>
        </p:nvPicPr>
        <p:blipFill>
          <a:blip r:embed="rId2"/>
          <a:srcRect t="11849" b="11849"/>
          <a:stretch>
            <a:fillRect/>
          </a:stretch>
        </p:blipFill>
        <p:spPr>
          <a:xfrm>
            <a:off x="548640" y="2331720"/>
            <a:ext cx="3977639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 rot="16200000">
            <a:off x="-566928" y="3063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Be Vietnam Pro"/>
              </a:rPr>
              <a:t>Rebels Golf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32588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636776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Be Vietnam Pro"/>
              </a:rPr>
              <a:t>+535%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167128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Be Vietnam Pro"/>
              </a:rPr>
              <a:t>Ventas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Be Vietnam Pro"/>
              </a:rPr>
              <a:t>promedio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31151" y="132588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31151" y="132588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1" y="1636776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262626"/>
                </a:solidFill>
                <a:latin typeface="Be Vietnam Pro"/>
              </a:rPr>
              <a:t>+293%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1" y="2167128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Aumento ventas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noviembre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92040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218688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262626"/>
                </a:solidFill>
                <a:latin typeface="Be Vietnam Pro"/>
              </a:rPr>
              <a:t>+1256%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7490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Aumento ventas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octubre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1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31151" y="2907792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1" y="3218688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262626"/>
                </a:solidFill>
                <a:latin typeface="Be Vietnam Pro"/>
              </a:rPr>
              <a:t>+57%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1" y="3749040"/>
            <a:ext cx="1691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Aumento ventas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Be Vietnam Pro"/>
              </a:rPr>
              <a:t>septiembre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31" name="Picture 30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59352" y="0"/>
            <a:ext cx="5184648" cy="5143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ptop_neon.jpeg"/>
          <p:cNvPicPr>
            <a:picLocks noChangeAspect="1"/>
          </p:cNvPicPr>
          <p:nvPr/>
        </p:nvPicPr>
        <p:blipFill>
          <a:blip r:embed="rId2"/>
          <a:srcRect t="2216" b="2216"/>
          <a:stretch>
            <a:fillRect/>
          </a:stretch>
        </p:blipFill>
        <p:spPr>
          <a:xfrm>
            <a:off x="-320040" y="932688"/>
            <a:ext cx="4892040" cy="331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Serv.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6147" y="498348"/>
            <a:ext cx="11384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72768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PROPUESTA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E57000"/>
                </a:solidFill>
                <a:latin typeface="Be Vietnam Pro"/>
              </a:rPr>
              <a:t>DE SERVICIOS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42032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EEEEEE"/>
                </a:solidFill>
                <a:latin typeface="Be Vietnam Pro"/>
              </a:rPr>
              <a:t>El detalle de lo que incluye cada servicio, su alcance mensual y la forma en que trabajamos con tu equipo.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63931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Be Vietnam Pro"/>
              </a:rPr>
              <a:t>Continuar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7" name="Picture 16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2788920"/>
            <a:ext cx="3154680" cy="235458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ptop_neon.jpeg"/>
          <p:cNvPicPr>
            <a:picLocks noChangeAspect="1"/>
          </p:cNvPicPr>
          <p:nvPr/>
        </p:nvPicPr>
        <p:blipFill>
          <a:blip r:embed="rId2"/>
          <a:srcRect l="15714" r="15714"/>
          <a:stretch>
            <a:fillRect/>
          </a:stretch>
        </p:blipFill>
        <p:spPr>
          <a:xfrm>
            <a:off x="4709160" y="658368"/>
            <a:ext cx="3657600" cy="3776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Serv.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6147" y="498348"/>
            <a:ext cx="11384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229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2070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62626"/>
                </a:solidFill>
                <a:latin typeface="Be Vietnam Pro"/>
              </a:rPr>
              <a:t>Estrategia y Reportería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773936"/>
            <a:ext cx="397763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Desarrollo de estrategia mensual para lograr los objetivos definidos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Creación de campañas publicitarias según estrategia y objetivos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Diseño de gráficas y copy para campañas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Monitoreo de campañas y resultados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Reporte mensual de resultados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Comunicación constante con el cliente para nuevas propuestas y mejoras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Optimización de campañas de acuerdo a A/B testing de anuncios y términos de búsqueda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8366760" y="2880360"/>
            <a:ext cx="640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8" name="Picture 17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2788920"/>
            <a:ext cx="3154680" cy="235458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v_casos.jpeg"/>
          <p:cNvPicPr>
            <a:picLocks noChangeAspect="1"/>
          </p:cNvPicPr>
          <p:nvPr/>
        </p:nvPicPr>
        <p:blipFill>
          <a:blip r:embed="rId2"/>
          <a:srcRect l="17724" r="17724"/>
          <a:stretch>
            <a:fillRect/>
          </a:stretch>
        </p:blipFill>
        <p:spPr>
          <a:xfrm>
            <a:off x="4709160" y="658368"/>
            <a:ext cx="3657600" cy="3776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Serv.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6147" y="498348"/>
            <a:ext cx="11384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229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57000"/>
                </a:solidFill>
                <a:latin typeface="Be Vietnam Pro"/>
              </a:rPr>
              <a:t>Paid Media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2070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62626"/>
                </a:solidFill>
                <a:latin typeface="Be Vietnam Pro"/>
              </a:rPr>
              <a:t>Campañas y Data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773936"/>
            <a:ext cx="397763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Campañas en base a objetivos de conversión y captación de prospectos calificados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Estructura de campañas en Google Ads y Meta Ads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Campañas Click to WhatsApp integradas al agente conversacional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Retargeting a usuarios que interactuaron sin completar el proceso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Configuración y seguimiento de conversiones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Reportería en Looker Studio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El presupuesto de inversión en campañas es aparte del servicio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8366760" y="2880360"/>
            <a:ext cx="640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8" name="Picture 17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2788920"/>
            <a:ext cx="3154680" cy="235458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v_cm.jpeg"/>
          <p:cNvPicPr>
            <a:picLocks noChangeAspect="1"/>
          </p:cNvPicPr>
          <p:nvPr/>
        </p:nvPicPr>
        <p:blipFill>
          <a:blip r:embed="rId2"/>
          <a:srcRect l="17724" r="17724"/>
          <a:stretch>
            <a:fillRect/>
          </a:stretch>
        </p:blipFill>
        <p:spPr>
          <a:xfrm>
            <a:off x="4709160" y="658368"/>
            <a:ext cx="3657600" cy="3776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Serv.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6147" y="498348"/>
            <a:ext cx="11384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229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57000"/>
                </a:solidFill>
                <a:latin typeface="Be Vietnam Pro"/>
              </a:rPr>
              <a:t>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2070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62626"/>
                </a:solidFill>
                <a:latin typeface="Be Vietnam Pro"/>
              </a:rPr>
              <a:t>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773936"/>
            <a:ext cx="397763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Creación de grilla de contenidos en base a objetivos y fechas relevantes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Creación de contenido y diseño de las publicaciones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2 publicaciones semanales en Instagram (gráfica estática, carrusel o reel)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2 historias diseñadas semanales en Instagram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2 publicaciones semanales en TikTok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Interacción con la comunidad en historias y comentarios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Análisis, reportería y optimización de contenido según resultados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Se trabaja con biblioteca de contenidos o material provisto por la marca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8366760" y="2880360"/>
            <a:ext cx="640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8" name="Picture 17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2788920"/>
            <a:ext cx="3154680" cy="235458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v_email.jpeg"/>
          <p:cNvPicPr>
            <a:picLocks noChangeAspect="1"/>
          </p:cNvPicPr>
          <p:nvPr/>
        </p:nvPicPr>
        <p:blipFill>
          <a:blip r:embed="rId2"/>
          <a:srcRect l="17700" r="17700"/>
          <a:stretch>
            <a:fillRect/>
          </a:stretch>
        </p:blipFill>
        <p:spPr>
          <a:xfrm>
            <a:off x="4709160" y="658368"/>
            <a:ext cx="3657600" cy="3776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Serv.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6147" y="498348"/>
            <a:ext cx="11384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229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57000"/>
                </a:solidFill>
                <a:latin typeface="Be Vietnam Pro"/>
              </a:rP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2070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62626"/>
                </a:solidFill>
                <a:latin typeface="Be Vietnam Pro"/>
              </a:rPr>
              <a:t>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773936"/>
            <a:ext cx="397763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Definición de objetivos y estrategia del canal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Selección y configuración de la herramienta de email marketing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Desarrollo de correos para campañas según objetivos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2 correos de campaña semanales, aparte de los flujos automatizados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Implementación de la arquitectura de flujos automatizados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Monitoreo y medición de resultados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Optimización y ajustes para mejorar la eficacia de los correos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8366760" y="2880360"/>
            <a:ext cx="640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8" name="Picture 17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2788920"/>
            <a:ext cx="3154680" cy="235458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ffice_vertical.jpeg"/>
          <p:cNvPicPr>
            <a:picLocks noChangeAspect="1"/>
          </p:cNvPicPr>
          <p:nvPr/>
        </p:nvPicPr>
        <p:blipFill>
          <a:blip r:embed="rId2"/>
          <a:srcRect t="16802" b="16802"/>
          <a:stretch>
            <a:fillRect/>
          </a:stretch>
        </p:blipFill>
        <p:spPr>
          <a:xfrm>
            <a:off x="4709160" y="658368"/>
            <a:ext cx="3657600" cy="3776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Serv.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6147" y="498348"/>
            <a:ext cx="11384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229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57000"/>
                </a:solidFill>
                <a:latin typeface="Be Vietnam Pro"/>
              </a:rPr>
              <a:t>Datapify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2070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62626"/>
                </a:solidFill>
                <a:latin typeface="Be Vietnam Pro"/>
              </a:rPr>
              <a:t>Especificaciones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773936"/>
            <a:ext cx="397763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Chat IA en WhatsApp disponible 24/7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Levantamiento de información, calificación y derivación de prospectos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Búsqueda semántica y comprensión de contexto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Segmentos inteligentes según comportamiento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Recuperación automática de procesos abandonados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Agenda de reuniones integrada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Dashboard con métricas de conversaciones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Campañas con plantillas aprobadas por Meta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8366760" y="2880360"/>
            <a:ext cx="640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8" name="Picture 17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2788920"/>
            <a:ext cx="3154680" cy="235458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sk_wide.jpeg"/>
          <p:cNvPicPr>
            <a:picLocks noChangeAspect="1"/>
          </p:cNvPicPr>
          <p:nvPr/>
        </p:nvPicPr>
        <p:blipFill>
          <a:blip r:embed="rId2"/>
          <a:srcRect l="17700" r="17700"/>
          <a:stretch>
            <a:fillRect/>
          </a:stretch>
        </p:blipFill>
        <p:spPr>
          <a:xfrm>
            <a:off x="4709160" y="658368"/>
            <a:ext cx="3657600" cy="3776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Serv.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6147" y="498348"/>
            <a:ext cx="113842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8229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57000"/>
                </a:solidFill>
                <a:latin typeface="Be Vietnam Pro"/>
              </a:rPr>
              <a:t>Servicio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2070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62626"/>
                </a:solidFill>
                <a:latin typeface="Be Vietnam Pro"/>
              </a:rPr>
              <a:t>General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773936"/>
            <a:ext cx="397763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Atención diaria de 9:00 a 18:00 hrs por WhatsApp, teléfono, correo u otro medio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Creación de grupo de WhatsApp para atención directa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Asignación de equipo dedicado a la cuenta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Reuniones de seguimiento según necesidad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Recomendaciones y comunicación de resultados de forma constante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50" b="1">
                <a:solidFill>
                  <a:srgbClr val="262626"/>
                </a:solidFill>
                <a:latin typeface="Be Vietnam Pro"/>
              </a:rPr>
              <a:t>•  </a:t>
            </a:r>
            <a:r>
              <a:rPr sz="950" b="0">
                <a:solidFill>
                  <a:srgbClr val="7F7F7F"/>
                </a:solidFill>
                <a:latin typeface="Be Vietnam Pro"/>
              </a:rPr>
              <a:t>Desarrollo de servicios adaptados según requerimientos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8366760" y="2880360"/>
            <a:ext cx="640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Be Vietnam Pro"/>
              </a:rPr>
              <a:t>Servicio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18" name="Picture 17" descr="logo_intothecom_neg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87168"/>
            <a:ext cx="9144000" cy="26563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2591" y="498348"/>
            <a:ext cx="106984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262626"/>
                </a:solidFill>
                <a:latin typeface="Be Vietnam Pro"/>
              </a:rPr>
              <a:t>Propuesta Comercial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Be Vietnam Pro"/>
              </a:rPr>
              <a:t>Servicios Mensuales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572768"/>
            <a:ext cx="1952243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" y="1737360"/>
            <a:ext cx="1696211" cy="301752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Be Vietnam Pro"/>
              </a:rPr>
              <a:t>Paid 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12848"/>
            <a:ext cx="160477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Gestión de campañas Google y Meta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Seguimiento y monitoreo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Optimización continua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Reportes mensuales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Looker Studio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Propuestas de mejora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21023"/>
            <a:ext cx="1586483" cy="1397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73075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  <a:latin typeface="Be Vietnam Pro"/>
              </a:rPr>
              <a:t>VALOR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30751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35 UF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92277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  <a:latin typeface="Be Vietnam Pro"/>
              </a:rPr>
              <a:t>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22775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6,65 UF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33087"/>
            <a:ext cx="1586483" cy="1397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21538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62626"/>
                </a:solidFill>
                <a:latin typeface="Be Vietnam Pro"/>
              </a:rPr>
              <a:t>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15383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62626"/>
                </a:solidFill>
                <a:latin typeface="Be Vietnam Pro"/>
              </a:rPr>
              <a:t>41,65 UF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9171" y="1572768"/>
            <a:ext cx="1952243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47187" y="1737360"/>
            <a:ext cx="1696211" cy="301752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Be Vietnam Pro"/>
              </a:rPr>
              <a:t>Community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2051" y="2212848"/>
            <a:ext cx="160477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Grilla de contenidos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Creación y diseño de contenidos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Instagram y TikTok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Interacción con la comunidad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Análisis y reportería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02051" y="3621023"/>
            <a:ext cx="1586483" cy="1397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0339" y="373075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  <a:latin typeface="Be Vietnam Pro"/>
              </a:rPr>
              <a:t>VALOR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2051" y="3730751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25 UF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0339" y="392277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  <a:latin typeface="Be Vietnam Pro"/>
              </a:rPr>
              <a:t>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2051" y="3922775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4,75 UF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02051" y="4133087"/>
            <a:ext cx="1586483" cy="1397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20339" y="421538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62626"/>
                </a:solidFill>
                <a:latin typeface="Be Vietnam Pro"/>
              </a:rPr>
              <a:t>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02051" y="4215383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62626"/>
                </a:solidFill>
                <a:latin typeface="Be Vietnam Pro"/>
              </a:rPr>
              <a:t>29,75 UF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72582" y="1572768"/>
            <a:ext cx="1952243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800598" y="1737360"/>
            <a:ext cx="1696211" cy="301752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Be Vietnam Pro"/>
              </a:rPr>
              <a:t>Email Marketing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5462" y="2212848"/>
            <a:ext cx="160477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Planificación y desarrollo de correos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2 correos de campaña semanales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Flujos automatizados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Monitoreo y medición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Optimización y ajustes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55462" y="3621023"/>
            <a:ext cx="1586483" cy="1397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0" y="373075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  <a:latin typeface="Be Vietnam Pro"/>
              </a:rPr>
              <a:t>VALOR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5462" y="3730751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25 UF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73750" y="392277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  <a:latin typeface="Be Vietnam Pro"/>
              </a:rPr>
              <a:t>IVA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5462" y="3922775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4,75 UF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55462" y="4133087"/>
            <a:ext cx="1586483" cy="1397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3750" y="421538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62626"/>
                </a:solidFill>
                <a:latin typeface="Be Vietnam Pro"/>
              </a:rPr>
              <a:t>TOTAL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5462" y="4215383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62626"/>
                </a:solidFill>
                <a:latin typeface="Be Vietnam Pro"/>
              </a:rPr>
              <a:t>29,75 UF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25993" y="1572768"/>
            <a:ext cx="1952243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54009" y="1737360"/>
            <a:ext cx="1696211" cy="301752"/>
          </a:xfrm>
          <a:prstGeom prst="roundRect">
            <a:avLst>
              <a:gd name="adj" fmla="val 50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Be Vietnam Pro"/>
              </a:rPr>
              <a:t>Datapify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08873" y="2212848"/>
            <a:ext cx="160477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Chat IA en WhatsApp 24/7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Calificación y derivación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Segmentos inteligentes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Agenda de reuniones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19" b="1">
                <a:solidFill>
                  <a:srgbClr val="7F7F7F"/>
                </a:solidFill>
                <a:latin typeface="Be Vietnam Pro"/>
              </a:rPr>
              <a:t>•  </a:t>
            </a:r>
            <a:r>
              <a:rPr sz="819" b="0">
                <a:solidFill>
                  <a:srgbClr val="595959"/>
                </a:solidFill>
                <a:latin typeface="Be Vietnam Pro"/>
              </a:rPr>
              <a:t>Dashboard de métricas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08873" y="3621023"/>
            <a:ext cx="1586483" cy="1397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27161" y="373075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  <a:latin typeface="Be Vietnam Pro"/>
              </a:rPr>
              <a:t>VALOR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08873" y="3730751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USD 299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7161" y="392277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595959"/>
                </a:solidFill>
                <a:latin typeface="Be Vietnam Pro"/>
              </a:rPr>
              <a:t>IVA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08873" y="3922775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USD 56,81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08873" y="4133087"/>
            <a:ext cx="1586483" cy="1397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27161" y="421538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62626"/>
                </a:solidFill>
                <a:latin typeface="Be Vietnam Pro"/>
              </a:rPr>
              <a:t>TOTAL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08873" y="4215383"/>
            <a:ext cx="15681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62626"/>
                </a:solidFill>
                <a:latin typeface="Be Vietnam Pro"/>
              </a:rPr>
              <a:t>USD 355,81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0360" y="472744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80" b="0" i="1">
                <a:solidFill>
                  <a:srgbClr val="B0B0B0"/>
                </a:solidFill>
                <a:latin typeface="Be Vietnam Pro"/>
              </a:rPr>
              <a:t>Valores mensuales. Servicios de agencia expresados en UF; Datapify en dólares, contratado directamente por el cliente con el proveedor. IVA 19%.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60" name="Picture 59" descr="logo_intothecom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9144000" cy="281178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Com.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2591" y="498348"/>
            <a:ext cx="106984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262626"/>
                </a:solidFill>
                <a:latin typeface="Be Vietnam Pro"/>
              </a:rPr>
              <a:t>Resumen de Inversión Mensual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225296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Servicios de agencia. La inversión en medios se detalla en el Plan de Medios adjunto.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1627632"/>
            <a:ext cx="6675120" cy="24871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184708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7F7F7F"/>
                </a:solidFill>
                <a:latin typeface="Be Vietnam Pro"/>
              </a:rPr>
              <a:t>Servicio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1847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7F7F7F"/>
                </a:solidFill>
                <a:latin typeface="Be Vietnam Pro"/>
              </a:rPr>
              <a:t>Valor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1847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7F7F7F"/>
                </a:solidFill>
                <a:latin typeface="Be Vietnam Pro"/>
              </a:rPr>
              <a:t>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847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7F7F7F"/>
                </a:solidFill>
                <a:latin typeface="Be Vietnam Pro"/>
              </a:rPr>
              <a:t>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2103120"/>
            <a:ext cx="6181344" cy="127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223113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223113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Be Vietnam Pro"/>
              </a:rPr>
              <a:t>35 UF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2624" y="223113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Be Vietnam Pro"/>
              </a:rPr>
              <a:t>6,65 UF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23113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62626"/>
                </a:solidFill>
                <a:latin typeface="Be Vietnam Pro"/>
              </a:rPr>
              <a:t>41,65 UF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261518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Be Vietnam Pro"/>
              </a:rPr>
              <a:t>Community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61518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Be Vietnam Pro"/>
              </a:rPr>
              <a:t>25 UF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261518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Be Vietnam Pro"/>
              </a:rPr>
              <a:t>4,75 UF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61518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62626"/>
                </a:solidFill>
                <a:latin typeface="Be Vietnam Pro"/>
              </a:rPr>
              <a:t>29,75 UF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299923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Be Vietnam Pro"/>
              </a:rPr>
              <a:t>Email Marketing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29992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Be Vietnam Pro"/>
              </a:rPr>
              <a:t>25 UF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29992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Be Vietnam Pro"/>
              </a:rPr>
              <a:t>4,75 UF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299923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62626"/>
                </a:solidFill>
                <a:latin typeface="Be Vietnam Pro"/>
              </a:rPr>
              <a:t>29,75 UF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81328" y="3493008"/>
            <a:ext cx="6181344" cy="1778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81328" y="36393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Be Vietnam Pro"/>
              </a:rPr>
              <a:t>TOTAL SERVICIOS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4176" y="36393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Be Vietnam Pro"/>
              </a:rPr>
              <a:t>85 UF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36393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Be Vietnam Pro"/>
              </a:rPr>
              <a:t>16,15 UF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36393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57000"/>
                </a:solidFill>
                <a:latin typeface="Be Vietnam Pro"/>
              </a:rPr>
              <a:t>101,15 UF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206240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EEEEE"/>
                </a:solidFill>
                <a:latin typeface="Be Vietnam Pro"/>
              </a:rPr>
              <a:t>Datapify: USD 299 + IVA mensual, contratado directamente por el cliente con el proveedor.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48056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69138"/>
                </a:solidFill>
                <a:latin typeface="Be Vietnam Pro"/>
              </a:rPr>
              <a:t>Inversión en medios recomendada: $3.000.000 - $5.000.000 CLP mensuales, pagados directamente a cada plataforma.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40" name="Picture 39" descr="logo_intothecom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Com.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22591" y="498348"/>
            <a:ext cx="106984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80467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Condiciones Comerciales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8961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1 /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55448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53619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Vigencia y naturaleza de la propuesta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179222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Esta propuesta tiene una vigencia de 30 días corridos desde su emisión. En esta etapa constituye una estimación referencial y no vinculante.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19456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17627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Moneda y reajuste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43230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Los valores de los servicios se expresan en UF y se facturan en pesos al valor de la UF del día de emisión de la factura. Datapify se expresa en dólares.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83464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81635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Condiciones de pago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07238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Facturación mensual anticipada. El pago se realiza dentro de los días acordados desde la recepción de la factura.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47472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45643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Plazo mínimo sugerido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71246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Se sugiere un plazo mínimo de 6 meses. El fundamento es técnico: las campañas de conversión requieren volumen de eventos para completar su fase de aprendizaje.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09651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Aviso de término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35254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Cualquiera de las partes puede poner término al servicio con 30 días de aviso previo por escrito.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30" name="Picture 29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Com.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22591" y="498348"/>
            <a:ext cx="106984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80467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Condiciones Comerciales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8961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2 /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55448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53619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Mes de implementación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179222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El primer mes contempla configuración, medición y puesta en marcha. Los resultados comparables se leen a partir del segundo o tercer 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19456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17627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Presupuesto de medios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43230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El presupuesto de inversión publicitaria es aparte del valor del servicio y se paga directamente a cada plataforma.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83464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81635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Titularidad de cuentas y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07238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Las cuentas publicitarias, la plataforma de email y las herramientas asociadas quedan a nombre del cliente. La agencia accede como usuario autorizado.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47472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45643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Licencias de terceros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71246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Las licencias de plataformas de terceros no están incluidas en el valor del servicio y son contratadas directamente por el cliente.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09651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Provisión de contenido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35254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El servicio no incluye grabación ni producción audiovisual en terreno. Se trabaja con biblioteca de contenidos o material provisto por la marca.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30" name="Picture 29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E57000"/>
                </a:solidFill>
                <a:latin typeface="Be Vietnam Pro"/>
              </a:rPr>
              <a:t>Propuesta Com.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22591" y="498348"/>
            <a:ext cx="1069848" cy="20320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" y="868680"/>
            <a:ext cx="17780" cy="7132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80467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 i="0">
                <a:solidFill>
                  <a:srgbClr val="262626"/>
                </a:solidFill>
                <a:latin typeface="Be Vietnam Pro"/>
              </a:rPr>
              <a:t>Condiciones Comerciales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8961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Be Vietnam Pro"/>
              </a:rPr>
              <a:t>3 /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55448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53619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Plazo de aprobación de piezas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179222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El cliente dispone de 48 horas hábiles para aprobar u observar las piezas enviadas. Los plazos de publicación se ajustan según los tiempos de respuesta.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19456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17627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Validación legal de las piezas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43230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El cliente valida las tasas, condiciones y textos legales publicados. La agencia no responde por la exactitud de la información financiera entregada por la marca.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834640"/>
            <a:ext cx="329184" cy="256032"/>
          </a:xfrm>
          <a:prstGeom prst="rect">
            <a:avLst/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Be Vietnam Pro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816352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Be Vietnam Pro"/>
              </a:rPr>
              <a:t>Confidencialidad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07238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Be Vietnam Pro"/>
              </a:rPr>
              <a:t>Ambas partes se obligan a mantener reserva sobre la información intercambiada durante la relación comercial.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24" name="Picture 23" descr="logo_intothecom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4553712"/>
            <a:ext cx="59984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832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Paid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2264" y="274320"/>
            <a:ext cx="9692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Community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967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Email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1" y="274320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Datapify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5" y="274320"/>
            <a:ext cx="9006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Casos Éxito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7859" y="274320"/>
            <a:ext cx="11750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Serv.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3" y="274320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262626"/>
                </a:solidFill>
                <a:latin typeface="Be Vietnam Pro"/>
              </a:rPr>
              <a:t>Propuesta Com.</a:t>
            </a:r>
          </a:p>
        </p:txBody>
      </p:sp>
      <p:pic>
        <p:nvPicPr>
          <p:cNvPr id="11" name="Picture 10" descr="office_wide.jpeg"/>
          <p:cNvPicPr>
            <a:picLocks noChangeAspect="1"/>
          </p:cNvPicPr>
          <p:nvPr/>
        </p:nvPicPr>
        <p:blipFill>
          <a:blip r:embed="rId2"/>
          <a:srcRect l="13257" r="13257"/>
          <a:stretch>
            <a:fillRect/>
          </a:stretch>
        </p:blipFill>
        <p:spPr>
          <a:xfrm>
            <a:off x="4754880" y="777240"/>
            <a:ext cx="3931920" cy="3566160"/>
          </a:xfrm>
          <a:prstGeom prst="rect">
            <a:avLst/>
          </a:prstGeom>
        </p:spPr>
      </p:pic>
      <p:pic>
        <p:nvPicPr>
          <p:cNvPr id="12" name="Picture 11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91640"/>
            <a:ext cx="1927308" cy="1234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14173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E57000"/>
                </a:solidFill>
                <a:latin typeface="Be Vietnam Pro"/>
              </a:rPr>
              <a:t>Contacto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5740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7F7F7F"/>
                </a:solidFill>
                <a:latin typeface="Be Vietnam Pro"/>
              </a:rPr>
              <a:t>Estamos aquí para ayudarte. Si tienes dudas, consultas o necesitas más información sobre nuestros servicios, contáctanos. Nuestro equipo está listo para </a:t>
            </a:r>
            <a:r>
              <a:rPr sz="950" b="1" i="0">
                <a:solidFill>
                  <a:srgbClr val="262626"/>
                </a:solidFill>
                <a:latin typeface="Be Vietnam Pro"/>
              </a:rPr>
              <a:t>asesorarte y potenciar tu marca con una estrategia digital a medida.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154680"/>
            <a:ext cx="4754880" cy="960120"/>
          </a:xfrm>
          <a:prstGeom prst="roundRect">
            <a:avLst>
              <a:gd name="adj" fmla="val 8000"/>
            </a:avLst>
          </a:prstGeom>
          <a:solidFill>
            <a:srgbClr val="E5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31927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Email &amp;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5661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ignacio@intothecom.com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www.intothecom.com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31927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Be Vietnam Pro"/>
              </a:rPr>
              <a:t>Teléfono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5661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Be Vietnam Pro"/>
              </a:rPr>
              <a:t>+56 9 5016 0966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7183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Be Vietnam Pro"/>
              </a:rPr>
              <a:t>Intothecom </a:t>
            </a:r>
            <a:r>
              <a:rPr sz="900" b="0" i="0">
                <a:solidFill>
                  <a:srgbClr val="E57000"/>
                </a:solidFill>
                <a:latin typeface="Be Vietnam Pro"/>
              </a:rPr>
              <a:t>|Agencia Marketing Digital</a:t>
            </a:r>
          </a:p>
        </p:txBody>
      </p:sp>
      <p:pic>
        <p:nvPicPr>
          <p:cNvPr id="21" name="Picture 20" descr="logo_intothecom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4553712"/>
            <a:ext cx="599607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